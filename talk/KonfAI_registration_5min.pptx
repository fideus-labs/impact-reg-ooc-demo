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with the three backends through the same pipeline.</a:t>
            </a:r>
          </a:p>
          <a:p/>
          <a:p>
            <a:r>
              <a:t>The gold line is the retardance's white matter, the same in every panel; the grey image is the FA, moving. After the affine alone, look at the zoom: the tract sits next to the gold line. After elastix and FireANTs, it sits right under it.</a:t>
            </a:r>
          </a:p>
          <a:p/>
          <a:p>
            <a:r>
              <a:t>In numbers, elastix and FireANTs both get down to one voxel with zero folding, and FireANTs does it with the smallest deformation. ConvexAdam aligns the inside too, but it folds a bit of tissue and stretches the edges. We also tried IMPACT's example configurations on this pair: without a smoothness penalty they fold, so that's the next thing we're fixing.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someone asks. Each box alternates between the retardance and the FA, before and after FireANTs, for both subjects. When the registration is right, the tracts stay put as the image switches; after the affine alone you can see them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gif"/><Relationship Id="rId3" Type="http://schemas.openxmlformats.org/officeDocument/2006/relationships/image" Target="../media/image11.gif"/><Relationship Id="rId4" Type="http://schemas.openxmlformats.org/officeDocument/2006/relationships/image" Target="../media/image12.gif"/><Relationship Id="rId5" Type="http://schemas.openxmlformats.org/officeDocument/2006/relationships/image" Target="../media/image13.gif"/><Relationship Id="rId6" Type="http://schemas.openxmlformats.org/officeDocument/2006/relationships/image" Target="../media/image2.png"/><Relationship Id="rId7" Type="http://schemas.openxmlformats.org/officeDocument/2006/relationships/image" Target="../media/image4.png"/><Relationship Id="rId8"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83229"/>
            <a:ext cx="4526279" cy="6172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275" b="0" i="0">
                <a:solidFill>
                  <a:srgbClr val="808080"/>
                </a:solidFill>
                <a:latin typeface="Poppins"/>
              </a:rPr>
              <a:t>with KonfAI: elastix · FireANTs · ConvexAdam · out of core ·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7" name="Rounded Rectangle 6"/>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8" name="Rounded Rectangle 7"/>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9" name="Rounded Rectangle 8"/>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0" name="Rounded Rectangle 9"/>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1" name="TextBox 10"/>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2" name="TextBox 11"/>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volume never loads: one region at a time</a:t>
            </a:r>
          </a:p>
        </p:txBody>
      </p:sp>
      <p:sp>
        <p:nvSpPr>
          <p:cNvPr id="13" name="Rounded Rectangle 12"/>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xpct_level4.png"/>
          <p:cNvPicPr>
            <a:picLocks noChangeAspect="1"/>
          </p:cNvPicPr>
          <p:nvPr/>
        </p:nvPicPr>
        <p:blipFill>
          <a:blip r:embed="rId2"/>
          <a:stretch>
            <a:fillRect/>
          </a:stretch>
        </p:blipFill>
        <p:spPr>
          <a:xfrm>
            <a:off x="1194435" y="1577339"/>
            <a:ext cx="2137410" cy="2640330"/>
          </a:xfrm>
          <a:prstGeom prst="rect">
            <a:avLst/>
          </a:prstGeom>
        </p:spPr>
      </p:pic>
      <p:cxnSp>
        <p:nvCxnSpPr>
          <p:cNvPr id="15" name="Connector 14"/>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29" name="Connector 28"/>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1" name="TextBox 30"/>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volume on disk, in OME-Zarr, local or on S3. It is never loaded.</a:t>
            </a:r>
          </a:p>
        </p:txBody>
      </p:sp>
      <p:sp>
        <p:nvSpPr>
          <p:cNvPr id="32" name="TextBox 31"/>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1 region</a:t>
            </a:r>
          </a:p>
          <a:p>
            <a:pPr algn="l">
              <a:lnSpc>
                <a:spcPct val="100000"/>
              </a:lnSpc>
              <a:spcBef>
                <a:spcPts val="0"/>
              </a:spcBef>
              <a:spcAft>
                <a:spcPts val="0"/>
              </a:spcAft>
            </a:pPr>
            <a:r>
              <a:rPr sz="975" b="0" i="0">
                <a:solidFill>
                  <a:srgbClr val="595959"/>
                </a:solidFill>
                <a:latin typeface="Poppins"/>
              </a:rPr>
              <a:t>read at a time: the patch and its halo, only the chunks it touches.</a:t>
            </a:r>
          </a:p>
        </p:txBody>
      </p:sp>
      <p:sp>
        <p:nvSpPr>
          <p:cNvPr id="33" name="TextBox 32"/>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one pass on the whole volume.</a:t>
            </a:r>
          </a:p>
        </p:txBody>
      </p:sp>
      <p:sp>
        <p:nvSpPr>
          <p:cNvPr id="34" name="Rounded Rectangle 33"/>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5" name="TextBox 34"/>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memory follows the patch, not the volume</a:t>
            </a:r>
          </a:p>
        </p:txBody>
      </p:sp>
      <p:pic>
        <p:nvPicPr>
          <p:cNvPr id="36" name="Picture 35" descr="image4.png"/>
          <p:cNvPicPr>
            <a:picLocks noChangeAspect="1"/>
          </p:cNvPicPr>
          <p:nvPr/>
        </p:nvPicPr>
        <p:blipFill>
          <a:blip r:embed="rId3"/>
          <a:stretch>
            <a:fillRect/>
          </a:stretch>
        </p:blipFill>
        <p:spPr>
          <a:xfrm>
            <a:off x="288036" y="4539996"/>
            <a:ext cx="425196" cy="493776"/>
          </a:xfrm>
          <a:prstGeom prst="rect">
            <a:avLst/>
          </a:prstGeom>
        </p:spPr>
      </p:pic>
      <p:pic>
        <p:nvPicPr>
          <p:cNvPr id="37" name="Picture 36" descr="image1.png"/>
          <p:cNvPicPr>
            <a:picLocks noChangeAspect="1"/>
          </p:cNvPicPr>
          <p:nvPr/>
        </p:nvPicPr>
        <p:blipFill>
          <a:blip r:embed="rId4"/>
          <a:stretch>
            <a:fillRect/>
          </a:stretch>
        </p:blipFill>
        <p:spPr>
          <a:xfrm>
            <a:off x="0" y="0"/>
            <a:ext cx="685800" cy="720090"/>
          </a:xfrm>
          <a:prstGeom prst="rect">
            <a:avLst/>
          </a:prstGeom>
        </p:spPr>
      </p:pic>
      <p:pic>
        <p:nvPicPr>
          <p:cNvPr id="38" name="Picture 37" descr="image1.png"/>
          <p:cNvPicPr>
            <a:picLocks noChangeAspect="1"/>
          </p:cNvPicPr>
          <p:nvPr/>
        </p:nvPicPr>
        <p:blipFill>
          <a:blip r:embed="rId4"/>
          <a:stretch>
            <a:fillRect/>
          </a:stretch>
        </p:blipFill>
        <p:spPr>
          <a:xfrm rot="10800000">
            <a:off x="8457971" y="4423410"/>
            <a:ext cx="685800" cy="720090"/>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7" name="Rounded Rectangle 6"/>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8" name="Rounded Rectangle 7"/>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9" name="Rounded Rectangle 8"/>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0" name="Rounded Rectangle 9"/>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1" name="TextBox 10"/>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2" name="TextBox 11"/>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in, a displacement patch out</a:t>
            </a:r>
          </a:p>
        </p:txBody>
      </p:sp>
      <p:sp>
        <p:nvSpPr>
          <p:cNvPr id="13" name="Rounded Rectangle 12"/>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4" name="Rounded Rectangle 13"/>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5" name="Right Arrow 14"/>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7" name="Right Arrow 16"/>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5" name="TextBox 34"/>
          <p:cNvSpPr txBox="1"/>
          <p:nvPr/>
        </p:nvSpPr>
        <p:spPr>
          <a:xfrm>
            <a:off x="411479" y="2640330"/>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same contract, different memory: one 512² tile of the 3 µm section</a:t>
            </a:r>
          </a:p>
        </p:txBody>
      </p:sp>
      <p:cxnSp>
        <p:nvCxnSpPr>
          <p:cNvPr id="36" name="Connector 35"/>
          <p:cNvCxnSpPr/>
          <p:nvPr/>
        </p:nvCxnSpPr>
        <p:spPr>
          <a:xfrm>
            <a:off x="7295856" y="2935224"/>
            <a:ext cx="0" cy="1179576"/>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47216" y="4114800"/>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38" name="TextBox 37"/>
          <p:cNvSpPr txBox="1"/>
          <p:nvPr/>
        </p:nvSpPr>
        <p:spPr>
          <a:xfrm>
            <a:off x="411479" y="2962656"/>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elastix</a:t>
            </a:r>
          </a:p>
        </p:txBody>
      </p:sp>
      <p:sp>
        <p:nvSpPr>
          <p:cNvPr id="39" name="Rectangle 38"/>
          <p:cNvSpPr/>
          <p:nvPr/>
        </p:nvSpPr>
        <p:spPr>
          <a:xfrm>
            <a:off x="1851660" y="2990088"/>
            <a:ext cx="430998"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51238" y="2962656"/>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1.9 GB</a:t>
            </a:r>
          </a:p>
        </p:txBody>
      </p:sp>
      <p:sp>
        <p:nvSpPr>
          <p:cNvPr id="41" name="TextBox 40"/>
          <p:cNvSpPr txBox="1"/>
          <p:nvPr/>
        </p:nvSpPr>
        <p:spPr>
          <a:xfrm>
            <a:off x="411479" y="3346704"/>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ConvexAdam</a:t>
            </a:r>
          </a:p>
        </p:txBody>
      </p:sp>
      <p:sp>
        <p:nvSpPr>
          <p:cNvPr id="42" name="Rectangle 41"/>
          <p:cNvSpPr/>
          <p:nvPr/>
        </p:nvSpPr>
        <p:spPr>
          <a:xfrm>
            <a:off x="1851660" y="3374136"/>
            <a:ext cx="3425307"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45547" y="3346704"/>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15.1 GB</a:t>
            </a:r>
          </a:p>
        </p:txBody>
      </p:sp>
      <p:sp>
        <p:nvSpPr>
          <p:cNvPr id="44" name="TextBox 43"/>
          <p:cNvSpPr txBox="1"/>
          <p:nvPr/>
        </p:nvSpPr>
        <p:spPr>
          <a:xfrm>
            <a:off x="411479" y="3730752"/>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FireANTs</a:t>
            </a:r>
          </a:p>
        </p:txBody>
      </p:sp>
      <p:sp>
        <p:nvSpPr>
          <p:cNvPr id="45" name="Rectangle 44"/>
          <p:cNvSpPr/>
          <p:nvPr/>
        </p:nvSpPr>
        <p:spPr>
          <a:xfrm>
            <a:off x="1851660" y="3758184"/>
            <a:ext cx="5897879" cy="2880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51660" y="3758184"/>
            <a:ext cx="5815584" cy="288036"/>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125" b="1" i="0">
                <a:solidFill>
                  <a:srgbClr val="FFFFFF"/>
                </a:solidFill>
                <a:latin typeface="Consolas"/>
              </a:rPr>
              <a:t>&gt; 24 GB · out of memory</a:t>
            </a:r>
          </a:p>
        </p:txBody>
      </p:sp>
      <p:sp>
        <p:nvSpPr>
          <p:cNvPr id="47" name="TextBox 46"/>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backend is a preset name, nothing else changes</a:t>
            </a:r>
          </a:p>
        </p:txBody>
      </p:sp>
      <p:pic>
        <p:nvPicPr>
          <p:cNvPr id="48" name="Picture 47" descr="image4.png"/>
          <p:cNvPicPr>
            <a:picLocks noChangeAspect="1"/>
          </p:cNvPicPr>
          <p:nvPr/>
        </p:nvPicPr>
        <p:blipFill>
          <a:blip r:embed="rId2"/>
          <a:stretch>
            <a:fillRect/>
          </a:stretch>
        </p:blipFill>
        <p:spPr>
          <a:xfrm>
            <a:off x="288036" y="4539996"/>
            <a:ext cx="425196" cy="493776"/>
          </a:xfrm>
          <a:prstGeom prst="rect">
            <a:avLst/>
          </a:prstGeom>
        </p:spPr>
      </p:pic>
      <p:pic>
        <p:nvPicPr>
          <p:cNvPr id="49" name="Picture 48" descr="image1.png"/>
          <p:cNvPicPr>
            <a:picLocks noChangeAspect="1"/>
          </p:cNvPicPr>
          <p:nvPr/>
        </p:nvPicPr>
        <p:blipFill>
          <a:blip r:embed="rId3"/>
          <a:stretch>
            <a:fillRect/>
          </a:stretch>
        </p:blipFill>
        <p:spPr>
          <a:xfrm>
            <a:off x="0" y="0"/>
            <a:ext cx="685800" cy="720090"/>
          </a:xfrm>
          <a:prstGeom prst="rect">
            <a:avLst/>
          </a:prstGeom>
        </p:spPr>
      </p:pic>
      <p:pic>
        <p:nvPicPr>
          <p:cNvPr id="50" name="Picture 49" descr="image1.png"/>
          <p:cNvPicPr>
            <a:picLocks noChangeAspect="1"/>
          </p:cNvPicPr>
          <p:nvPr/>
        </p:nvPicPr>
        <p:blipFill>
          <a:blip r:embed="rId3"/>
          <a:stretch>
            <a:fillRect/>
          </a:stretch>
        </p:blipFill>
        <p:spPr>
          <a:xfrm rot="10800000">
            <a:off x="8457971" y="4423410"/>
            <a:ext cx="685800" cy="720090"/>
          </a:xfrm>
          <a:prstGeom prst="rect">
            <a:avLst/>
          </a:prstGeom>
        </p:spPr>
      </p:pic>
      <p:sp>
        <p:nvSpPr>
          <p:cNvPr id="51" name="TextBox 5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2" name="TextBox 5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7" name="Rounded Rectangle 6"/>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8" name="Rounded Rectangle 7"/>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9" name="Rounded Rectangle 8"/>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0" name="Rounded Rectangle 9"/>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1" name="TextBox 10"/>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2" name="TextBox 11"/>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A partition of unity: no seam between tiles</a:t>
            </a:r>
          </a:p>
        </p:txBody>
      </p:sp>
      <p:sp>
        <p:nvSpPr>
          <p:cNvPr id="13" name="Rounded Rectangle 12"/>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blend_large.png"/>
          <p:cNvPicPr>
            <a:picLocks noChangeAspect="1"/>
          </p:cNvPicPr>
          <p:nvPr/>
        </p:nvPicPr>
        <p:blipFill>
          <a:blip r:embed="rId2"/>
          <a:stretch>
            <a:fillRect/>
          </a:stretch>
        </p:blipFill>
        <p:spPr>
          <a:xfrm>
            <a:off x="411479" y="1474469"/>
            <a:ext cx="3550211" cy="2880360"/>
          </a:xfrm>
          <a:prstGeom prst="rect">
            <a:avLst/>
          </a:prstGeom>
        </p:spPr>
      </p:pic>
      <p:sp>
        <p:nvSpPr>
          <p:cNvPr id="15" name="TextBox 14"/>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that is what the halo is for. Its weight fades to zero before its edge while the neighbour's rises, and at every voxel the weights sum to one.</a:t>
            </a:r>
          </a:p>
        </p:txBody>
      </p:sp>
      <p:sp>
        <p:nvSpPr>
          <p:cNvPr id="16" name="Rounded Rectangle 15"/>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7" name="TextBox 16"/>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18" name="TextBox 17"/>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19" name="Picture 18" descr="image4.png"/>
          <p:cNvPicPr>
            <a:picLocks noChangeAspect="1"/>
          </p:cNvPicPr>
          <p:nvPr/>
        </p:nvPicPr>
        <p:blipFill>
          <a:blip r:embed="rId3"/>
          <a:stretch>
            <a:fillRect/>
          </a:stretch>
        </p:blipFill>
        <p:spPr>
          <a:xfrm>
            <a:off x="288036" y="4539996"/>
            <a:ext cx="425196" cy="493776"/>
          </a:xfrm>
          <a:prstGeom prst="rect">
            <a:avLst/>
          </a:prstGeom>
        </p:spPr>
      </p:pic>
      <p:pic>
        <p:nvPicPr>
          <p:cNvPr id="20" name="Picture 19" descr="image1.png"/>
          <p:cNvPicPr>
            <a:picLocks noChangeAspect="1"/>
          </p:cNvPicPr>
          <p:nvPr/>
        </p:nvPicPr>
        <p:blipFill>
          <a:blip r:embed="rId4"/>
          <a:stretch>
            <a:fillRect/>
          </a:stretch>
        </p:blipFill>
        <p:spPr>
          <a:xfrm>
            <a:off x="0" y="0"/>
            <a:ext cx="685800" cy="720090"/>
          </a:xfrm>
          <a:prstGeom prst="rect">
            <a:avLst/>
          </a:prstGeom>
        </p:spPr>
      </p:pic>
      <p:pic>
        <p:nvPicPr>
          <p:cNvPr id="21" name="Picture 20" descr="image1.png"/>
          <p:cNvPicPr>
            <a:picLocks noChangeAspect="1"/>
          </p:cNvPicPr>
          <p:nvPr/>
        </p:nvPicPr>
        <p:blipFill>
          <a:blip r:embed="rId4"/>
          <a:stretch>
            <a:fillRect/>
          </a:stretch>
        </p:blipFill>
        <p:spPr>
          <a:xfrm rot="10800000">
            <a:off x="8457971" y="4423410"/>
            <a:ext cx="685800" cy="720090"/>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7" name="Rounded Rectangle 6"/>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8" name="Rounded Rectangle 7"/>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9" name="Rounded Rectangle 8"/>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0" name="Rounded Rectangle 9"/>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1" name="TextBox 10"/>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2" name="TextBox 11"/>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Many formats in, the field out as OME-Zarr RFC-5</a:t>
            </a:r>
          </a:p>
        </p:txBody>
      </p:sp>
      <p:sp>
        <p:nvSpPr>
          <p:cNvPr id="13" name="TextBox 12"/>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4" name="TextBox 13"/>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5" name="Rounded Rectangle 14"/>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6" name="Rounded Rectangle 15"/>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7" name="Rounded Rectangle 16"/>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18" name="Rounded Rectangle 17"/>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19" name="Rounded Rectangle 18"/>
          <p:cNvSpPr/>
          <p:nvPr/>
        </p:nvSpPr>
        <p:spPr>
          <a:xfrm>
            <a:off x="5897879" y="1659636"/>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OME-Zarr store · NGFF RFC-5 displacements</a:t>
            </a:r>
          </a:p>
        </p:txBody>
      </p:sp>
      <p:sp>
        <p:nvSpPr>
          <p:cNvPr id="20" name="Rounded Rectangle 19"/>
          <p:cNvSpPr/>
          <p:nvPr/>
        </p:nvSpPr>
        <p:spPr>
          <a:xfrm>
            <a:off x="58978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transform file</a:t>
            </a:r>
          </a:p>
          <a:p>
            <a:pPr algn="l">
              <a:lnSpc>
                <a:spcPct val="100000"/>
              </a:lnSpc>
              <a:spcBef>
                <a:spcPts val="0"/>
              </a:spcBef>
              <a:spcAft>
                <a:spcPts val="0"/>
              </a:spcAft>
            </a:pPr>
            <a:r>
              <a:rPr sz="900" b="0" i="0">
                <a:solidFill>
                  <a:srgbClr val="595959"/>
                </a:solidFill>
                <a:latin typeface="Poppins"/>
              </a:rPr>
              <a:t>ITK .h5 / .itk.txt · opens in 3D Slicer</a:t>
            </a:r>
          </a:p>
        </p:txBody>
      </p:sp>
      <p:sp>
        <p:nvSpPr>
          <p:cNvPr id="21" name="Rounded Rectangle 20"/>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2" name="Right Arrow 21"/>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4" name="Right Arrow 23"/>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6" name="Picture 25" descr="image4.png"/>
          <p:cNvPicPr>
            <a:picLocks noChangeAspect="1"/>
          </p:cNvPicPr>
          <p:nvPr/>
        </p:nvPicPr>
        <p:blipFill>
          <a:blip r:embed="rId2"/>
          <a:stretch>
            <a:fillRect/>
          </a:stretch>
        </p:blipFill>
        <p:spPr>
          <a:xfrm>
            <a:off x="288036" y="4539996"/>
            <a:ext cx="425196" cy="493776"/>
          </a:xfrm>
          <a:prstGeom prst="rect">
            <a:avLst/>
          </a:prstGeom>
        </p:spPr>
      </p:pic>
      <p:pic>
        <p:nvPicPr>
          <p:cNvPr id="27" name="Picture 26" descr="image1.png"/>
          <p:cNvPicPr>
            <a:picLocks noChangeAspect="1"/>
          </p:cNvPicPr>
          <p:nvPr/>
        </p:nvPicPr>
        <p:blipFill>
          <a:blip r:embed="rId3"/>
          <a:stretch>
            <a:fillRect/>
          </a:stretch>
        </p:blipFill>
        <p:spPr>
          <a:xfrm>
            <a:off x="0" y="0"/>
            <a:ext cx="685800" cy="720090"/>
          </a:xfrm>
          <a:prstGeom prst="rect">
            <a:avLst/>
          </a:prstGeom>
        </p:spPr>
      </p:pic>
      <p:pic>
        <p:nvPicPr>
          <p:cNvPr id="28" name="Picture 27" descr="image1.png"/>
          <p:cNvPicPr>
            <a:picLocks noChangeAspect="1"/>
          </p:cNvPicPr>
          <p:nvPr/>
        </p:nvPicPr>
        <p:blipFill>
          <a:blip r:embed="rId3"/>
          <a:stretch>
            <a:fillRect/>
          </a:stretch>
        </p:blipFill>
        <p:spPr>
          <a:xfrm rot="10800000">
            <a:off x="8457971" y="4423410"/>
            <a:ext cx="685800" cy="720090"/>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7" name="Rounded Rectangle 6"/>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8" name="Rounded Rectangle 7"/>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9" name="Rounded Rectangle 8"/>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0" name="Rounded Rectangle 9"/>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1" name="TextBox 10"/>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for every backend, choose what is compared</a:t>
            </a:r>
          </a:p>
        </p:txBody>
      </p:sp>
      <p:sp>
        <p:nvSpPr>
          <p:cNvPr id="12" name="TextBox 11"/>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3" name="TextBox 12"/>
          <p:cNvSpPr txBox="1"/>
          <p:nvPr/>
        </p:nvSpPr>
        <p:spPr>
          <a:xfrm>
            <a:off x="411479" y="1591055"/>
            <a:ext cx="4629150" cy="0"/>
          </a:xfrm>
          <a:prstGeom prst="rect">
            <a:avLst/>
          </a:prstGeom>
          <a:noFill/>
        </p:spPr>
        <p:txBody>
          <a:bodyPr wrap="none">
            <a:spAutoFit/>
          </a:bodyPr>
          <a:lstStyle/>
          <a:p/>
        </p:txBody>
      </p:sp>
      <p:pic>
        <p:nvPicPr>
          <p:cNvPr id="14" name="Picture 13" descr="apex_featuremaps_itk.png"/>
          <p:cNvPicPr>
            <a:picLocks noChangeAspect="1"/>
          </p:cNvPicPr>
          <p:nvPr/>
        </p:nvPicPr>
        <p:blipFill>
          <a:blip r:embed="rId2"/>
          <a:stretch>
            <a:fillRect/>
          </a:stretch>
        </p:blipFill>
        <p:spPr>
          <a:xfrm>
            <a:off x="411479" y="1591055"/>
            <a:ext cx="4453529" cy="2880360"/>
          </a:xfrm>
          <a:prstGeom prst="rect">
            <a:avLst/>
          </a:prstGeom>
        </p:spPr>
      </p:pic>
      <p:sp>
        <p:nvSpPr>
          <p:cNvPr id="15" name="TextBox 14"/>
          <p:cNvSpPr txBox="1"/>
          <p:nvPr/>
        </p:nvSpPr>
        <p:spPr>
          <a:xfrm>
            <a:off x="411479" y="4498848"/>
            <a:ext cx="4453529"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one colour basis for both rows: same colour, same features</a:t>
            </a:r>
          </a:p>
        </p:txBody>
      </p:sp>
      <p:sp>
        <p:nvSpPr>
          <p:cNvPr id="16" name="Rounded Rectangle 15"/>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segmentation network computes, they do share.</a:t>
            </a:r>
          </a:p>
        </p:txBody>
      </p:sp>
      <p:cxnSp>
        <p:nvCxnSpPr>
          <p:cNvPr id="17" name="Connector 16"/>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19" name="Connector 18"/>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 the default · radiotherapy</a:t>
            </a:r>
          </a:p>
        </p:txBody>
      </p:sp>
      <p:cxnSp>
        <p:nvCxnSpPr>
          <p:cNvPr id="21" name="Connector 20"/>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3" name="Connector 22"/>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features</a:t>
            </a:r>
          </a:p>
        </p:txBody>
      </p:sp>
      <p:sp>
        <p:nvSpPr>
          <p:cNvPr id="25" name="Rounded Rectangle 24"/>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6" name="TextBox 25"/>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Learn2Reg: 3rd CT lung (2021) · 2nd abdomen MR→CT (2023) · top-6 thorax CBCT (2023)</a:t>
            </a:r>
          </a:p>
        </p:txBody>
      </p:sp>
      <p:pic>
        <p:nvPicPr>
          <p:cNvPr id="27" name="Picture 26" descr="image4.png"/>
          <p:cNvPicPr>
            <a:picLocks noChangeAspect="1"/>
          </p:cNvPicPr>
          <p:nvPr/>
        </p:nvPicPr>
        <p:blipFill>
          <a:blip r:embed="rId3"/>
          <a:stretch>
            <a:fillRect/>
          </a:stretch>
        </p:blipFill>
        <p:spPr>
          <a:xfrm>
            <a:off x="288036" y="4539996"/>
            <a:ext cx="425196" cy="493776"/>
          </a:xfrm>
          <a:prstGeom prst="rect">
            <a:avLst/>
          </a:prstGeom>
        </p:spPr>
      </p:pic>
      <p:pic>
        <p:nvPicPr>
          <p:cNvPr id="28" name="Picture 27" descr="image1.png"/>
          <p:cNvPicPr>
            <a:picLocks noChangeAspect="1"/>
          </p:cNvPicPr>
          <p:nvPr/>
        </p:nvPicPr>
        <p:blipFill>
          <a:blip r:embed="rId4"/>
          <a:stretch>
            <a:fillRect/>
          </a:stretch>
        </p:blipFill>
        <p:spPr>
          <a:xfrm>
            <a:off x="0" y="0"/>
            <a:ext cx="685800" cy="720090"/>
          </a:xfrm>
          <a:prstGeom prst="rect">
            <a:avLst/>
          </a:prstGeom>
        </p:spPr>
      </p:pic>
      <p:pic>
        <p:nvPicPr>
          <p:cNvPr id="29" name="Picture 28" descr="image1.png"/>
          <p:cNvPicPr>
            <a:picLocks noChangeAspect="1"/>
          </p:cNvPicPr>
          <p:nvPr/>
        </p:nvPicPr>
        <p:blipFill>
          <a:blip r:embed="rId4"/>
          <a:stretch>
            <a:fillRect/>
          </a:stretch>
        </p:blipFill>
        <p:spPr>
          <a:xfrm rot="10800000">
            <a:off x="8457971" y="4423410"/>
            <a:ext cx="685800" cy="720090"/>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1145286" cy="1207008"/>
          </a:xfrm>
          <a:prstGeom prst="rect">
            <a:avLst/>
          </a:prstGeom>
        </p:spPr>
      </p:pic>
      <p:pic>
        <p:nvPicPr>
          <p:cNvPr id="3" name="Picture 2" descr="image1.png"/>
          <p:cNvPicPr>
            <a:picLocks noChangeAspect="1"/>
          </p:cNvPicPr>
          <p:nvPr/>
        </p:nvPicPr>
        <p:blipFill>
          <a:blip r:embed="rId2"/>
          <a:stretch>
            <a:fillRect/>
          </a:stretch>
        </p:blipFill>
        <p:spPr>
          <a:xfrm rot="10800000">
            <a:off x="8001228" y="3936491"/>
            <a:ext cx="1145286" cy="1207008"/>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0" i="0">
                <a:solidFill>
                  <a:srgbClr val="212121"/>
                </a:solidFill>
                <a:latin typeface="Poppins"/>
              </a:rPr>
              <a:t>the BRAIN CONNECTS / LINC hemisphere · 908 GiB of synchrotron X-ray</a:t>
            </a:r>
          </a:p>
          <a:p>
            <a:pPr algn="l">
              <a:lnSpc>
                <a:spcPct val="100000"/>
              </a:lnSpc>
              <a:spcBef>
                <a:spcPts val="0"/>
              </a:spcBef>
              <a:spcAft>
                <a:spcPts val="600"/>
              </a:spcAft>
            </a:pPr>
            <a:r>
              <a:rPr sz="1350" b="0" i="0">
                <a:solidFill>
                  <a:srgbClr val="212121"/>
                </a:solidFill>
                <a:latin typeface="Poppins"/>
              </a:rPr>
              <a:t>diffusion MRI onto that X-ray, down to 20 µm</a:t>
            </a:r>
          </a:p>
          <a:p>
            <a:pPr algn="l">
              <a:lnSpc>
                <a:spcPct val="100000"/>
              </a:lnSpc>
              <a:spcBef>
                <a:spcPts val="0"/>
              </a:spcBef>
              <a:spcAft>
                <a:spcPts val="0"/>
              </a:spcAft>
            </a:pP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7" name="TextBox 6"/>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8" name="Connector 7"/>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0" name="TextBox 9"/>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1" name="Rectangle 10"/>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3" name="TextBox 12"/>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2 min 06 s</a:t>
            </a:r>
          </a:p>
        </p:txBody>
      </p:sp>
      <p:sp>
        <p:nvSpPr>
          <p:cNvPr id="14" name="TextBox 13"/>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5" name="Rectangle 14"/>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7" name="TextBox 16"/>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 8 min 27 s</a:t>
            </a:r>
          </a:p>
        </p:txBody>
      </p:sp>
      <p:sp>
        <p:nvSpPr>
          <p:cNvPr id="18" name="TextBox 17"/>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19" name="Rectangle 18"/>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1" name="TextBox 20"/>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rigid · 17 s</a:t>
            </a:r>
          </a:p>
        </p:txBody>
      </p:sp>
      <p:sp>
        <p:nvSpPr>
          <p:cNvPr id="22" name="TextBox 21"/>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3" name="Rectangle 22"/>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5" name="TextBox 24"/>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294 tiles · 35 min</a:t>
            </a:r>
          </a:p>
        </p:txBody>
      </p:sp>
      <p:sp>
        <p:nvSpPr>
          <p:cNvPr id="26" name="TextBox 25"/>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7" name="Rectangle 26"/>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29" name="TextBox 28"/>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15 mm window · 14 min</a:t>
            </a:r>
          </a:p>
        </p:txBody>
      </p:sp>
      <p:sp>
        <p:nvSpPr>
          <p:cNvPr id="30" name="Rectangle 29"/>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2" name="Rectangle 31"/>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4" name="TextBox 33"/>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the first stages run in memory, the fine ones in tiles</a:t>
            </a:r>
          </a:p>
        </p:txBody>
      </p:sp>
      <p:sp>
        <p:nvSpPr>
          <p:cNvPr id="35" name="TextBox 34"/>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memory never change</a:t>
            </a:r>
          </a:p>
        </p:txBody>
      </p:sp>
      <p:pic>
        <p:nvPicPr>
          <p:cNvPr id="36" name="Picture 35" descr="image4.png"/>
          <p:cNvPicPr>
            <a:picLocks noChangeAspect="1"/>
          </p:cNvPicPr>
          <p:nvPr/>
        </p:nvPicPr>
        <p:blipFill>
          <a:blip r:embed="rId2"/>
          <a:stretch>
            <a:fillRect/>
          </a:stretch>
        </p:blipFill>
        <p:spPr>
          <a:xfrm>
            <a:off x="288036" y="4539996"/>
            <a:ext cx="425196" cy="493776"/>
          </a:xfrm>
          <a:prstGeom prst="rect">
            <a:avLst/>
          </a:prstGeom>
        </p:spPr>
      </p:pic>
      <p:pic>
        <p:nvPicPr>
          <p:cNvPr id="37" name="Picture 36" descr="image1.png"/>
          <p:cNvPicPr>
            <a:picLocks noChangeAspect="1"/>
          </p:cNvPicPr>
          <p:nvPr/>
        </p:nvPicPr>
        <p:blipFill>
          <a:blip r:embed="rId3"/>
          <a:stretch>
            <a:fillRect/>
          </a:stretch>
        </p:blipFill>
        <p:spPr>
          <a:xfrm>
            <a:off x="0" y="0"/>
            <a:ext cx="685800" cy="720090"/>
          </a:xfrm>
          <a:prstGeom prst="rect">
            <a:avLst/>
          </a:prstGeom>
        </p:spPr>
      </p:pic>
      <p:pic>
        <p:nvPicPr>
          <p:cNvPr id="38" name="Picture 37" descr="image1.png"/>
          <p:cNvPicPr>
            <a:picLocks noChangeAspect="1"/>
          </p:cNvPicPr>
          <p:nvPr/>
        </p:nvPicPr>
        <p:blipFill>
          <a:blip r:embed="rId3"/>
          <a:stretch>
            <a:fillRect/>
          </a:stretch>
        </p:blipFill>
        <p:spPr>
          <a:xfrm rot="10800000">
            <a:off x="8457971" y="4423410"/>
            <a:ext cx="685800" cy="720090"/>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7" name="TextBox 6"/>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From the whole hemisphere to 20 µm</a:t>
            </a:r>
          </a:p>
        </p:txBody>
      </p:sp>
      <p:pic>
        <p:nvPicPr>
          <p:cNvPr id="8" name="Picture 7" descr="D11_plane_both.png"/>
          <p:cNvPicPr>
            <a:picLocks noChangeAspect="1"/>
          </p:cNvPicPr>
          <p:nvPr/>
        </p:nvPicPr>
        <p:blipFill>
          <a:blip r:embed="rId2"/>
          <a:stretch>
            <a:fillRect/>
          </a:stretch>
        </p:blipFill>
        <p:spPr>
          <a:xfrm>
            <a:off x="978430" y="1110996"/>
            <a:ext cx="2301651" cy="2811779"/>
          </a:xfrm>
          <a:prstGeom prst="rect">
            <a:avLst/>
          </a:prstGeom>
        </p:spPr>
      </p:pic>
      <p:pic>
        <p:nvPicPr>
          <p:cNvPr id="9" name="Picture 8" descr="Z3_edges.png"/>
          <p:cNvPicPr>
            <a:picLocks noChangeAspect="1"/>
          </p:cNvPicPr>
          <p:nvPr/>
        </p:nvPicPr>
        <p:blipFill>
          <a:blip r:embed="rId3"/>
          <a:stretch>
            <a:fillRect/>
          </a:stretch>
        </p:blipFill>
        <p:spPr>
          <a:xfrm>
            <a:off x="3485822" y="1110996"/>
            <a:ext cx="4679518" cy="2811779"/>
          </a:xfrm>
          <a:prstGeom prst="rect">
            <a:avLst/>
          </a:prstGeom>
        </p:spPr>
      </p:pic>
      <p:sp>
        <p:nvSpPr>
          <p:cNvPr id="10" name="TextBox 9"/>
          <p:cNvSpPr txBox="1"/>
          <p:nvPr/>
        </p:nvSpPr>
        <p:spPr>
          <a:xfrm>
            <a:off x="978430" y="3950208"/>
            <a:ext cx="2301651"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1" name="TextBox 10"/>
          <p:cNvSpPr txBox="1"/>
          <p:nvPr/>
        </p:nvSpPr>
        <p:spPr>
          <a:xfrm>
            <a:off x="3485822" y="3950208"/>
            <a:ext cx="4679518"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zoom 1 on the overview · top: placed by hand · bottom: after 294 tiles</a:t>
            </a:r>
          </a:p>
        </p:txBody>
      </p:sp>
      <p:cxnSp>
        <p:nvCxnSpPr>
          <p:cNvPr id="12" name="Connector 11"/>
          <p:cNvCxnSpPr/>
          <p:nvPr/>
        </p:nvCxnSpPr>
        <p:spPr>
          <a:xfrm>
            <a:off x="411479" y="4251960"/>
            <a:ext cx="2708910"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1479"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 mm → 0</a:t>
            </a:r>
          </a:p>
          <a:p>
            <a:pPr algn="l">
              <a:lnSpc>
                <a:spcPct val="100000"/>
              </a:lnSpc>
              <a:spcBef>
                <a:spcPts val="0"/>
              </a:spcBef>
              <a:spcAft>
                <a:spcPts val="0"/>
              </a:spcAft>
            </a:pPr>
            <a:r>
              <a:rPr sz="825" b="0" i="0">
                <a:solidFill>
                  <a:srgbClr val="595959"/>
                </a:solidFill>
                <a:latin typeface="Poppins"/>
              </a:rPr>
              <a:t>level 4 residual shift</a:t>
            </a:r>
          </a:p>
        </p:txBody>
      </p:sp>
      <p:cxnSp>
        <p:nvCxnSpPr>
          <p:cNvPr id="14" name="Connector 13"/>
          <p:cNvCxnSpPr/>
          <p:nvPr/>
        </p:nvCxnSpPr>
        <p:spPr>
          <a:xfrm>
            <a:off x="3206114" y="4251960"/>
            <a:ext cx="2708911"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06114"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0.45 → &lt;0.02 mm</a:t>
            </a:r>
          </a:p>
          <a:p>
            <a:pPr algn="l">
              <a:lnSpc>
                <a:spcPct val="100000"/>
              </a:lnSpc>
              <a:spcBef>
                <a:spcPts val="0"/>
              </a:spcBef>
              <a:spcAft>
                <a:spcPts val="0"/>
              </a:spcAft>
            </a:pPr>
            <a:r>
              <a:rPr sz="825" b="0" i="0">
                <a:solidFill>
                  <a:srgbClr val="595959"/>
                </a:solidFill>
                <a:latin typeface="Poppins"/>
              </a:rPr>
              <a:t>zoom 1 median residual</a:t>
            </a:r>
          </a:p>
        </p:txBody>
      </p:sp>
      <p:cxnSp>
        <p:nvCxnSpPr>
          <p:cNvPr id="16" name="Connector 15"/>
          <p:cNvCxnSpPr/>
          <p:nvPr/>
        </p:nvCxnSpPr>
        <p:spPr>
          <a:xfrm>
            <a:off x="6000750" y="4251960"/>
            <a:ext cx="2708909"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0750"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19 % → 87 %</a:t>
            </a:r>
          </a:p>
          <a:p>
            <a:pPr algn="l">
              <a:lnSpc>
                <a:spcPct val="100000"/>
              </a:lnSpc>
              <a:spcBef>
                <a:spcPts val="0"/>
              </a:spcBef>
              <a:spcAft>
                <a:spcPts val="0"/>
              </a:spcAft>
            </a:pPr>
            <a:r>
              <a:rPr sz="825" b="0" i="0">
                <a:solidFill>
                  <a:srgbClr val="595959"/>
                </a:solidFill>
                <a:latin typeface="Poppins"/>
              </a:rPr>
              <a:t>zoom edges within one 20 µm voxel</a:t>
            </a:r>
          </a:p>
        </p:txBody>
      </p:sp>
      <p:pic>
        <p:nvPicPr>
          <p:cNvPr id="18" name="Picture 17" descr="image4.png"/>
          <p:cNvPicPr>
            <a:picLocks noChangeAspect="1"/>
          </p:cNvPicPr>
          <p:nvPr/>
        </p:nvPicPr>
        <p:blipFill>
          <a:blip r:embed="rId4"/>
          <a:stretch>
            <a:fillRect/>
          </a:stretch>
        </p:blipFill>
        <p:spPr>
          <a:xfrm>
            <a:off x="288036" y="4539996"/>
            <a:ext cx="425196" cy="493776"/>
          </a:xfrm>
          <a:prstGeom prst="rect">
            <a:avLst/>
          </a:prstGeom>
        </p:spPr>
      </p:pic>
      <p:pic>
        <p:nvPicPr>
          <p:cNvPr id="19" name="Picture 18" descr="image1.png"/>
          <p:cNvPicPr>
            <a:picLocks noChangeAspect="1"/>
          </p:cNvPicPr>
          <p:nvPr/>
        </p:nvPicPr>
        <p:blipFill>
          <a:blip r:embed="rId5"/>
          <a:stretch>
            <a:fillRect/>
          </a:stretch>
        </p:blipFill>
        <p:spPr>
          <a:xfrm>
            <a:off x="0" y="0"/>
            <a:ext cx="685800" cy="720090"/>
          </a:xfrm>
          <a:prstGeom prst="rect">
            <a:avLst/>
          </a:prstGeom>
        </p:spPr>
      </p:pic>
      <p:pic>
        <p:nvPicPr>
          <p:cNvPr id="20" name="Picture 19" descr="image1.png"/>
          <p:cNvPicPr>
            <a:picLocks noChangeAspect="1"/>
          </p:cNvPicPr>
          <p:nvPr/>
        </p:nvPicPr>
        <p:blipFill>
          <a:blip r:embed="rId5"/>
          <a:stretch>
            <a:fillRect/>
          </a:stretch>
        </p:blipFill>
        <p:spPr>
          <a:xfrm rot="10800000">
            <a:off x="8457971" y="4423410"/>
            <a:ext cx="685800" cy="720090"/>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7" name="TextBox 6"/>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Three engines, two subjects</a:t>
            </a:r>
          </a:p>
        </p:txBody>
      </p:sp>
      <p:pic>
        <p:nvPicPr>
          <p:cNvPr id="8" name="Picture 7" descr="subject_v_VB_edges_slide.png"/>
          <p:cNvPicPr>
            <a:picLocks noChangeAspect="1"/>
          </p:cNvPicPr>
          <p:nvPr/>
        </p:nvPicPr>
        <p:blipFill>
          <a:blip r:embed="rId2"/>
          <a:stretch>
            <a:fillRect/>
          </a:stretch>
        </p:blipFill>
        <p:spPr>
          <a:xfrm>
            <a:off x="411479" y="1097280"/>
            <a:ext cx="5298479" cy="3188970"/>
          </a:xfrm>
          <a:prstGeom prst="rect">
            <a:avLst/>
          </a:prstGeom>
        </p:spPr>
      </p:pic>
      <p:cxnSp>
        <p:nvCxnSpPr>
          <p:cNvPr id="9" name="Connector 8"/>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0664" y="4341114"/>
            <a:ext cx="4969295"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24 mm zoom</a:t>
            </a:r>
          </a:p>
        </p:txBody>
      </p:sp>
      <p:sp>
        <p:nvSpPr>
          <p:cNvPr id="11" name="Rounded Rectangle 10"/>
          <p:cNvSpPr/>
          <p:nvPr/>
        </p:nvSpPr>
        <p:spPr>
          <a:xfrm>
            <a:off x="5897879" y="1097280"/>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elastix MI + bending</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5.0 mm</a:t>
            </a:r>
          </a:p>
          <a:p>
            <a:pPr algn="l">
              <a:lnSpc>
                <a:spcPct val="100000"/>
              </a:lnSpc>
              <a:spcBef>
                <a:spcPts val="0"/>
              </a:spcBef>
              <a:spcAft>
                <a:spcPts val="0"/>
              </a:spcAft>
            </a:pPr>
            <a:r>
              <a:rPr sz="787" b="0" i="0">
                <a:solidFill>
                  <a:srgbClr val="595959"/>
                </a:solidFill>
                <a:latin typeface="Poppins"/>
              </a:rPr>
              <a:t>subject_m: 0.57 / 0.40 mm · 0 % · max 3.8 mm</a:t>
            </a:r>
          </a:p>
        </p:txBody>
      </p:sp>
      <p:cxnSp>
        <p:nvCxnSpPr>
          <p:cNvPr id="12" name="Connector 11"/>
          <p:cNvCxnSpPr/>
          <p:nvPr/>
        </p:nvCxnSpPr>
        <p:spPr>
          <a:xfrm>
            <a:off x="5897879" y="1152144"/>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79" y="2105406"/>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FireANTs SyN CC</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2.7 mm</a:t>
            </a:r>
          </a:p>
          <a:p>
            <a:pPr algn="l">
              <a:lnSpc>
                <a:spcPct val="100000"/>
              </a:lnSpc>
              <a:spcBef>
                <a:spcPts val="0"/>
              </a:spcBef>
              <a:spcAft>
                <a:spcPts val="0"/>
              </a:spcAft>
            </a:pPr>
            <a:r>
              <a:rPr sz="787" b="0" i="0">
                <a:solidFill>
                  <a:srgbClr val="595959"/>
                </a:solidFill>
                <a:latin typeface="Poppins"/>
              </a:rPr>
              <a:t>subject_m: 0.40 / 0.40 mm · 0 % · max 2.1 mm</a:t>
            </a:r>
          </a:p>
        </p:txBody>
      </p:sp>
      <p:cxnSp>
        <p:nvCxnSpPr>
          <p:cNvPr id="14" name="Connector 13"/>
          <p:cNvCxnSpPr/>
          <p:nvPr/>
        </p:nvCxnSpPr>
        <p:spPr>
          <a:xfrm>
            <a:off x="5897879" y="2160270"/>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3113532"/>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ConvexAdam MIND</a:t>
            </a:r>
          </a:p>
          <a:p>
            <a:pPr algn="l">
              <a:lnSpc>
                <a:spcPct val="100000"/>
              </a:lnSpc>
              <a:spcBef>
                <a:spcPts val="0"/>
              </a:spcBef>
              <a:spcAft>
                <a:spcPts val="0"/>
              </a:spcAft>
            </a:pPr>
            <a:r>
              <a:rPr sz="1650" b="1" i="0">
                <a:solidFill>
                  <a:srgbClr val="212121"/>
                </a:solidFill>
                <a:latin typeface="Consolas"/>
              </a:rPr>
              <a:t>0.57 / 0.40 mm</a:t>
            </a:r>
          </a:p>
          <a:p>
            <a:pPr algn="l">
              <a:lnSpc>
                <a:spcPct val="100000"/>
              </a:lnSpc>
              <a:spcBef>
                <a:spcPts val="0"/>
              </a:spcBef>
              <a:spcAft>
                <a:spcPts val="75"/>
              </a:spcAft>
            </a:pPr>
            <a:r>
              <a:rPr sz="900" b="1" i="0">
                <a:solidFill>
                  <a:srgbClr val="B03A2E"/>
                </a:solidFill>
                <a:latin typeface="Consolas"/>
              </a:rPr>
              <a:t>1.6 % folded</a:t>
            </a:r>
            <a:r>
              <a:rPr sz="900" b="0" i="0">
                <a:solidFill>
                  <a:srgbClr val="595959"/>
                </a:solidFill>
                <a:latin typeface="Consolas"/>
              </a:rPr>
              <a:t> · max 13.5 mm</a:t>
            </a:r>
          </a:p>
          <a:p>
            <a:pPr algn="l">
              <a:lnSpc>
                <a:spcPct val="100000"/>
              </a:lnSpc>
              <a:spcBef>
                <a:spcPts val="0"/>
              </a:spcBef>
              <a:spcAft>
                <a:spcPts val="0"/>
              </a:spcAft>
            </a:pPr>
            <a:r>
              <a:rPr sz="787" b="0" i="0">
                <a:solidFill>
                  <a:srgbClr val="595959"/>
                </a:solidFill>
                <a:latin typeface="Poppins"/>
              </a:rPr>
              <a:t>subject_m: 0.57 / 0.40 mm · 1.6 % · max 14.5 mm</a:t>
            </a:r>
          </a:p>
        </p:txBody>
      </p:sp>
      <p:cxnSp>
        <p:nvCxnSpPr>
          <p:cNvPr id="16" name="Connector 15"/>
          <p:cNvCxnSpPr/>
          <p:nvPr/>
        </p:nvCxnSpPr>
        <p:spPr>
          <a:xfrm>
            <a:off x="5897879" y="3168396"/>
            <a:ext cx="0" cy="83667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97879" y="4128515"/>
            <a:ext cx="2811779" cy="63093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subject_v shown; residual = median best shift in 12 mm windows (MI / gradients). Affine alone: 1.26 mm (v), 1.13 mm (m). Our measures, no official criterion.</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pic>
        <p:nvPicPr>
          <p:cNvPr id="19" name="Picture 18" descr="image1.png"/>
          <p:cNvPicPr>
            <a:picLocks noChangeAspect="1"/>
          </p:cNvPicPr>
          <p:nvPr/>
        </p:nvPicPr>
        <p:blipFill>
          <a:blip r:embed="rId4"/>
          <a:stretch>
            <a:fillRect/>
          </a:stretch>
        </p:blipFill>
        <p:spPr>
          <a:xfrm>
            <a:off x="0" y="0"/>
            <a:ext cx="685800" cy="720090"/>
          </a:xfrm>
          <a:prstGeom prst="rect">
            <a:avLst/>
          </a:prstGeom>
        </p:spPr>
      </p:pic>
      <p:pic>
        <p:nvPicPr>
          <p:cNvPr id="20" name="Picture 19" descr="image1.png"/>
          <p:cNvPicPr>
            <a:picLocks noChangeAspect="1"/>
          </p:cNvPicPr>
          <p:nvPr/>
        </p:nvPicPr>
        <p:blipFill>
          <a:blip r:embed="rId4"/>
          <a:stretch>
            <a:fillRect/>
          </a:stretch>
        </p:blipFill>
        <p:spPr>
          <a:xfrm rot="10800000">
            <a:off x="8457971" y="4423410"/>
            <a:ext cx="685800" cy="720090"/>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7" name="TextBox 6"/>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8" name="Connector 7"/>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11479"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4 steps</a:t>
            </a:r>
          </a:p>
          <a:p>
            <a:pPr algn="l">
              <a:lnSpc>
                <a:spcPct val="100000"/>
              </a:lnSpc>
              <a:spcBef>
                <a:spcPts val="0"/>
              </a:spcBef>
              <a:spcAft>
                <a:spcPts val="450"/>
              </a:spcAft>
            </a:pPr>
            <a:r>
              <a:rPr sz="1425" b="1" i="0">
                <a:solidFill>
                  <a:srgbClr val="212121"/>
                </a:solidFill>
                <a:latin typeface="Poppins"/>
              </a:rPr>
              <a:t>one command</a:t>
            </a:r>
          </a:p>
          <a:p>
            <a:pPr algn="l">
              <a:lnSpc>
                <a:spcPct val="100000"/>
              </a:lnSpc>
              <a:spcBef>
                <a:spcPts val="0"/>
              </a:spcBef>
              <a:spcAft>
                <a:spcPts val="0"/>
              </a:spcAft>
            </a:pPr>
            <a:r>
              <a:rPr sz="1050" b="0" i="0">
                <a:solidFill>
                  <a:srgbClr val="595959"/>
                </a:solidFill>
                <a:latin typeface="Poppins"/>
              </a:rPr>
              <a:t>patches, backend, blend, write; and the loss you choose</a:t>
            </a:r>
          </a:p>
        </p:txBody>
      </p:sp>
      <p:cxnSp>
        <p:nvCxnSpPr>
          <p:cNvPr id="10" name="Connector 9"/>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236976"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memory follows the patch, not the volume</a:t>
            </a:r>
          </a:p>
        </p:txBody>
      </p:sp>
      <p:cxnSp>
        <p:nvCxnSpPr>
          <p:cNvPr id="12" name="Connector 11"/>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62472"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OME-Zarr</a:t>
            </a:r>
          </a:p>
          <a:p>
            <a:pPr algn="l">
              <a:lnSpc>
                <a:spcPct val="100000"/>
              </a:lnSpc>
              <a:spcBef>
                <a:spcPts val="0"/>
              </a:spcBef>
              <a:spcAft>
                <a:spcPts val="450"/>
              </a:spcAft>
            </a:pPr>
            <a:r>
              <a:rPr sz="1425" b="1" i="0">
                <a:solidFill>
                  <a:srgbClr val="212121"/>
                </a:solidFill>
                <a:latin typeface="Poppins"/>
              </a:rPr>
              <a:t>fields as RFC-5 transforms</a:t>
            </a:r>
          </a:p>
          <a:p>
            <a:pPr algn="l">
              <a:lnSpc>
                <a:spcPct val="100000"/>
              </a:lnSpc>
              <a:spcBef>
                <a:spcPts val="0"/>
              </a:spcBef>
              <a:spcAft>
                <a:spcPts val="0"/>
              </a:spcAft>
            </a:pPr>
            <a:r>
              <a:rPr sz="1050" b="0" i="0">
                <a:solidFill>
                  <a:srgbClr val="595959"/>
                </a:solidFill>
                <a:latin typeface="Poppins"/>
              </a:rPr>
              <a:t>or ITK transforms; images from ITK, DICOM, HDF5 or OME-Zarr</a:t>
            </a:r>
          </a:p>
        </p:txBody>
      </p:sp>
      <p:sp>
        <p:nvSpPr>
          <p:cNvPr id="14" name="Rounded Rectangle 13"/>
          <p:cNvSpPr/>
          <p:nvPr/>
        </p:nvSpPr>
        <p:spPr>
          <a:xfrm>
            <a:off x="411479" y="322326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5" name="TextBox 14"/>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6" name="Picture 15" descr="image4.png"/>
          <p:cNvPicPr>
            <a:picLocks noChangeAspect="1"/>
          </p:cNvPicPr>
          <p:nvPr/>
        </p:nvPicPr>
        <p:blipFill>
          <a:blip r:embed="rId2"/>
          <a:stretch>
            <a:fillRect/>
          </a:stretch>
        </p:blipFill>
        <p:spPr>
          <a:xfrm>
            <a:off x="288036" y="4539996"/>
            <a:ext cx="425196" cy="493776"/>
          </a:xfrm>
          <a:prstGeom prst="rect">
            <a:avLst/>
          </a:prstGeom>
        </p:spPr>
      </p:pic>
      <p:pic>
        <p:nvPicPr>
          <p:cNvPr id="17" name="Picture 16" descr="image1.png"/>
          <p:cNvPicPr>
            <a:picLocks noChangeAspect="1"/>
          </p:cNvPicPr>
          <p:nvPr/>
        </p:nvPicPr>
        <p:blipFill>
          <a:blip r:embed="rId3"/>
          <a:stretch>
            <a:fillRect/>
          </a:stretch>
        </p:blipFill>
        <p:spPr>
          <a:xfrm>
            <a:off x="0" y="0"/>
            <a:ext cx="685800" cy="720090"/>
          </a:xfrm>
          <a:prstGeom prst="rect">
            <a:avLst/>
          </a:prstGeom>
        </p:spPr>
      </p:pic>
      <p:pic>
        <p:nvPicPr>
          <p:cNvPr id="18" name="Picture 17" descr="image1.png"/>
          <p:cNvPicPr>
            <a:picLocks noChangeAspect="1"/>
          </p:cNvPicPr>
          <p:nvPr/>
        </p:nvPicPr>
        <p:blipFill>
          <a:blip r:embed="rId3"/>
          <a:stretch>
            <a:fillRect/>
          </a:stretch>
        </p:blipFill>
        <p:spPr>
          <a:xfrm rot="10800000">
            <a:off x="8457971" y="4423410"/>
            <a:ext cx="685800" cy="720090"/>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backup</a:t>
            </a:r>
          </a:p>
        </p:txBody>
      </p:sp>
      <p:sp>
        <p:nvSpPr>
          <p:cNvPr id="3" name="Rectangle 2"/>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BACKUP</a:t>
            </a:r>
            <a:r>
              <a:rPr sz="825" b="0" i="0">
                <a:solidFill>
                  <a:srgbClr val="595959"/>
                </a:solidFill>
                <a:latin typeface="Poppins"/>
              </a:rPr>
              <a:t>    for questions</a:t>
            </a:r>
          </a:p>
        </p:txBody>
      </p:sp>
      <p:sp>
        <p:nvSpPr>
          <p:cNvPr id="7" name="TextBox 6"/>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Flicker: retardance and FA on the 24 mm box</a:t>
            </a:r>
          </a:p>
        </p:txBody>
      </p:sp>
      <p:sp>
        <p:nvSpPr>
          <p:cNvPr id="8" name="TextBox 7"/>
          <p:cNvSpPr txBox="1"/>
          <p:nvPr/>
        </p:nvSpPr>
        <p:spPr>
          <a:xfrm>
            <a:off x="411479" y="1817369"/>
            <a:ext cx="1988819"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212121"/>
                </a:solidFill>
                <a:latin typeface="Poppins"/>
              </a:rPr>
              <a:t>subject_v</a:t>
            </a:r>
          </a:p>
        </p:txBody>
      </p:sp>
      <p:pic>
        <p:nvPicPr>
          <p:cNvPr id="9" name="Picture 8" descr="subject_v_VB_flicker_affine.gif"/>
          <p:cNvPicPr>
            <a:picLocks noChangeAspect="1"/>
          </p:cNvPicPr>
          <p:nvPr/>
        </p:nvPicPr>
        <p:blipFill>
          <a:blip r:embed="rId2"/>
          <a:stretch>
            <a:fillRect/>
          </a:stretch>
        </p:blipFill>
        <p:spPr>
          <a:xfrm>
            <a:off x="2891675" y="1200150"/>
            <a:ext cx="1577339" cy="1577339"/>
          </a:xfrm>
          <a:prstGeom prst="rect">
            <a:avLst/>
          </a:prstGeom>
        </p:spPr>
      </p:pic>
      <p:pic>
        <p:nvPicPr>
          <p:cNvPr id="10" name="Picture 9" descr="subject_v_VB_flicker_fireants.gif"/>
          <p:cNvPicPr>
            <a:picLocks noChangeAspect="1"/>
          </p:cNvPicPr>
          <p:nvPr/>
        </p:nvPicPr>
        <p:blipFill>
          <a:blip r:embed="rId3"/>
          <a:stretch>
            <a:fillRect/>
          </a:stretch>
        </p:blipFill>
        <p:spPr>
          <a:xfrm>
            <a:off x="4674755" y="1200150"/>
            <a:ext cx="1577339" cy="1577339"/>
          </a:xfrm>
          <a:prstGeom prst="rect">
            <a:avLst/>
          </a:prstGeom>
        </p:spPr>
      </p:pic>
      <p:sp>
        <p:nvSpPr>
          <p:cNvPr id="11" name="TextBox 10"/>
          <p:cNvSpPr txBox="1"/>
          <p:nvPr/>
        </p:nvSpPr>
        <p:spPr>
          <a:xfrm>
            <a:off x="411479" y="3531870"/>
            <a:ext cx="1988819"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212121"/>
                </a:solidFill>
                <a:latin typeface="Poppins"/>
              </a:rPr>
              <a:t>subject_m</a:t>
            </a:r>
          </a:p>
        </p:txBody>
      </p:sp>
      <p:pic>
        <p:nvPicPr>
          <p:cNvPr id="12" name="Picture 11" descr="subject_m_VB_flicker_affine.gif"/>
          <p:cNvPicPr>
            <a:picLocks noChangeAspect="1"/>
          </p:cNvPicPr>
          <p:nvPr/>
        </p:nvPicPr>
        <p:blipFill>
          <a:blip r:embed="rId4"/>
          <a:stretch>
            <a:fillRect/>
          </a:stretch>
        </p:blipFill>
        <p:spPr>
          <a:xfrm>
            <a:off x="2891675" y="2914650"/>
            <a:ext cx="1577339" cy="1577339"/>
          </a:xfrm>
          <a:prstGeom prst="rect">
            <a:avLst/>
          </a:prstGeom>
        </p:spPr>
      </p:pic>
      <p:pic>
        <p:nvPicPr>
          <p:cNvPr id="13" name="Picture 12" descr="subject_m_VB_flicker_fireants.gif"/>
          <p:cNvPicPr>
            <a:picLocks noChangeAspect="1"/>
          </p:cNvPicPr>
          <p:nvPr/>
        </p:nvPicPr>
        <p:blipFill>
          <a:blip r:embed="rId5"/>
          <a:stretch>
            <a:fillRect/>
          </a:stretch>
        </p:blipFill>
        <p:spPr>
          <a:xfrm>
            <a:off x="4674755" y="2914650"/>
            <a:ext cx="1577339" cy="1577339"/>
          </a:xfrm>
          <a:prstGeom prst="rect">
            <a:avLst/>
          </a:prstGeom>
        </p:spPr>
      </p:pic>
      <p:sp>
        <p:nvSpPr>
          <p:cNvPr id="14" name="TextBox 13"/>
          <p:cNvSpPr txBox="1"/>
          <p:nvPr/>
        </p:nvSpPr>
        <p:spPr>
          <a:xfrm>
            <a:off x="2891675" y="946403"/>
            <a:ext cx="1577339" cy="24688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050" b="1" i="0">
                <a:solidFill>
                  <a:srgbClr val="212121"/>
                </a:solidFill>
                <a:latin typeface="Poppins"/>
              </a:rPr>
              <a:t>affine only</a:t>
            </a:r>
          </a:p>
        </p:txBody>
      </p:sp>
      <p:sp>
        <p:nvSpPr>
          <p:cNvPr id="15" name="TextBox 14"/>
          <p:cNvSpPr txBox="1"/>
          <p:nvPr/>
        </p:nvSpPr>
        <p:spPr>
          <a:xfrm>
            <a:off x="4674755" y="946403"/>
            <a:ext cx="1577339" cy="24688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050" b="1" i="0">
                <a:solidFill>
                  <a:srgbClr val="212121"/>
                </a:solidFill>
                <a:latin typeface="Poppins"/>
              </a:rPr>
              <a:t>FireANTs SyN CC</a:t>
            </a:r>
          </a:p>
        </p:txBody>
      </p:sp>
      <p:sp>
        <p:nvSpPr>
          <p:cNvPr id="16" name="TextBox 15"/>
          <p:cNvSpPr txBox="1"/>
          <p:nvPr/>
        </p:nvSpPr>
        <p:spPr>
          <a:xfrm>
            <a:off x="411479" y="4491990"/>
            <a:ext cx="8298179" cy="274320"/>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595959"/>
                </a:solidFill>
                <a:latin typeface="Poppins"/>
              </a:rPr>
              <a:t>retardance and FA alternate every 0.7 s (plays in slideshow mode) · aligned = the tracts stay put when the image switches</a:t>
            </a:r>
          </a:p>
        </p:txBody>
      </p:sp>
      <p:pic>
        <p:nvPicPr>
          <p:cNvPr id="17" name="Picture 16" descr="image4.png"/>
          <p:cNvPicPr>
            <a:picLocks noChangeAspect="1"/>
          </p:cNvPicPr>
          <p:nvPr/>
        </p:nvPicPr>
        <p:blipFill>
          <a:blip r:embed="rId6"/>
          <a:stretch>
            <a:fillRect/>
          </a:stretch>
        </p:blipFill>
        <p:spPr>
          <a:xfrm>
            <a:off x="288036" y="4539996"/>
            <a:ext cx="425196" cy="493776"/>
          </a:xfrm>
          <a:prstGeom prst="rect">
            <a:avLst/>
          </a:prstGeom>
        </p:spPr>
      </p:pic>
      <p:pic>
        <p:nvPicPr>
          <p:cNvPr id="18" name="Picture 17" descr="image1.png"/>
          <p:cNvPicPr>
            <a:picLocks noChangeAspect="1"/>
          </p:cNvPicPr>
          <p:nvPr/>
        </p:nvPicPr>
        <p:blipFill>
          <a:blip r:embed="rId7"/>
          <a:stretch>
            <a:fillRect/>
          </a:stretch>
        </p:blipFill>
        <p:spPr>
          <a:xfrm>
            <a:off x="0" y="0"/>
            <a:ext cx="685800" cy="720090"/>
          </a:xfrm>
          <a:prstGeom prst="rect">
            <a:avLst/>
          </a:prstGeom>
        </p:spPr>
      </p:pic>
      <p:pic>
        <p:nvPicPr>
          <p:cNvPr id="19" name="Picture 18" descr="image1.png"/>
          <p:cNvPicPr>
            <a:picLocks noChangeAspect="1"/>
          </p:cNvPicPr>
          <p:nvPr/>
        </p:nvPicPr>
        <p:blipFill>
          <a:blip r:embed="rId7"/>
          <a:stretch>
            <a:fillRect/>
          </a:stretch>
        </p:blipFill>
        <p:spPr>
          <a:xfrm rot="10800000">
            <a:off x="8457971" y="4423410"/>
            <a:ext cx="685800" cy="720090"/>
          </a:xfrm>
          <a:prstGeom prst="rect">
            <a:avLst/>
          </a:prstGeom>
        </p:spPr>
      </p:pic>
      <p:sp>
        <p:nvSpPr>
          <p:cNvPr id="20" name="TextBox 1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1" name="TextBox 2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
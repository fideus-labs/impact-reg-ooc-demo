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3771"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a:t>
            </a:r>
          </a:p>
          <a:p/>
          <a:p>
            <a:r>
              <a:t>Hi everyone, I'm Valentin, from Fideus Labs. Today I want to show you IMPACT: registration that compares what segmentation models see, instead of raw intensities. And we run it with KonfAI, so it works on volumes that don't fit in memory, and it writes its results as OME-Zarr.</a:t>
            </a:r>
          </a:p>
          <a:p/>
          <a:p>
            <a:r>
              <a:t>Two parts. First, how it works: I'll walk you through the pipeline step by step, from the volume to the field, and then the loss. Second, what we got when we applied it to the hackathon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a:t>
            </a:r>
          </a:p>
          <a:p/>
          <a:p>
            <a:r>
              <a:t>Step one. Here's the volume: the LINC hemisphere, 908 gigabytes, sitting in an OME-Zarr store, on disk or on S3. KonfAI never loads it. It cuts it into patches, and reads one region at a time: the patch, plus a halo around it, which is the overlap with its neighbours. And it only decodes the chunks that region touches.</a:t>
            </a:r>
          </a:p>
          <a:p/>
          <a:p>
            <a:r>
              <a:t>That's two settings in the preset: patch size and overlap. Leave the patch size out, and you get one pass on the whole volume, if it fits. Put one in, and you get tiles. Same command. So memory follows the patch, not the volume.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a:t>
            </a:r>
          </a:p>
          <a:p/>
          <a:p>
            <a:r>
              <a:t>Step two, the backend. The contract is simple: a fixed patch and a moving patch go in, one patch of displacement comes out.</a:t>
            </a:r>
          </a:p>
          <a:p/>
          <a:p>
            <a:r>
              <a:t>And behind that contract you can plug in different engines. elastix, the classic B-spline with mutual information and a bending penalty. FireANTs, a diffeomorphic SyN on the GPU. ConvexAdam, block matching refined with Adam. Same patches in, same field out, so they're interchangeable: you just change the preset name.</a:t>
            </a:r>
          </a:p>
          <a:p/>
          <a:p>
            <a:r>
              <a:t>What differs is memory. On the same tile, elastix needs about two gigabytes, ConvexAdam fifteen, and FireANTs doesn't even fit on a 24-gig card. With tiling, that's a one-line fix: you make the tile smaller.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a:t>
            </a:r>
          </a:p>
          <a:p/>
          <a:p>
            <a:r>
              <a:t>Step three, blending. A patch is right in its centre and worst at its edges, and that's what the halo is for. So we don't cut and paste tiles. Each patch gets a weight that fades out before its edge, while its neighbour's weight rises, and at every voxel the weights sum to one: a partition of unity.</a:t>
            </a:r>
          </a:p>
          <a:p/>
          <a:p>
            <a:r>
              <a:t>Top row, two patches of displacement that don't quite agree in the overlap. Middle, their weights. Bottom, the blended field: one continuous field.</a:t>
            </a:r>
          </a:p>
          <a:p/>
          <a:p>
            <a:r>
              <a:t>And we checked that. On a known deformation, tiled registration brings the error from 21 to 6 microns, and the field's step at the tile planes is the same as anywhere else. No seam.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a:p/>
          <a:p>
            <a:r>
              <a:t>Step four, writing. The blended field is written slab by slab, as the tiles complete, so the output never has to exist in memory either.</a:t>
            </a:r>
          </a:p>
          <a:p/>
          <a:p>
            <a:r>
              <a:t>On the way in, KonfAI reads ITK formats like NIfTI or MetaImage, DICOM, HDF5, and OME-Zarr, local or straight from S3. On the way out, the field is an OME-Zarr store with an NGFF RFC-5 displacements transform, so any NGFF-aware tool can apply it; or a plain ITK transform that opens in 3D Slicer. And the moved image comes back in the same format as your moving image.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a:t>
            </a:r>
          </a:p>
          <a:p/>
          <a:p>
            <a:r>
              <a:t>And now the loss. For every backend, you choose what is compared. The usual choice is intensity: mutual information, cross-correlation. IMPACT is the other choice: it compares feature maps from a pretrained segmentation model.</a:t>
            </a:r>
          </a:p>
          <a:p/>
          <a:p>
            <a:r>
              <a:t>Why? Because two modalities share no intensity, but the features a segmentation network computes, they do share. Here are our two images, the retardance on top and the registered FA below, through four extractors: MIND, TotalSegmentator, SAM and Anatomix. The colours use the same basis in both rows, so the same colour means the same features, even though the images look nothing alike.</a:t>
            </a:r>
          </a:p>
          <a:p/>
          <a:p>
            <a:r>
              <a:t>TotalSegmentator is our default. It's what we use in radiotherapy, CT to CBCT and MR to CT, and IMPACT placed well in several Learn2Reg challenges. You can use the maps as they are, that's Static mode, or backpropagate through the network, that's Jacobian mode.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 s)</a:t>
            </a:r>
          </a:p>
          <a:p/>
          <a:p>
            <a:r>
              <a:t>So that's the pipeline. Part two: we applied it to the hackathon data. The LINC hemisphere, the MRI-to-X-ray registration on it, and then the competition pair.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a:t>
            </a:r>
          </a:p>
          <a:p/>
          <a:p>
            <a:r>
              <a:t>The LINC hemisphere is 908 gigabytes at 20 microns. At level 4 it's small enough to fit in memory, so the affine and the first deformable run on the whole hemisphere in about two minutes. Every level down is eight times bigger, and we run the exact same command with tiles: 125 tiles at level 3, 294 for the zoom, and 125 tiles of level 0 for a fifteen-millimetre window.</a:t>
            </a:r>
          </a:p>
          <a:p/>
          <a:p>
            <a:r>
              <a:t>The runtime goes up. The command doesn't change, and neither does the memory: one 24-gig GPU.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a:t>
            </a:r>
          </a:p>
          <a:p/>
          <a:p>
            <a:r>
              <a:t>What it looks like. We're bringing ex vivo diffusion MRI, at 0.4 millimetres, onto the X-ray.</a:t>
            </a:r>
          </a:p>
          <a:p/>
          <a:p>
            <a:r>
              <a:t>On the left, level 4: the MRI contour, in blue after the affine, in gold after the deformable. The residual shift goes from about a millimetre down to basically zero.</a:t>
            </a:r>
          </a:p>
          <a:p/>
          <a:p>
            <a:r>
              <a:t>On the right, we place a 4.3-micron zoom scan onto the 20-micron overview. On top, the placement by hand: look, the edges sit next to the gold lines. At the bottom, after 294 tiles, they sit right on them. The median error drops from 0.45 millimetres to under one voxel.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a:t>
            </a:r>
          </a:p>
          <a:p/>
          <a:p>
            <a:r>
              <a:t>And the competition pair: DTI FA onto PS-OCT retardance, on a 0.4-millimetre grid, with the three backends through the same pipeline.</a:t>
            </a:r>
          </a:p>
          <a:p/>
          <a:p>
            <a:r>
              <a:t>The gold line is the retardance's white matter, the same in every panel; the grey image is the FA, moving. After the affine alone, look at the zoom: the tract sits next to the gold line. After elastix and FireANTs, it sits right under it.</a:t>
            </a:r>
          </a:p>
          <a:p/>
          <a:p>
            <a:r>
              <a:t>In numbers, elastix and FireANTs both get down to one voxel with zero folding, and FireANTs does it with the smallest deformation. ConvexAdam aligns the inside too, but it folds a bit of tissue and stretches the edges.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a:t>
            </a:r>
          </a:p>
          <a:p/>
          <a:p>
            <a:r>
              <a:t>To wrap up. Four steps and one command: patches, backend, blend, write, and the loss you choose, with IMPACT comparing what a segmentation model sees. Memory follows the patch, so 908 gigabytes runs on a single 24-gig card. And every field comes out as an OME-Zarr RFC-5 transform, or an ITK transform.</a:t>
            </a:r>
          </a:p>
          <a:p/>
          <a:p>
            <a:r>
              <a:t>It's all a pip install away, and all the fields from today are shared. Thank you, and I'm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someone asks. Each box alternates between the retardance and the FA, before and after FireANTs, for both subjects. When the registration is right, the tracts stay put as the image switches; after the affine alone you can see them jump.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gif"/><Relationship Id="rId4" Type="http://schemas.openxmlformats.org/officeDocument/2006/relationships/image" Target="../media/image11.gif"/><Relationship Id="rId5" Type="http://schemas.openxmlformats.org/officeDocument/2006/relationships/image" Target="../media/image12.gif"/><Relationship Id="rId6" Type="http://schemas.openxmlformats.org/officeDocument/2006/relationships/image" Target="../media/image13.gif"/><Relationship Id="rId7" Type="http://schemas.openxmlformats.org/officeDocument/2006/relationships/image" Target="../media/image2.png"/><Relationship Id="rId8"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3.png"/>
          <p:cNvPicPr>
            <a:picLocks noChangeAspect="1"/>
          </p:cNvPicPr>
          <p:nvPr/>
        </p:nvPicPr>
        <p:blipFill>
          <a:blip r:embed="rId2"/>
          <a:stretch>
            <a:fillRect/>
          </a:stretch>
        </p:blipFill>
        <p:spPr>
          <a:xfrm>
            <a:off x="5006340" y="925830"/>
            <a:ext cx="4046220" cy="2258355"/>
          </a:xfrm>
          <a:prstGeom prst="rect">
            <a:avLst/>
          </a:prstGeom>
        </p:spPr>
      </p:pic>
      <p:sp>
        <p:nvSpPr>
          <p:cNvPr id="3" name="TextBox 2"/>
          <p:cNvSpPr txBox="1"/>
          <p:nvPr/>
        </p:nvSpPr>
        <p:spPr>
          <a:xfrm>
            <a:off x="459486" y="857250"/>
            <a:ext cx="4526279" cy="27432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900" b="1" i="0">
                <a:solidFill>
                  <a:srgbClr val="0047AB"/>
                </a:solidFill>
                <a:latin typeface="Poppins"/>
              </a:rPr>
              <a:t>APEX · BRAIN CONNECTS HACKATHON · UT AUSTIN</a:t>
            </a:r>
          </a:p>
        </p:txBody>
      </p:sp>
      <p:sp>
        <p:nvSpPr>
          <p:cNvPr id="4" name="TextBox 3"/>
          <p:cNvSpPr txBox="1"/>
          <p:nvPr/>
        </p:nvSpPr>
        <p:spPr>
          <a:xfrm>
            <a:off x="459486" y="1200150"/>
            <a:ext cx="4526279" cy="1714500"/>
          </a:xfrm>
          <a:prstGeom prst="rect">
            <a:avLst/>
          </a:prstGeom>
          <a:noFill/>
        </p:spPr>
        <p:txBody>
          <a:bodyPr wrap="square" lIns="34290" rIns="34290" tIns="34290" bIns="34290" anchor="t">
            <a:noAutofit/>
          </a:bodyPr>
          <a:lstStyle/>
          <a:p>
            <a:pPr algn="l">
              <a:lnSpc>
                <a:spcPct val="100000"/>
              </a:lnSpc>
              <a:spcBef>
                <a:spcPts val="0"/>
              </a:spcBef>
              <a:spcAft>
                <a:spcPts val="150"/>
              </a:spcAft>
            </a:pPr>
            <a:r>
              <a:rPr sz="4500" b="1" i="0">
                <a:solidFill>
                  <a:srgbClr val="0047AB"/>
                </a:solidFill>
                <a:latin typeface="Alegreya"/>
              </a:rPr>
              <a:t>IMPACT</a:t>
            </a:r>
          </a:p>
          <a:p>
            <a:pPr algn="l">
              <a:lnSpc>
                <a:spcPct val="100000"/>
              </a:lnSpc>
              <a:spcBef>
                <a:spcPts val="0"/>
              </a:spcBef>
              <a:spcAft>
                <a:spcPts val="0"/>
              </a:spcAft>
            </a:pPr>
            <a:r>
              <a:rPr sz="2250" b="1" i="0">
                <a:solidFill>
                  <a:srgbClr val="0047AB"/>
                </a:solidFill>
                <a:latin typeface="Alegreya"/>
              </a:rPr>
              <a:t>Registration on segmentation-model representations</a:t>
            </a:r>
          </a:p>
        </p:txBody>
      </p:sp>
      <p:sp>
        <p:nvSpPr>
          <p:cNvPr id="5" name="TextBox 4"/>
          <p:cNvSpPr txBox="1"/>
          <p:nvPr/>
        </p:nvSpPr>
        <p:spPr>
          <a:xfrm>
            <a:off x="459486" y="2983229"/>
            <a:ext cx="4526279" cy="61722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1275" b="0" i="0">
                <a:solidFill>
                  <a:srgbClr val="808080"/>
                </a:solidFill>
                <a:latin typeface="Poppins"/>
              </a:rPr>
              <a:t>with KonfAI: elastix · FireANTs · ConvexAdam · out of core · OME-Zarr RFC-5</a:t>
            </a:r>
          </a:p>
        </p:txBody>
      </p:sp>
      <p:sp>
        <p:nvSpPr>
          <p:cNvPr id="6" name="TextBox 5"/>
          <p:cNvSpPr txBox="1"/>
          <p:nvPr/>
        </p:nvSpPr>
        <p:spPr>
          <a:xfrm>
            <a:off x="459486" y="3669029"/>
            <a:ext cx="5486400" cy="548640"/>
          </a:xfrm>
          <a:prstGeom prst="rect">
            <a:avLst/>
          </a:prstGeom>
          <a:noFill/>
        </p:spPr>
        <p:txBody>
          <a:bodyPr wrap="square" lIns="34290" rIns="34290" tIns="34290" bIns="34290" anchor="t">
            <a:noAutofit/>
          </a:bodyPr>
          <a:lstStyle/>
          <a:p>
            <a:pPr algn="l">
              <a:lnSpc>
                <a:spcPct val="100000"/>
              </a:lnSpc>
              <a:spcBef>
                <a:spcPts val="0"/>
              </a:spcBef>
              <a:spcAft>
                <a:spcPts val="150"/>
              </a:spcAft>
            </a:pPr>
            <a:r>
              <a:rPr sz="1050" b="1" i="0">
                <a:solidFill>
                  <a:srgbClr val="595959"/>
                </a:solidFill>
                <a:latin typeface="Poppins"/>
              </a:rPr>
              <a:t>Valentin Boussot — Fideus Labs</a:t>
            </a:r>
          </a:p>
          <a:p>
            <a:pPr algn="l">
              <a:lnSpc>
                <a:spcPct val="100000"/>
              </a:lnSpc>
              <a:spcBef>
                <a:spcPts val="0"/>
              </a:spcBef>
              <a:spcAft>
                <a:spcPts val="0"/>
              </a:spcAft>
            </a:pPr>
            <a:r>
              <a:rPr sz="1050" b="1" i="0">
                <a:solidFill>
                  <a:srgbClr val="595959"/>
                </a:solidFill>
                <a:latin typeface="Poppins"/>
              </a:rPr>
              <a:t>September 16th, 2026</a:t>
            </a:r>
          </a:p>
        </p:txBody>
      </p:sp>
      <p:pic>
        <p:nvPicPr>
          <p:cNvPr id="7" name="Picture 6" descr="image4.png"/>
          <p:cNvPicPr>
            <a:picLocks noChangeAspect="1"/>
          </p:cNvPicPr>
          <p:nvPr/>
        </p:nvPicPr>
        <p:blipFill>
          <a:blip r:embed="rId3"/>
          <a:stretch>
            <a:fillRect/>
          </a:stretch>
        </p:blipFill>
        <p:spPr>
          <a:xfrm>
            <a:off x="4334256" y="4457700"/>
            <a:ext cx="473201" cy="5486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493776" cy="521208"/>
          </a:xfrm>
          <a:prstGeom prst="rect">
            <a:avLst/>
          </a:prstGeom>
        </p:spPr>
      </p:pic>
      <p:pic>
        <p:nvPicPr>
          <p:cNvPr id="3" name="Picture 2" descr="image1.png"/>
          <p:cNvPicPr>
            <a:picLocks noChangeAspect="1"/>
          </p:cNvPicPr>
          <p:nvPr/>
        </p:nvPicPr>
        <p:blipFill>
          <a:blip r:embed="rId2"/>
          <a:stretch>
            <a:fillRect/>
          </a:stretch>
        </p:blipFill>
        <p:spPr>
          <a:xfrm rot="10800000">
            <a:off x="8649995" y="4622292"/>
            <a:ext cx="493776" cy="521208"/>
          </a:xfrm>
          <a:prstGeom prst="rect">
            <a:avLst/>
          </a:prstGeom>
        </p:spPr>
      </p:pic>
      <p:sp>
        <p:nvSpPr>
          <p:cNvPr id="4" name="TextBox 3"/>
          <p:cNvSpPr txBox="1"/>
          <p:nvPr/>
        </p:nvSpPr>
        <p:spPr>
          <a:xfrm>
            <a:off x="5692140" y="274320"/>
            <a:ext cx="2482596" cy="233172"/>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87" b="0" i="0">
                <a:solidFill>
                  <a:srgbClr val="595959"/>
                </a:solidFill>
                <a:latin typeface="Poppins"/>
              </a:rPr>
              <a:t>1 · how it works</a:t>
            </a:r>
          </a:p>
        </p:txBody>
      </p:sp>
      <p:sp>
        <p:nvSpPr>
          <p:cNvPr id="5" name="Rectangle 4"/>
          <p:cNvSpPr/>
          <p:nvPr/>
        </p:nvSpPr>
        <p:spPr>
          <a:xfrm>
            <a:off x="8243316"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7908"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72500"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79" y="1083564"/>
            <a:ext cx="1577339" cy="274320"/>
          </a:xfrm>
          <a:prstGeom prst="roundRect">
            <a:avLst>
              <a:gd name="adj" fmla="val 6000"/>
            </a:avLst>
          </a:prstGeom>
          <a:solidFill>
            <a:srgbClr val="E3ECF8"/>
          </a:solidFill>
          <a:ln w="14287">
            <a:solidFill>
              <a:srgbClr val="0047A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1" i="0">
                <a:solidFill>
                  <a:srgbClr val="0047AB"/>
                </a:solidFill>
                <a:latin typeface="Poppins"/>
              </a:rPr>
              <a:t>1 · cut into patches</a:t>
            </a:r>
          </a:p>
        </p:txBody>
      </p:sp>
      <p:sp>
        <p:nvSpPr>
          <p:cNvPr id="9" name="Rounded Rectangle 8"/>
          <p:cNvSpPr/>
          <p:nvPr/>
        </p:nvSpPr>
        <p:spPr>
          <a:xfrm>
            <a:off x="209169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2 · the backend</a:t>
            </a:r>
          </a:p>
        </p:txBody>
      </p:sp>
      <p:sp>
        <p:nvSpPr>
          <p:cNvPr id="10" name="Rounded Rectangle 9"/>
          <p:cNvSpPr/>
          <p:nvPr/>
        </p:nvSpPr>
        <p:spPr>
          <a:xfrm>
            <a:off x="377190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3 · blend</a:t>
            </a:r>
          </a:p>
        </p:txBody>
      </p:sp>
      <p:sp>
        <p:nvSpPr>
          <p:cNvPr id="11" name="Rounded Rectangle 10"/>
          <p:cNvSpPr/>
          <p:nvPr/>
        </p:nvSpPr>
        <p:spPr>
          <a:xfrm>
            <a:off x="545211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4 · write the field</a:t>
            </a:r>
          </a:p>
        </p:txBody>
      </p:sp>
      <p:sp>
        <p:nvSpPr>
          <p:cNvPr id="12" name="Rounded Rectangle 11"/>
          <p:cNvSpPr/>
          <p:nvPr/>
        </p:nvSpPr>
        <p:spPr>
          <a:xfrm>
            <a:off x="713232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 the loss</a:t>
            </a:r>
          </a:p>
        </p:txBody>
      </p:sp>
      <p:sp>
        <p:nvSpPr>
          <p:cNvPr id="13" name="TextBox 12"/>
          <p:cNvSpPr txBox="1"/>
          <p:nvPr/>
        </p:nvSpPr>
        <p:spPr>
          <a:xfrm>
            <a:off x="411479" y="288036"/>
            <a:ext cx="8298179" cy="233172"/>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1" i="0">
                <a:solidFill>
                  <a:srgbClr val="0047AB"/>
                </a:solidFill>
                <a:latin typeface="Poppins"/>
              </a:rPr>
              <a:t>STEP 1</a:t>
            </a:r>
            <a:r>
              <a:rPr sz="825" b="0" i="0">
                <a:solidFill>
                  <a:srgbClr val="595959"/>
                </a:solidFill>
                <a:latin typeface="Poppins"/>
              </a:rPr>
              <a:t>    the volume, cut into patches</a:t>
            </a:r>
          </a:p>
        </p:txBody>
      </p:sp>
      <p:sp>
        <p:nvSpPr>
          <p:cNvPr id="14" name="TextBox 13"/>
          <p:cNvSpPr txBox="1"/>
          <p:nvPr/>
        </p:nvSpPr>
        <p:spPr>
          <a:xfrm>
            <a:off x="411479" y="507491"/>
            <a:ext cx="8298179" cy="54864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2400" b="1" i="0">
                <a:solidFill>
                  <a:srgbClr val="0047AB"/>
                </a:solidFill>
                <a:latin typeface="Alegreya"/>
              </a:rPr>
              <a:t>The volume never loads: one region at a time</a:t>
            </a:r>
          </a:p>
        </p:txBody>
      </p:sp>
      <p:sp>
        <p:nvSpPr>
          <p:cNvPr id="15" name="Rounded Rectangle 14"/>
          <p:cNvSpPr/>
          <p:nvPr/>
        </p:nvSpPr>
        <p:spPr>
          <a:xfrm>
            <a:off x="411479" y="1474469"/>
            <a:ext cx="3703320" cy="2846070"/>
          </a:xfrm>
          <a:prstGeom prst="roundRect">
            <a:avLst>
              <a:gd name="adj" fmla="val 6000"/>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xpct_level4.png"/>
          <p:cNvPicPr>
            <a:picLocks noChangeAspect="1"/>
          </p:cNvPicPr>
          <p:nvPr/>
        </p:nvPicPr>
        <p:blipFill>
          <a:blip r:embed="rId3"/>
          <a:stretch>
            <a:fillRect/>
          </a:stretch>
        </p:blipFill>
        <p:spPr>
          <a:xfrm>
            <a:off x="1194435" y="1577339"/>
            <a:ext cx="2137410" cy="2640330"/>
          </a:xfrm>
          <a:prstGeom prst="rect">
            <a:avLst/>
          </a:prstGeom>
        </p:spPr>
      </p:pic>
      <p:cxnSp>
        <p:nvCxnSpPr>
          <p:cNvPr id="17" name="Connector 16"/>
          <p:cNvCxnSpPr/>
          <p:nvPr/>
        </p:nvCxnSpPr>
        <p:spPr>
          <a:xfrm>
            <a:off x="1728787" y="1577339"/>
            <a:ext cx="0" cy="2640331"/>
          </a:xfrm>
          <a:prstGeom prst="line">
            <a:avLst/>
          </a:prstGeom>
          <a:ln w="7143">
            <a:solidFill>
              <a:srgbClr val="8FA3B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263139" y="1577339"/>
            <a:ext cx="0" cy="2640331"/>
          </a:xfrm>
          <a:prstGeom prst="line">
            <a:avLst/>
          </a:prstGeom>
          <a:ln w="7143">
            <a:solidFill>
              <a:srgbClr val="8FA3B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797492" y="1577339"/>
            <a:ext cx="0" cy="2640331"/>
          </a:xfrm>
          <a:prstGeom prst="line">
            <a:avLst/>
          </a:prstGeom>
          <a:ln w="7143">
            <a:solidFill>
              <a:srgbClr val="8FA3B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94435" y="2105406"/>
            <a:ext cx="2137410" cy="0"/>
          </a:xfrm>
          <a:prstGeom prst="line">
            <a:avLst/>
          </a:prstGeom>
          <a:ln w="7143">
            <a:solidFill>
              <a:srgbClr val="8FA3B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94435" y="2633472"/>
            <a:ext cx="2137410" cy="0"/>
          </a:xfrm>
          <a:prstGeom prst="line">
            <a:avLst/>
          </a:prstGeom>
          <a:ln w="7143">
            <a:solidFill>
              <a:srgbClr val="8FA3B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94435" y="3161537"/>
            <a:ext cx="2137410" cy="0"/>
          </a:xfrm>
          <a:prstGeom prst="line">
            <a:avLst/>
          </a:prstGeom>
          <a:ln w="7143">
            <a:solidFill>
              <a:srgbClr val="8FA3B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94435" y="3689604"/>
            <a:ext cx="2137410" cy="0"/>
          </a:xfrm>
          <a:prstGeom prst="line">
            <a:avLst/>
          </a:prstGeom>
          <a:ln w="7143">
            <a:solidFill>
              <a:srgbClr val="8FA3B3"/>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1728787" y="2633472"/>
            <a:ext cx="534352" cy="528066"/>
          </a:xfrm>
          <a:prstGeom prst="rect">
            <a:avLst/>
          </a:prstGeom>
          <a:noFill/>
          <a:ln w="33337">
            <a:solidFill>
              <a:srgbClr val="0047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1568481" y="2475052"/>
            <a:ext cx="854964" cy="0"/>
          </a:xfrm>
          <a:prstGeom prst="line">
            <a:avLst/>
          </a:prstGeom>
          <a:ln w="14287">
            <a:solidFill>
              <a:srgbClr val="F0B429"/>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568481" y="3319957"/>
            <a:ext cx="854964" cy="0"/>
          </a:xfrm>
          <a:prstGeom prst="line">
            <a:avLst/>
          </a:prstGeom>
          <a:ln w="14287">
            <a:solidFill>
              <a:srgbClr val="F0B429"/>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568481" y="2475052"/>
            <a:ext cx="0" cy="844905"/>
          </a:xfrm>
          <a:prstGeom prst="line">
            <a:avLst/>
          </a:prstGeom>
          <a:ln w="14287">
            <a:solidFill>
              <a:srgbClr val="F0B429"/>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423445" y="2475052"/>
            <a:ext cx="0" cy="844905"/>
          </a:xfrm>
          <a:prstGeom prst="line">
            <a:avLst/>
          </a:prstGeom>
          <a:ln w="14287">
            <a:solidFill>
              <a:srgbClr val="F0B429"/>
            </a:solidFill>
            <a:prstDash val="dash"/>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14350" y="4121658"/>
            <a:ext cx="137160" cy="137160"/>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6374" y="4059935"/>
            <a:ext cx="822959" cy="260604"/>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825" b="0" i="0">
                <a:solidFill>
                  <a:srgbClr val="595959"/>
                </a:solidFill>
                <a:latin typeface="Poppins"/>
              </a:rPr>
              <a:t>the patch</a:t>
            </a:r>
          </a:p>
        </p:txBody>
      </p:sp>
      <p:cxnSp>
        <p:nvCxnSpPr>
          <p:cNvPr id="31" name="Connector 30"/>
          <p:cNvCxnSpPr/>
          <p:nvPr/>
        </p:nvCxnSpPr>
        <p:spPr>
          <a:xfrm>
            <a:off x="1405889" y="4190238"/>
            <a:ext cx="205741" cy="0"/>
          </a:xfrm>
          <a:prstGeom prst="line">
            <a:avLst/>
          </a:prstGeom>
          <a:ln w="14287">
            <a:solidFill>
              <a:srgbClr val="F0B429"/>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59636" y="4059935"/>
            <a:ext cx="1508760" cy="260604"/>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825" b="0" i="0">
                <a:solidFill>
                  <a:srgbClr val="9FB0BD"/>
                </a:solidFill>
                <a:latin typeface="Poppins"/>
              </a:rPr>
              <a:t>its halo (the overlap)</a:t>
            </a:r>
          </a:p>
        </p:txBody>
      </p:sp>
      <p:sp>
        <p:nvSpPr>
          <p:cNvPr id="33" name="TextBox 32"/>
          <p:cNvSpPr txBox="1"/>
          <p:nvPr/>
        </p:nvSpPr>
        <p:spPr>
          <a:xfrm>
            <a:off x="4389120" y="1453896"/>
            <a:ext cx="4320540" cy="726948"/>
          </a:xfrm>
          <a:prstGeom prst="rect">
            <a:avLst/>
          </a:prstGeom>
          <a:noFill/>
        </p:spPr>
        <p:txBody>
          <a:bodyPr wrap="square" lIns="34290" rIns="34290" tIns="34290" bIns="34290" anchor="t">
            <a:noAutofit/>
          </a:bodyPr>
          <a:lstStyle/>
          <a:p>
            <a:pPr algn="l">
              <a:lnSpc>
                <a:spcPct val="100000"/>
              </a:lnSpc>
              <a:spcBef>
                <a:spcPts val="0"/>
              </a:spcBef>
              <a:spcAft>
                <a:spcPts val="150"/>
              </a:spcAft>
            </a:pPr>
            <a:r>
              <a:rPr sz="2250" b="1" i="0">
                <a:solidFill>
                  <a:srgbClr val="0047AB"/>
                </a:solidFill>
                <a:latin typeface="Consolas"/>
              </a:rPr>
              <a:t>908 GiB</a:t>
            </a:r>
          </a:p>
          <a:p>
            <a:pPr algn="l">
              <a:lnSpc>
                <a:spcPct val="100000"/>
              </a:lnSpc>
              <a:spcBef>
                <a:spcPts val="0"/>
              </a:spcBef>
              <a:spcAft>
                <a:spcPts val="0"/>
              </a:spcAft>
            </a:pPr>
            <a:r>
              <a:rPr sz="975" b="0" i="0">
                <a:solidFill>
                  <a:srgbClr val="595959"/>
                </a:solidFill>
                <a:latin typeface="Poppins"/>
              </a:rPr>
              <a:t>the volume on disk, in OME-Zarr, local or on S3. It is never loaded.</a:t>
            </a:r>
          </a:p>
        </p:txBody>
      </p:sp>
      <p:sp>
        <p:nvSpPr>
          <p:cNvPr id="34" name="TextBox 33"/>
          <p:cNvSpPr txBox="1"/>
          <p:nvPr/>
        </p:nvSpPr>
        <p:spPr>
          <a:xfrm>
            <a:off x="4389120" y="2180844"/>
            <a:ext cx="4320540" cy="726948"/>
          </a:xfrm>
          <a:prstGeom prst="rect">
            <a:avLst/>
          </a:prstGeom>
          <a:noFill/>
        </p:spPr>
        <p:txBody>
          <a:bodyPr wrap="square" lIns="34290" rIns="34290" tIns="34290" bIns="34290" anchor="t">
            <a:noAutofit/>
          </a:bodyPr>
          <a:lstStyle/>
          <a:p>
            <a:pPr algn="l">
              <a:lnSpc>
                <a:spcPct val="100000"/>
              </a:lnSpc>
              <a:spcBef>
                <a:spcPts val="0"/>
              </a:spcBef>
              <a:spcAft>
                <a:spcPts val="150"/>
              </a:spcAft>
            </a:pPr>
            <a:r>
              <a:rPr sz="2250" b="1" i="0">
                <a:solidFill>
                  <a:srgbClr val="0047AB"/>
                </a:solidFill>
                <a:latin typeface="Consolas"/>
              </a:rPr>
              <a:t>1 region</a:t>
            </a:r>
          </a:p>
          <a:p>
            <a:pPr algn="l">
              <a:lnSpc>
                <a:spcPct val="100000"/>
              </a:lnSpc>
              <a:spcBef>
                <a:spcPts val="0"/>
              </a:spcBef>
              <a:spcAft>
                <a:spcPts val="0"/>
              </a:spcAft>
            </a:pPr>
            <a:r>
              <a:rPr sz="975" b="0" i="0">
                <a:solidFill>
                  <a:srgbClr val="595959"/>
                </a:solidFill>
                <a:latin typeface="Poppins"/>
              </a:rPr>
              <a:t>read at a time: the patch and its halo, only the chunks it touches.</a:t>
            </a:r>
          </a:p>
        </p:txBody>
      </p:sp>
      <p:sp>
        <p:nvSpPr>
          <p:cNvPr id="35" name="TextBox 34"/>
          <p:cNvSpPr txBox="1"/>
          <p:nvPr/>
        </p:nvSpPr>
        <p:spPr>
          <a:xfrm>
            <a:off x="4389120" y="2907792"/>
            <a:ext cx="4320540" cy="726948"/>
          </a:xfrm>
          <a:prstGeom prst="rect">
            <a:avLst/>
          </a:prstGeom>
          <a:noFill/>
        </p:spPr>
        <p:txBody>
          <a:bodyPr wrap="square" lIns="34290" rIns="34290" tIns="34290" bIns="34290" anchor="t">
            <a:noAutofit/>
          </a:bodyPr>
          <a:lstStyle/>
          <a:p>
            <a:pPr algn="l">
              <a:lnSpc>
                <a:spcPct val="100000"/>
              </a:lnSpc>
              <a:spcBef>
                <a:spcPts val="0"/>
              </a:spcBef>
              <a:spcAft>
                <a:spcPts val="150"/>
              </a:spcAft>
            </a:pPr>
            <a:r>
              <a:rPr sz="2250" b="1" i="0">
                <a:solidFill>
                  <a:srgbClr val="0047AB"/>
                </a:solidFill>
                <a:latin typeface="Consolas"/>
              </a:rPr>
              <a:t>2 settings</a:t>
            </a:r>
          </a:p>
          <a:p>
            <a:pPr algn="l">
              <a:lnSpc>
                <a:spcPct val="100000"/>
              </a:lnSpc>
              <a:spcBef>
                <a:spcPts val="0"/>
              </a:spcBef>
              <a:spcAft>
                <a:spcPts val="0"/>
              </a:spcAft>
            </a:pPr>
            <a:r>
              <a:rPr sz="975" b="0" i="0">
                <a:solidFill>
                  <a:srgbClr val="595959"/>
                </a:solidFill>
                <a:latin typeface="Poppins"/>
              </a:rPr>
              <a:t>patch_size and overlap. No patch size: one pass on the whole volume.</a:t>
            </a:r>
          </a:p>
        </p:txBody>
      </p:sp>
      <p:sp>
        <p:nvSpPr>
          <p:cNvPr id="36" name="Rounded Rectangle 35"/>
          <p:cNvSpPr/>
          <p:nvPr/>
        </p:nvSpPr>
        <p:spPr>
          <a:xfrm>
            <a:off x="4389120" y="3669029"/>
            <a:ext cx="4320540" cy="651509"/>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96012" tIns="96012" bIns="96012">
            <a:noAutofit/>
          </a:bodyPr>
          <a:lstStyle/>
          <a:p>
            <a:pPr algn="l">
              <a:lnSpc>
                <a:spcPct val="100000"/>
              </a:lnSpc>
              <a:spcBef>
                <a:spcPts val="0"/>
              </a:spcBef>
              <a:spcAft>
                <a:spcPts val="0"/>
              </a:spcAft>
            </a:pPr>
            <a:r>
              <a:rPr sz="900" b="0" i="0">
                <a:solidFill>
                  <a:srgbClr val="212121"/>
                </a:solidFill>
                <a:latin typeface="Consolas"/>
              </a:rPr>
              <a:t>Patch:</a:t>
            </a:r>
          </a:p>
          <a:p>
            <a:pPr algn="l">
              <a:lnSpc>
                <a:spcPct val="100000"/>
              </a:lnSpc>
              <a:spcBef>
                <a:spcPts val="0"/>
              </a:spcBef>
              <a:spcAft>
                <a:spcPts val="0"/>
              </a:spcAft>
            </a:pPr>
            <a:r>
              <a:rPr sz="900" b="0" i="0">
                <a:solidFill>
                  <a:srgbClr val="212121"/>
                </a:solidFill>
                <a:latin typeface="Consolas"/>
              </a:rPr>
              <a:t>  patch_size: </a:t>
            </a:r>
            <a:r>
              <a:rPr sz="900" b="0" i="0">
                <a:solidFill>
                  <a:srgbClr val="0047AB"/>
                </a:solidFill>
                <a:latin typeface="Consolas"/>
              </a:rPr>
              <a:t>[256, 256, 256]</a:t>
            </a:r>
          </a:p>
          <a:p>
            <a:pPr algn="l">
              <a:lnSpc>
                <a:spcPct val="100000"/>
              </a:lnSpc>
              <a:spcBef>
                <a:spcPts val="0"/>
              </a:spcBef>
              <a:spcAft>
                <a:spcPts val="0"/>
              </a:spcAft>
            </a:pPr>
            <a:r>
              <a:rPr sz="900" b="0" i="0">
                <a:solidFill>
                  <a:srgbClr val="212121"/>
                </a:solidFill>
                <a:latin typeface="Consolas"/>
              </a:rPr>
              <a:t>  overlap: </a:t>
            </a:r>
            <a:r>
              <a:rPr sz="900" b="0" i="0">
                <a:solidFill>
                  <a:srgbClr val="0047AB"/>
                </a:solidFill>
                <a:latin typeface="Consolas"/>
              </a:rPr>
              <a:t>128</a:t>
            </a:r>
          </a:p>
        </p:txBody>
      </p:sp>
      <p:sp>
        <p:nvSpPr>
          <p:cNvPr id="37" name="TextBox 36"/>
          <p:cNvSpPr txBox="1"/>
          <p:nvPr/>
        </p:nvSpPr>
        <p:spPr>
          <a:xfrm>
            <a:off x="411479" y="4423410"/>
            <a:ext cx="8298179" cy="315468"/>
          </a:xfrm>
          <a:prstGeom prst="rect">
            <a:avLst/>
          </a:prstGeom>
          <a:noFill/>
        </p:spPr>
        <p:txBody>
          <a:bodyPr wrap="square" lIns="34290" rIns="34290" tIns="34290" bIns="34290" anchor="t">
            <a:noAutofit/>
          </a:bodyPr>
          <a:lstStyle/>
          <a:p>
            <a:pPr algn="ctr">
              <a:lnSpc>
                <a:spcPct val="100000"/>
              </a:lnSpc>
              <a:spcBef>
                <a:spcPts val="0"/>
              </a:spcBef>
              <a:spcAft>
                <a:spcPts val="0"/>
              </a:spcAft>
            </a:pPr>
            <a:r>
              <a:rPr sz="1200" b="0" i="1">
                <a:solidFill>
                  <a:srgbClr val="0047AB"/>
                </a:solidFill>
                <a:latin typeface="Poppins"/>
              </a:rPr>
              <a:t>memory follows the patch, not the volume</a:t>
            </a:r>
          </a:p>
        </p:txBody>
      </p:sp>
      <p:pic>
        <p:nvPicPr>
          <p:cNvPr id="38" name="Picture 37" descr="image4.png"/>
          <p:cNvPicPr>
            <a:picLocks noChangeAspect="1"/>
          </p:cNvPicPr>
          <p:nvPr/>
        </p:nvPicPr>
        <p:blipFill>
          <a:blip r:embed="rId4"/>
          <a:stretch>
            <a:fillRect/>
          </a:stretch>
        </p:blipFill>
        <p:spPr>
          <a:xfrm>
            <a:off x="288036" y="4539996"/>
            <a:ext cx="425196" cy="493776"/>
          </a:xfrm>
          <a:prstGeom prst="rect">
            <a:avLst/>
          </a:prstGeom>
        </p:spPr>
      </p:pic>
      <p:sp>
        <p:nvSpPr>
          <p:cNvPr id="39" name="TextBox 38"/>
          <p:cNvSpPr txBox="1"/>
          <p:nvPr/>
        </p:nvSpPr>
        <p:spPr>
          <a:xfrm>
            <a:off x="788669" y="4821174"/>
            <a:ext cx="4114800" cy="205739"/>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50" b="0" i="0">
                <a:solidFill>
                  <a:srgbClr val="595959"/>
                </a:solidFill>
                <a:latin typeface="Poppins"/>
              </a:rPr>
              <a:t>Fideus Labs · KonfAI · impact-reg-konfai</a:t>
            </a:r>
          </a:p>
        </p:txBody>
      </p:sp>
      <p:sp>
        <p:nvSpPr>
          <p:cNvPr id="40" name="TextBox 39"/>
          <p:cNvSpPr txBox="1"/>
          <p:nvPr/>
        </p:nvSpPr>
        <p:spPr>
          <a:xfrm>
            <a:off x="8023859" y="4821174"/>
            <a:ext cx="685800" cy="205739"/>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50" b="0" i="0">
                <a:solidFill>
                  <a:srgbClr val="595959"/>
                </a:solidFill>
                <a:latin typeface="Poppin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493776" cy="521208"/>
          </a:xfrm>
          <a:prstGeom prst="rect">
            <a:avLst/>
          </a:prstGeom>
        </p:spPr>
      </p:pic>
      <p:pic>
        <p:nvPicPr>
          <p:cNvPr id="3" name="Picture 2" descr="image1.png"/>
          <p:cNvPicPr>
            <a:picLocks noChangeAspect="1"/>
          </p:cNvPicPr>
          <p:nvPr/>
        </p:nvPicPr>
        <p:blipFill>
          <a:blip r:embed="rId2"/>
          <a:stretch>
            <a:fillRect/>
          </a:stretch>
        </p:blipFill>
        <p:spPr>
          <a:xfrm rot="10800000">
            <a:off x="8649995" y="4622292"/>
            <a:ext cx="493776" cy="521208"/>
          </a:xfrm>
          <a:prstGeom prst="rect">
            <a:avLst/>
          </a:prstGeom>
        </p:spPr>
      </p:pic>
      <p:sp>
        <p:nvSpPr>
          <p:cNvPr id="4" name="TextBox 3"/>
          <p:cNvSpPr txBox="1"/>
          <p:nvPr/>
        </p:nvSpPr>
        <p:spPr>
          <a:xfrm>
            <a:off x="5692140" y="274320"/>
            <a:ext cx="2482596" cy="233172"/>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87" b="0" i="0">
                <a:solidFill>
                  <a:srgbClr val="595959"/>
                </a:solidFill>
                <a:latin typeface="Poppins"/>
              </a:rPr>
              <a:t>1 · how it works</a:t>
            </a:r>
          </a:p>
        </p:txBody>
      </p:sp>
      <p:sp>
        <p:nvSpPr>
          <p:cNvPr id="5" name="Rectangle 4"/>
          <p:cNvSpPr/>
          <p:nvPr/>
        </p:nvSpPr>
        <p:spPr>
          <a:xfrm>
            <a:off x="8243316"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7908"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72500"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79"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1 · cut into patches</a:t>
            </a:r>
          </a:p>
        </p:txBody>
      </p:sp>
      <p:sp>
        <p:nvSpPr>
          <p:cNvPr id="9" name="Rounded Rectangle 8"/>
          <p:cNvSpPr/>
          <p:nvPr/>
        </p:nvSpPr>
        <p:spPr>
          <a:xfrm>
            <a:off x="2091690" y="1083564"/>
            <a:ext cx="1577339" cy="274320"/>
          </a:xfrm>
          <a:prstGeom prst="roundRect">
            <a:avLst>
              <a:gd name="adj" fmla="val 6000"/>
            </a:avLst>
          </a:prstGeom>
          <a:solidFill>
            <a:srgbClr val="E3ECF8"/>
          </a:solidFill>
          <a:ln w="14287">
            <a:solidFill>
              <a:srgbClr val="0047A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1" i="0">
                <a:solidFill>
                  <a:srgbClr val="0047AB"/>
                </a:solidFill>
                <a:latin typeface="Poppins"/>
              </a:rPr>
              <a:t>2 · the backend</a:t>
            </a:r>
          </a:p>
        </p:txBody>
      </p:sp>
      <p:sp>
        <p:nvSpPr>
          <p:cNvPr id="10" name="Rounded Rectangle 9"/>
          <p:cNvSpPr/>
          <p:nvPr/>
        </p:nvSpPr>
        <p:spPr>
          <a:xfrm>
            <a:off x="377190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3 · blend</a:t>
            </a:r>
          </a:p>
        </p:txBody>
      </p:sp>
      <p:sp>
        <p:nvSpPr>
          <p:cNvPr id="11" name="Rounded Rectangle 10"/>
          <p:cNvSpPr/>
          <p:nvPr/>
        </p:nvSpPr>
        <p:spPr>
          <a:xfrm>
            <a:off x="545211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4 · write the field</a:t>
            </a:r>
          </a:p>
        </p:txBody>
      </p:sp>
      <p:sp>
        <p:nvSpPr>
          <p:cNvPr id="12" name="Rounded Rectangle 11"/>
          <p:cNvSpPr/>
          <p:nvPr/>
        </p:nvSpPr>
        <p:spPr>
          <a:xfrm>
            <a:off x="713232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 the loss</a:t>
            </a:r>
          </a:p>
        </p:txBody>
      </p:sp>
      <p:sp>
        <p:nvSpPr>
          <p:cNvPr id="13" name="TextBox 12"/>
          <p:cNvSpPr txBox="1"/>
          <p:nvPr/>
        </p:nvSpPr>
        <p:spPr>
          <a:xfrm>
            <a:off x="411479" y="288036"/>
            <a:ext cx="8298179" cy="233172"/>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1" i="0">
                <a:solidFill>
                  <a:srgbClr val="0047AB"/>
                </a:solidFill>
                <a:latin typeface="Poppins"/>
              </a:rPr>
              <a:t>STEP 2</a:t>
            </a:r>
            <a:r>
              <a:rPr sz="825" b="0" i="0">
                <a:solidFill>
                  <a:srgbClr val="595959"/>
                </a:solidFill>
                <a:latin typeface="Poppins"/>
              </a:rPr>
              <a:t>    the backend</a:t>
            </a:r>
          </a:p>
        </p:txBody>
      </p:sp>
      <p:sp>
        <p:nvSpPr>
          <p:cNvPr id="14" name="TextBox 13"/>
          <p:cNvSpPr txBox="1"/>
          <p:nvPr/>
        </p:nvSpPr>
        <p:spPr>
          <a:xfrm>
            <a:off x="411479" y="507491"/>
            <a:ext cx="8298179" cy="54864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2400" b="1" i="0">
                <a:solidFill>
                  <a:srgbClr val="0047AB"/>
                </a:solidFill>
                <a:latin typeface="Alegreya"/>
              </a:rPr>
              <a:t>Patches in, a displacement patch out</a:t>
            </a:r>
          </a:p>
        </p:txBody>
      </p:sp>
      <p:sp>
        <p:nvSpPr>
          <p:cNvPr id="15" name="Rounded Rectangle 14"/>
          <p:cNvSpPr/>
          <p:nvPr/>
        </p:nvSpPr>
        <p:spPr>
          <a:xfrm>
            <a:off x="411479" y="1508760"/>
            <a:ext cx="1028700" cy="960119"/>
          </a:xfrm>
          <a:prstGeom prst="roundRect">
            <a:avLst>
              <a:gd name="adj" fmla="val 6000"/>
            </a:avLst>
          </a:prstGeom>
          <a:solidFill>
            <a:srgbClr val="F4F5F7"/>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34290" rIns="34290" tIns="34290" bIns="34290">
            <a:noAutofit/>
          </a:bodyPr>
          <a:lstStyle/>
          <a:p>
            <a:pPr algn="ctr">
              <a:lnSpc>
                <a:spcPct val="100000"/>
              </a:lnSpc>
              <a:spcBef>
                <a:spcPts val="0"/>
              </a:spcBef>
              <a:spcAft>
                <a:spcPts val="0"/>
              </a:spcAft>
            </a:pPr>
            <a:r>
              <a:rPr sz="1050" b="1" i="0">
                <a:solidFill>
                  <a:srgbClr val="808080"/>
                </a:solidFill>
                <a:latin typeface="Poppins"/>
              </a:rPr>
              <a:t>fixed</a:t>
            </a:r>
          </a:p>
          <a:p>
            <a:pPr algn="ctr">
              <a:lnSpc>
                <a:spcPct val="100000"/>
              </a:lnSpc>
              <a:spcBef>
                <a:spcPts val="0"/>
              </a:spcBef>
              <a:spcAft>
                <a:spcPts val="0"/>
              </a:spcAft>
            </a:pPr>
            <a:r>
              <a:rPr sz="1050" b="1" i="0">
                <a:solidFill>
                  <a:srgbClr val="808080"/>
                </a:solidFill>
                <a:latin typeface="Poppins"/>
              </a:rPr>
              <a:t>patch</a:t>
            </a:r>
          </a:p>
        </p:txBody>
      </p:sp>
      <p:sp>
        <p:nvSpPr>
          <p:cNvPr id="16" name="Rounded Rectangle 15"/>
          <p:cNvSpPr/>
          <p:nvPr/>
        </p:nvSpPr>
        <p:spPr>
          <a:xfrm>
            <a:off x="1508760" y="1508760"/>
            <a:ext cx="1028700" cy="960119"/>
          </a:xfrm>
          <a:prstGeom prst="roundRect">
            <a:avLst>
              <a:gd name="adj" fmla="val 6000"/>
            </a:avLst>
          </a:prstGeom>
          <a:solidFill>
            <a:srgbClr val="F4F5F7"/>
          </a:solidFill>
          <a:ln w="19050">
            <a:solidFill>
              <a:srgbClr val="0047AB"/>
            </a:solidFill>
          </a:ln>
          <a:effectLst/>
        </p:spPr>
        <p:style>
          <a:lnRef idx="1">
            <a:schemeClr val="accent1"/>
          </a:lnRef>
          <a:fillRef idx="3">
            <a:schemeClr val="accent1"/>
          </a:fillRef>
          <a:effectRef idx="2">
            <a:schemeClr val="accent1"/>
          </a:effectRef>
          <a:fontRef idx="minor">
            <a:schemeClr val="lt1"/>
          </a:fontRef>
        </p:style>
        <p:txBody>
          <a:bodyPr rtlCol="0" anchor="ctr" wrap="square" lIns="34290" rIns="34290" tIns="34290" bIns="34290">
            <a:noAutofit/>
          </a:bodyPr>
          <a:lstStyle/>
          <a:p>
            <a:pPr algn="ctr">
              <a:lnSpc>
                <a:spcPct val="100000"/>
              </a:lnSpc>
              <a:spcBef>
                <a:spcPts val="0"/>
              </a:spcBef>
              <a:spcAft>
                <a:spcPts val="0"/>
              </a:spcAft>
            </a:pPr>
            <a:r>
              <a:rPr sz="1050" b="1" i="0">
                <a:solidFill>
                  <a:srgbClr val="0047AB"/>
                </a:solidFill>
                <a:latin typeface="Poppins"/>
              </a:rPr>
              <a:t>moving</a:t>
            </a:r>
          </a:p>
          <a:p>
            <a:pPr algn="ctr">
              <a:lnSpc>
                <a:spcPct val="100000"/>
              </a:lnSpc>
              <a:spcBef>
                <a:spcPts val="0"/>
              </a:spcBef>
              <a:spcAft>
                <a:spcPts val="0"/>
              </a:spcAft>
            </a:pPr>
            <a:r>
              <a:rPr sz="1050" b="1" i="0">
                <a:solidFill>
                  <a:srgbClr val="0047AB"/>
                </a:solidFill>
                <a:latin typeface="Poppins"/>
              </a:rPr>
              <a:t>patch</a:t>
            </a:r>
          </a:p>
        </p:txBody>
      </p:sp>
      <p:sp>
        <p:nvSpPr>
          <p:cNvPr id="17" name="Right Arrow 16"/>
          <p:cNvSpPr/>
          <p:nvPr/>
        </p:nvSpPr>
        <p:spPr>
          <a:xfrm>
            <a:off x="2674620" y="1879092"/>
            <a:ext cx="308610" cy="219456"/>
          </a:xfrm>
          <a:prstGeom prst="rightArrow">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086100" y="1508760"/>
            <a:ext cx="2640330" cy="960119"/>
          </a:xfrm>
          <a:prstGeom prst="roundRect">
            <a:avLst>
              <a:gd name="adj" fmla="val 6000"/>
            </a:avLst>
          </a:prstGeom>
          <a:solidFill>
            <a:srgbClr val="E3ECF8"/>
          </a:solidFill>
          <a:ln w="14287">
            <a:solidFill>
              <a:srgbClr val="0047AB"/>
            </a:solidFill>
          </a:ln>
          <a:effectLst/>
        </p:spPr>
        <p:style>
          <a:lnRef idx="1">
            <a:schemeClr val="accent1"/>
          </a:lnRef>
          <a:fillRef idx="3">
            <a:schemeClr val="accent1"/>
          </a:fillRef>
          <a:effectRef idx="2">
            <a:schemeClr val="accent1"/>
          </a:effectRef>
          <a:fontRef idx="minor">
            <a:schemeClr val="lt1"/>
          </a:fontRef>
        </p:style>
        <p:txBody>
          <a:bodyPr rtlCol="0" anchor="ctr" wrap="square" lIns="34290" rIns="34290" tIns="34290" bIns="34290">
            <a:noAutofit/>
          </a:bodyPr>
          <a:lstStyle/>
          <a:p>
            <a:pPr algn="ctr">
              <a:lnSpc>
                <a:spcPct val="100000"/>
              </a:lnSpc>
              <a:spcBef>
                <a:spcPts val="0"/>
              </a:spcBef>
              <a:spcAft>
                <a:spcPts val="300"/>
              </a:spcAft>
            </a:pPr>
            <a:r>
              <a:rPr sz="1275" b="1" i="0">
                <a:solidFill>
                  <a:srgbClr val="212121"/>
                </a:solidFill>
                <a:latin typeface="Poppins"/>
              </a:rPr>
              <a:t>elastix · FireANTs · ConvexAdam</a:t>
            </a:r>
          </a:p>
          <a:p>
            <a:pPr algn="ctr">
              <a:lnSpc>
                <a:spcPct val="100000"/>
              </a:lnSpc>
              <a:spcBef>
                <a:spcPts val="0"/>
              </a:spcBef>
              <a:spcAft>
                <a:spcPts val="0"/>
              </a:spcAft>
            </a:pPr>
            <a:r>
              <a:rPr sz="900" b="0" i="0">
                <a:solidFill>
                  <a:srgbClr val="595959"/>
                </a:solidFill>
                <a:latin typeface="Poppins"/>
              </a:rPr>
              <a:t>the backend, chosen by the preset</a:t>
            </a:r>
          </a:p>
        </p:txBody>
      </p:sp>
      <p:sp>
        <p:nvSpPr>
          <p:cNvPr id="19" name="Right Arrow 18"/>
          <p:cNvSpPr/>
          <p:nvPr/>
        </p:nvSpPr>
        <p:spPr>
          <a:xfrm>
            <a:off x="5829300" y="1879092"/>
            <a:ext cx="308610" cy="219456"/>
          </a:xfrm>
          <a:prstGeom prst="rightArrow">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06490" y="1508760"/>
            <a:ext cx="2503170" cy="960119"/>
          </a:xfrm>
          <a:prstGeom prst="roundRect">
            <a:avLst>
              <a:gd name="adj" fmla="val 6000"/>
            </a:avLst>
          </a:prstGeom>
          <a:solidFill>
            <a:srgbClr val="F4F5F7"/>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6309359" y="1645919"/>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6611111" y="1645919"/>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6912864" y="1645919"/>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7214616" y="1645919"/>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a:off x="7516367" y="1645919"/>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6309359" y="1837943"/>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6611111" y="1837943"/>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6912864" y="1837943"/>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7214616" y="1837943"/>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7516367" y="1837943"/>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Arrow 30"/>
          <p:cNvSpPr/>
          <p:nvPr/>
        </p:nvSpPr>
        <p:spPr>
          <a:xfrm>
            <a:off x="6309359" y="2029967"/>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ight Arrow 31"/>
          <p:cNvSpPr/>
          <p:nvPr/>
        </p:nvSpPr>
        <p:spPr>
          <a:xfrm>
            <a:off x="6611111" y="2029967"/>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6912864" y="2029967"/>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ight Arrow 33"/>
          <p:cNvSpPr/>
          <p:nvPr/>
        </p:nvSpPr>
        <p:spPr>
          <a:xfrm>
            <a:off x="7214616" y="2029967"/>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ight Arrow 34"/>
          <p:cNvSpPr/>
          <p:nvPr/>
        </p:nvSpPr>
        <p:spPr>
          <a:xfrm>
            <a:off x="7516367" y="2029967"/>
            <a:ext cx="205739" cy="1097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06490" y="2208276"/>
            <a:ext cx="2503170" cy="233172"/>
          </a:xfrm>
          <a:prstGeom prst="rect">
            <a:avLst/>
          </a:prstGeom>
          <a:noFill/>
        </p:spPr>
        <p:txBody>
          <a:bodyPr wrap="square" lIns="34290" rIns="34290" tIns="34290" bIns="34290" anchor="ctr">
            <a:noAutofit/>
          </a:bodyPr>
          <a:lstStyle/>
          <a:p>
            <a:pPr algn="ctr">
              <a:lnSpc>
                <a:spcPct val="100000"/>
              </a:lnSpc>
              <a:spcBef>
                <a:spcPts val="0"/>
              </a:spcBef>
              <a:spcAft>
                <a:spcPts val="0"/>
              </a:spcAft>
            </a:pPr>
            <a:r>
              <a:rPr sz="900" b="0" i="0">
                <a:solidFill>
                  <a:srgbClr val="595959"/>
                </a:solidFill>
                <a:latin typeface="Poppins"/>
              </a:rPr>
              <a:t>one patch of displacement</a:t>
            </a:r>
          </a:p>
        </p:txBody>
      </p:sp>
      <p:sp>
        <p:nvSpPr>
          <p:cNvPr id="37" name="TextBox 36"/>
          <p:cNvSpPr txBox="1"/>
          <p:nvPr/>
        </p:nvSpPr>
        <p:spPr>
          <a:xfrm>
            <a:off x="411479" y="2640330"/>
            <a:ext cx="8298179" cy="27432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1125" b="1" i="0">
                <a:solidFill>
                  <a:srgbClr val="212121"/>
                </a:solidFill>
                <a:latin typeface="Poppins"/>
              </a:rPr>
              <a:t>same contract, different memory: one 512² tile of the 3 µm section</a:t>
            </a:r>
          </a:p>
        </p:txBody>
      </p:sp>
      <p:cxnSp>
        <p:nvCxnSpPr>
          <p:cNvPr id="38" name="Connector 37"/>
          <p:cNvCxnSpPr/>
          <p:nvPr/>
        </p:nvCxnSpPr>
        <p:spPr>
          <a:xfrm>
            <a:off x="7295856" y="2935224"/>
            <a:ext cx="0" cy="1179576"/>
          </a:xfrm>
          <a:prstGeom prst="line">
            <a:avLst/>
          </a:prstGeom>
          <a:ln w="14287">
            <a:solidFill>
              <a:srgbClr val="212121"/>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747216" y="4114800"/>
            <a:ext cx="1097280" cy="219456"/>
          </a:xfrm>
          <a:prstGeom prst="rect">
            <a:avLst/>
          </a:prstGeom>
          <a:noFill/>
        </p:spPr>
        <p:txBody>
          <a:bodyPr wrap="square" lIns="34290" rIns="34290" tIns="34290" bIns="34290" anchor="t">
            <a:noAutofit/>
          </a:bodyPr>
          <a:lstStyle/>
          <a:p>
            <a:pPr algn="ctr">
              <a:lnSpc>
                <a:spcPct val="100000"/>
              </a:lnSpc>
              <a:spcBef>
                <a:spcPts val="0"/>
              </a:spcBef>
              <a:spcAft>
                <a:spcPts val="0"/>
              </a:spcAft>
            </a:pPr>
            <a:r>
              <a:rPr sz="825" b="0" i="0">
                <a:solidFill>
                  <a:srgbClr val="212121"/>
                </a:solidFill>
                <a:latin typeface="Consolas"/>
              </a:rPr>
              <a:t>one 24 GB card</a:t>
            </a:r>
          </a:p>
        </p:txBody>
      </p:sp>
      <p:sp>
        <p:nvSpPr>
          <p:cNvPr id="40" name="TextBox 39"/>
          <p:cNvSpPr txBox="1"/>
          <p:nvPr/>
        </p:nvSpPr>
        <p:spPr>
          <a:xfrm>
            <a:off x="411479" y="2962656"/>
            <a:ext cx="1371600" cy="342900"/>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1200" b="0" i="0">
                <a:solidFill>
                  <a:srgbClr val="212121"/>
                </a:solidFill>
                <a:latin typeface="Poppins"/>
              </a:rPr>
              <a:t>elastix</a:t>
            </a:r>
          </a:p>
        </p:txBody>
      </p:sp>
      <p:sp>
        <p:nvSpPr>
          <p:cNvPr id="41" name="Rectangle 40"/>
          <p:cNvSpPr/>
          <p:nvPr/>
        </p:nvSpPr>
        <p:spPr>
          <a:xfrm>
            <a:off x="1851660" y="2990088"/>
            <a:ext cx="430998" cy="288036"/>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351238" y="2962656"/>
            <a:ext cx="1508760" cy="342900"/>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1275" b="1" i="0">
                <a:solidFill>
                  <a:srgbClr val="212121"/>
                </a:solidFill>
                <a:latin typeface="Consolas"/>
              </a:rPr>
              <a:t>1.9 GB</a:t>
            </a:r>
          </a:p>
        </p:txBody>
      </p:sp>
      <p:sp>
        <p:nvSpPr>
          <p:cNvPr id="43" name="TextBox 42"/>
          <p:cNvSpPr txBox="1"/>
          <p:nvPr/>
        </p:nvSpPr>
        <p:spPr>
          <a:xfrm>
            <a:off x="411479" y="3346704"/>
            <a:ext cx="1371600" cy="342900"/>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1200" b="0" i="0">
                <a:solidFill>
                  <a:srgbClr val="212121"/>
                </a:solidFill>
                <a:latin typeface="Poppins"/>
              </a:rPr>
              <a:t>ConvexAdam</a:t>
            </a:r>
          </a:p>
        </p:txBody>
      </p:sp>
      <p:sp>
        <p:nvSpPr>
          <p:cNvPr id="44" name="Rectangle 43"/>
          <p:cNvSpPr/>
          <p:nvPr/>
        </p:nvSpPr>
        <p:spPr>
          <a:xfrm>
            <a:off x="1851660" y="3374136"/>
            <a:ext cx="3425307" cy="288036"/>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45547" y="3346704"/>
            <a:ext cx="1508760" cy="342900"/>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1275" b="1" i="0">
                <a:solidFill>
                  <a:srgbClr val="212121"/>
                </a:solidFill>
                <a:latin typeface="Consolas"/>
              </a:rPr>
              <a:t>15.1 GB</a:t>
            </a:r>
          </a:p>
        </p:txBody>
      </p:sp>
      <p:sp>
        <p:nvSpPr>
          <p:cNvPr id="46" name="TextBox 45"/>
          <p:cNvSpPr txBox="1"/>
          <p:nvPr/>
        </p:nvSpPr>
        <p:spPr>
          <a:xfrm>
            <a:off x="411479" y="3730752"/>
            <a:ext cx="1371600" cy="342900"/>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1200" b="0" i="0">
                <a:solidFill>
                  <a:srgbClr val="212121"/>
                </a:solidFill>
                <a:latin typeface="Poppins"/>
              </a:rPr>
              <a:t>FireANTs</a:t>
            </a:r>
          </a:p>
        </p:txBody>
      </p:sp>
      <p:sp>
        <p:nvSpPr>
          <p:cNvPr id="47" name="Rectangle 46"/>
          <p:cNvSpPr/>
          <p:nvPr/>
        </p:nvSpPr>
        <p:spPr>
          <a:xfrm>
            <a:off x="1851660" y="3758184"/>
            <a:ext cx="5897879" cy="288036"/>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851660" y="3758184"/>
            <a:ext cx="5815584" cy="288036"/>
          </a:xfrm>
          <a:prstGeom prst="rect">
            <a:avLst/>
          </a:prstGeom>
          <a:noFill/>
        </p:spPr>
        <p:txBody>
          <a:bodyPr wrap="square" lIns="34290" rIns="34290" tIns="34290" bIns="34290" anchor="ctr">
            <a:noAutofit/>
          </a:bodyPr>
          <a:lstStyle/>
          <a:p>
            <a:pPr algn="r">
              <a:lnSpc>
                <a:spcPct val="100000"/>
              </a:lnSpc>
              <a:spcBef>
                <a:spcPts val="0"/>
              </a:spcBef>
              <a:spcAft>
                <a:spcPts val="0"/>
              </a:spcAft>
            </a:pPr>
            <a:r>
              <a:rPr sz="1125" b="1" i="0">
                <a:solidFill>
                  <a:srgbClr val="FFFFFF"/>
                </a:solidFill>
                <a:latin typeface="Consolas"/>
              </a:rPr>
              <a:t>&gt; 24 GB · out of memory</a:t>
            </a:r>
          </a:p>
        </p:txBody>
      </p:sp>
      <p:sp>
        <p:nvSpPr>
          <p:cNvPr id="49" name="TextBox 48"/>
          <p:cNvSpPr txBox="1"/>
          <p:nvPr/>
        </p:nvSpPr>
        <p:spPr>
          <a:xfrm>
            <a:off x="411479" y="4402836"/>
            <a:ext cx="8298179" cy="315468"/>
          </a:xfrm>
          <a:prstGeom prst="rect">
            <a:avLst/>
          </a:prstGeom>
          <a:noFill/>
        </p:spPr>
        <p:txBody>
          <a:bodyPr wrap="square" lIns="34290" rIns="34290" tIns="34290" bIns="34290" anchor="t">
            <a:noAutofit/>
          </a:bodyPr>
          <a:lstStyle/>
          <a:p>
            <a:pPr algn="ctr">
              <a:lnSpc>
                <a:spcPct val="100000"/>
              </a:lnSpc>
              <a:spcBef>
                <a:spcPts val="0"/>
              </a:spcBef>
              <a:spcAft>
                <a:spcPts val="0"/>
              </a:spcAft>
            </a:pPr>
            <a:r>
              <a:rPr sz="1200" b="0" i="1">
                <a:solidFill>
                  <a:srgbClr val="0047AB"/>
                </a:solidFill>
                <a:latin typeface="Poppins"/>
              </a:rPr>
              <a:t>same patches in, same field out: the backend is a preset name, nothing else changes</a:t>
            </a:r>
          </a:p>
        </p:txBody>
      </p:sp>
      <p:pic>
        <p:nvPicPr>
          <p:cNvPr id="50" name="Picture 49" descr="image4.png"/>
          <p:cNvPicPr>
            <a:picLocks noChangeAspect="1"/>
          </p:cNvPicPr>
          <p:nvPr/>
        </p:nvPicPr>
        <p:blipFill>
          <a:blip r:embed="rId3"/>
          <a:stretch>
            <a:fillRect/>
          </a:stretch>
        </p:blipFill>
        <p:spPr>
          <a:xfrm>
            <a:off x="288036" y="4539996"/>
            <a:ext cx="425196" cy="493776"/>
          </a:xfrm>
          <a:prstGeom prst="rect">
            <a:avLst/>
          </a:prstGeom>
        </p:spPr>
      </p:pic>
      <p:sp>
        <p:nvSpPr>
          <p:cNvPr id="51" name="TextBox 50"/>
          <p:cNvSpPr txBox="1"/>
          <p:nvPr/>
        </p:nvSpPr>
        <p:spPr>
          <a:xfrm>
            <a:off x="788669" y="4821174"/>
            <a:ext cx="4114800" cy="205739"/>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50" b="0" i="0">
                <a:solidFill>
                  <a:srgbClr val="595959"/>
                </a:solidFill>
                <a:latin typeface="Poppins"/>
              </a:rPr>
              <a:t>Fideus Labs · KonfAI · impact-reg-konfai</a:t>
            </a:r>
          </a:p>
        </p:txBody>
      </p:sp>
      <p:sp>
        <p:nvSpPr>
          <p:cNvPr id="52" name="TextBox 51"/>
          <p:cNvSpPr txBox="1"/>
          <p:nvPr/>
        </p:nvSpPr>
        <p:spPr>
          <a:xfrm>
            <a:off x="8023859" y="4821174"/>
            <a:ext cx="685800" cy="205739"/>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50" b="0" i="0">
                <a:solidFill>
                  <a:srgbClr val="595959"/>
                </a:solidFill>
                <a:latin typeface="Poppin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493776" cy="521208"/>
          </a:xfrm>
          <a:prstGeom prst="rect">
            <a:avLst/>
          </a:prstGeom>
        </p:spPr>
      </p:pic>
      <p:pic>
        <p:nvPicPr>
          <p:cNvPr id="3" name="Picture 2" descr="image1.png"/>
          <p:cNvPicPr>
            <a:picLocks noChangeAspect="1"/>
          </p:cNvPicPr>
          <p:nvPr/>
        </p:nvPicPr>
        <p:blipFill>
          <a:blip r:embed="rId2"/>
          <a:stretch>
            <a:fillRect/>
          </a:stretch>
        </p:blipFill>
        <p:spPr>
          <a:xfrm rot="10800000">
            <a:off x="8649995" y="4622292"/>
            <a:ext cx="493776" cy="521208"/>
          </a:xfrm>
          <a:prstGeom prst="rect">
            <a:avLst/>
          </a:prstGeom>
        </p:spPr>
      </p:pic>
      <p:sp>
        <p:nvSpPr>
          <p:cNvPr id="4" name="TextBox 3"/>
          <p:cNvSpPr txBox="1"/>
          <p:nvPr/>
        </p:nvSpPr>
        <p:spPr>
          <a:xfrm>
            <a:off x="5692140" y="274320"/>
            <a:ext cx="2482596" cy="233172"/>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87" b="0" i="0">
                <a:solidFill>
                  <a:srgbClr val="595959"/>
                </a:solidFill>
                <a:latin typeface="Poppins"/>
              </a:rPr>
              <a:t>1 · how it works</a:t>
            </a:r>
          </a:p>
        </p:txBody>
      </p:sp>
      <p:sp>
        <p:nvSpPr>
          <p:cNvPr id="5" name="Rectangle 4"/>
          <p:cNvSpPr/>
          <p:nvPr/>
        </p:nvSpPr>
        <p:spPr>
          <a:xfrm>
            <a:off x="8243316"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7908"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72500"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79"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1 · cut into patches</a:t>
            </a:r>
          </a:p>
        </p:txBody>
      </p:sp>
      <p:sp>
        <p:nvSpPr>
          <p:cNvPr id="9" name="Rounded Rectangle 8"/>
          <p:cNvSpPr/>
          <p:nvPr/>
        </p:nvSpPr>
        <p:spPr>
          <a:xfrm>
            <a:off x="209169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2 · the backend</a:t>
            </a:r>
          </a:p>
        </p:txBody>
      </p:sp>
      <p:sp>
        <p:nvSpPr>
          <p:cNvPr id="10" name="Rounded Rectangle 9"/>
          <p:cNvSpPr/>
          <p:nvPr/>
        </p:nvSpPr>
        <p:spPr>
          <a:xfrm>
            <a:off x="3771900" y="1083564"/>
            <a:ext cx="1577339" cy="274320"/>
          </a:xfrm>
          <a:prstGeom prst="roundRect">
            <a:avLst>
              <a:gd name="adj" fmla="val 6000"/>
            </a:avLst>
          </a:prstGeom>
          <a:solidFill>
            <a:srgbClr val="E3ECF8"/>
          </a:solidFill>
          <a:ln w="14287">
            <a:solidFill>
              <a:srgbClr val="0047A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1" i="0">
                <a:solidFill>
                  <a:srgbClr val="0047AB"/>
                </a:solidFill>
                <a:latin typeface="Poppins"/>
              </a:rPr>
              <a:t>3 · blend</a:t>
            </a:r>
          </a:p>
        </p:txBody>
      </p:sp>
      <p:sp>
        <p:nvSpPr>
          <p:cNvPr id="11" name="Rounded Rectangle 10"/>
          <p:cNvSpPr/>
          <p:nvPr/>
        </p:nvSpPr>
        <p:spPr>
          <a:xfrm>
            <a:off x="545211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4 · write the field</a:t>
            </a:r>
          </a:p>
        </p:txBody>
      </p:sp>
      <p:sp>
        <p:nvSpPr>
          <p:cNvPr id="12" name="Rounded Rectangle 11"/>
          <p:cNvSpPr/>
          <p:nvPr/>
        </p:nvSpPr>
        <p:spPr>
          <a:xfrm>
            <a:off x="713232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 the loss</a:t>
            </a:r>
          </a:p>
        </p:txBody>
      </p:sp>
      <p:sp>
        <p:nvSpPr>
          <p:cNvPr id="13" name="TextBox 12"/>
          <p:cNvSpPr txBox="1"/>
          <p:nvPr/>
        </p:nvSpPr>
        <p:spPr>
          <a:xfrm>
            <a:off x="411479" y="288036"/>
            <a:ext cx="8298179" cy="233172"/>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1" i="0">
                <a:solidFill>
                  <a:srgbClr val="0047AB"/>
                </a:solidFill>
                <a:latin typeface="Poppins"/>
              </a:rPr>
              <a:t>STEP 3</a:t>
            </a:r>
            <a:r>
              <a:rPr sz="825" b="0" i="0">
                <a:solidFill>
                  <a:srgbClr val="595959"/>
                </a:solidFill>
                <a:latin typeface="Poppins"/>
              </a:rPr>
              <a:t>    blend the overlaps</a:t>
            </a:r>
          </a:p>
        </p:txBody>
      </p:sp>
      <p:sp>
        <p:nvSpPr>
          <p:cNvPr id="14" name="TextBox 13"/>
          <p:cNvSpPr txBox="1"/>
          <p:nvPr/>
        </p:nvSpPr>
        <p:spPr>
          <a:xfrm>
            <a:off x="411479" y="507491"/>
            <a:ext cx="8298179" cy="54864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2400" b="1" i="0">
                <a:solidFill>
                  <a:srgbClr val="0047AB"/>
                </a:solidFill>
                <a:latin typeface="Alegreya"/>
              </a:rPr>
              <a:t>A partition of unity: no seam between tiles</a:t>
            </a:r>
          </a:p>
        </p:txBody>
      </p:sp>
      <p:sp>
        <p:nvSpPr>
          <p:cNvPr id="15" name="Rounded Rectangle 14"/>
          <p:cNvSpPr/>
          <p:nvPr/>
        </p:nvSpPr>
        <p:spPr>
          <a:xfrm>
            <a:off x="411479" y="1474469"/>
            <a:ext cx="3771900" cy="288036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lend_large.png"/>
          <p:cNvPicPr>
            <a:picLocks noChangeAspect="1"/>
          </p:cNvPicPr>
          <p:nvPr/>
        </p:nvPicPr>
        <p:blipFill>
          <a:blip r:embed="rId3"/>
          <a:stretch>
            <a:fillRect/>
          </a:stretch>
        </p:blipFill>
        <p:spPr>
          <a:xfrm>
            <a:off x="411479" y="1474469"/>
            <a:ext cx="3550211" cy="2880360"/>
          </a:xfrm>
          <a:prstGeom prst="rect">
            <a:avLst/>
          </a:prstGeom>
        </p:spPr>
      </p:pic>
      <p:sp>
        <p:nvSpPr>
          <p:cNvPr id="17" name="TextBox 16"/>
          <p:cNvSpPr txBox="1"/>
          <p:nvPr/>
        </p:nvSpPr>
        <p:spPr>
          <a:xfrm>
            <a:off x="4457700" y="1474469"/>
            <a:ext cx="4251960" cy="106299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1050" b="0" i="0">
                <a:solidFill>
                  <a:srgbClr val="212121"/>
                </a:solidFill>
                <a:latin typeface="Poppins"/>
              </a:rPr>
              <a:t>A patch is right in its centre and worst at its edges: that is what the halo is for. Its weight fades to zero before its edge while the neighbour's rises, and at every voxel the weights sum to one.</a:t>
            </a:r>
          </a:p>
        </p:txBody>
      </p:sp>
      <p:sp>
        <p:nvSpPr>
          <p:cNvPr id="18" name="Rounded Rectangle 17"/>
          <p:cNvSpPr/>
          <p:nvPr/>
        </p:nvSpPr>
        <p:spPr>
          <a:xfrm>
            <a:off x="4457700" y="2640330"/>
            <a:ext cx="4251960" cy="120015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02869" rIns="102869" tIns="102869" bIns="102869">
            <a:noAutofit/>
          </a:bodyPr>
          <a:lstStyle/>
          <a:p>
            <a:pPr algn="l">
              <a:lnSpc>
                <a:spcPct val="100000"/>
              </a:lnSpc>
              <a:spcBef>
                <a:spcPts val="0"/>
              </a:spcBef>
              <a:spcAft>
                <a:spcPts val="300"/>
              </a:spcAft>
            </a:pPr>
            <a:r>
              <a:rPr sz="750" b="0" i="0">
                <a:solidFill>
                  <a:srgbClr val="595959"/>
                </a:solidFill>
                <a:latin typeface="Consolas"/>
              </a:rPr>
              <a:t>DOES THE TILING LEAVE A SEAM?</a:t>
            </a:r>
          </a:p>
          <a:p>
            <a:pPr algn="l">
              <a:lnSpc>
                <a:spcPct val="100000"/>
              </a:lnSpc>
              <a:spcBef>
                <a:spcPts val="0"/>
              </a:spcBef>
              <a:spcAft>
                <a:spcPts val="300"/>
              </a:spcAft>
            </a:pPr>
            <a:r>
              <a:rPr sz="900" b="0" i="0">
                <a:solidFill>
                  <a:srgbClr val="595959"/>
                </a:solidFill>
                <a:latin typeface="Poppins"/>
              </a:rPr>
              <a:t>A known deformation of the light-sheet section, 512² tiles:</a:t>
            </a:r>
          </a:p>
          <a:p>
            <a:pPr algn="l">
              <a:lnSpc>
                <a:spcPct val="100000"/>
              </a:lnSpc>
              <a:spcBef>
                <a:spcPts val="0"/>
              </a:spcBef>
              <a:spcAft>
                <a:spcPts val="150"/>
              </a:spcAft>
            </a:pPr>
            <a:r>
              <a:rPr sz="1500" b="1" i="0">
                <a:solidFill>
                  <a:srgbClr val="212121"/>
                </a:solidFill>
                <a:latin typeface="Consolas"/>
              </a:rPr>
              <a:t>20.8 → 5.6 µm</a:t>
            </a:r>
            <a:r>
              <a:rPr sz="900" b="0" i="0">
                <a:solidFill>
                  <a:srgbClr val="595959"/>
                </a:solidFill>
                <a:latin typeface="Poppins"/>
              </a:rPr>
              <a:t>  residual over the tissue</a:t>
            </a:r>
          </a:p>
          <a:p>
            <a:pPr algn="l">
              <a:lnSpc>
                <a:spcPct val="100000"/>
              </a:lnSpc>
              <a:spcBef>
                <a:spcPts val="0"/>
              </a:spcBef>
              <a:spcAft>
                <a:spcPts val="0"/>
              </a:spcAft>
            </a:pPr>
            <a:r>
              <a:rPr sz="1500" b="1" i="0">
                <a:solidFill>
                  <a:srgbClr val="212121"/>
                </a:solidFill>
                <a:latin typeface="Consolas"/>
              </a:rPr>
              <a:t>1.08× / 1.13×</a:t>
            </a:r>
            <a:r>
              <a:rPr sz="900" b="0" i="0">
                <a:solidFill>
                  <a:srgbClr val="595959"/>
                </a:solidFill>
                <a:latin typeface="Poppins"/>
              </a:rPr>
              <a:t>  the field's step at tile planes, against its step anywhere else</a:t>
            </a:r>
          </a:p>
        </p:txBody>
      </p:sp>
      <p:sp>
        <p:nvSpPr>
          <p:cNvPr id="19" name="TextBox 18"/>
          <p:cNvSpPr txBox="1"/>
          <p:nvPr/>
        </p:nvSpPr>
        <p:spPr>
          <a:xfrm>
            <a:off x="4457700" y="3909060"/>
            <a:ext cx="4251960" cy="377190"/>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900" b="0" i="0">
                <a:solidFill>
                  <a:srgbClr val="595959"/>
                </a:solidFill>
                <a:latin typeface="Consolas"/>
              </a:rPr>
              <a:t>patch_combine: </a:t>
            </a:r>
            <a:r>
              <a:rPr sz="900" b="1" i="0">
                <a:solidFill>
                  <a:srgbClr val="212121"/>
                </a:solidFill>
                <a:latin typeface="Consolas"/>
              </a:rPr>
              <a:t>Cosinus</a:t>
            </a:r>
            <a:r>
              <a:rPr sz="900" b="0" i="0">
                <a:solidFill>
                  <a:srgbClr val="595959"/>
                </a:solidFill>
                <a:latin typeface="Consolas"/>
              </a:rPr>
              <a:t> · Mean · Gaussian · Trim</a:t>
            </a:r>
          </a:p>
        </p:txBody>
      </p:sp>
      <p:sp>
        <p:nvSpPr>
          <p:cNvPr id="20" name="TextBox 19"/>
          <p:cNvSpPr txBox="1"/>
          <p:nvPr/>
        </p:nvSpPr>
        <p:spPr>
          <a:xfrm>
            <a:off x="411479" y="4423410"/>
            <a:ext cx="8298179" cy="315468"/>
          </a:xfrm>
          <a:prstGeom prst="rect">
            <a:avLst/>
          </a:prstGeom>
          <a:noFill/>
        </p:spPr>
        <p:txBody>
          <a:bodyPr wrap="square" lIns="34290" rIns="34290" tIns="34290" bIns="34290" anchor="t">
            <a:noAutofit/>
          </a:bodyPr>
          <a:lstStyle/>
          <a:p>
            <a:pPr algn="ctr">
              <a:lnSpc>
                <a:spcPct val="100000"/>
              </a:lnSpc>
              <a:spcBef>
                <a:spcPts val="0"/>
              </a:spcBef>
              <a:spcAft>
                <a:spcPts val="0"/>
              </a:spcAft>
            </a:pPr>
            <a:r>
              <a:rPr sz="1200" b="0" i="1">
                <a:solidFill>
                  <a:srgbClr val="0047AB"/>
                </a:solidFill>
                <a:latin typeface="Poppins"/>
              </a:rPr>
              <a:t>every voxel's weights sum to one: the tiles leave no seam</a:t>
            </a:r>
          </a:p>
        </p:txBody>
      </p:sp>
      <p:pic>
        <p:nvPicPr>
          <p:cNvPr id="21" name="Picture 20" descr="image4.png"/>
          <p:cNvPicPr>
            <a:picLocks noChangeAspect="1"/>
          </p:cNvPicPr>
          <p:nvPr/>
        </p:nvPicPr>
        <p:blipFill>
          <a:blip r:embed="rId4"/>
          <a:stretch>
            <a:fillRect/>
          </a:stretch>
        </p:blipFill>
        <p:spPr>
          <a:xfrm>
            <a:off x="288036" y="4539996"/>
            <a:ext cx="425196" cy="493776"/>
          </a:xfrm>
          <a:prstGeom prst="rect">
            <a:avLst/>
          </a:prstGeom>
        </p:spPr>
      </p:pic>
      <p:sp>
        <p:nvSpPr>
          <p:cNvPr id="22" name="TextBox 21"/>
          <p:cNvSpPr txBox="1"/>
          <p:nvPr/>
        </p:nvSpPr>
        <p:spPr>
          <a:xfrm>
            <a:off x="788669" y="4821174"/>
            <a:ext cx="4114800" cy="205739"/>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50" b="0" i="0">
                <a:solidFill>
                  <a:srgbClr val="595959"/>
                </a:solidFill>
                <a:latin typeface="Poppins"/>
              </a:rPr>
              <a:t>Fideus Labs · KonfAI · impact-reg-konfai</a:t>
            </a:r>
          </a:p>
        </p:txBody>
      </p:sp>
      <p:sp>
        <p:nvSpPr>
          <p:cNvPr id="23" name="TextBox 22"/>
          <p:cNvSpPr txBox="1"/>
          <p:nvPr/>
        </p:nvSpPr>
        <p:spPr>
          <a:xfrm>
            <a:off x="8023859" y="4821174"/>
            <a:ext cx="685800" cy="205739"/>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50" b="0" i="0">
                <a:solidFill>
                  <a:srgbClr val="595959"/>
                </a:solidFill>
                <a:latin typeface="Poppin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493776" cy="521208"/>
          </a:xfrm>
          <a:prstGeom prst="rect">
            <a:avLst/>
          </a:prstGeom>
        </p:spPr>
      </p:pic>
      <p:pic>
        <p:nvPicPr>
          <p:cNvPr id="3" name="Picture 2" descr="image1.png"/>
          <p:cNvPicPr>
            <a:picLocks noChangeAspect="1"/>
          </p:cNvPicPr>
          <p:nvPr/>
        </p:nvPicPr>
        <p:blipFill>
          <a:blip r:embed="rId2"/>
          <a:stretch>
            <a:fillRect/>
          </a:stretch>
        </p:blipFill>
        <p:spPr>
          <a:xfrm rot="10800000">
            <a:off x="8649995" y="4622292"/>
            <a:ext cx="493776" cy="521208"/>
          </a:xfrm>
          <a:prstGeom prst="rect">
            <a:avLst/>
          </a:prstGeom>
        </p:spPr>
      </p:pic>
      <p:sp>
        <p:nvSpPr>
          <p:cNvPr id="4" name="TextBox 3"/>
          <p:cNvSpPr txBox="1"/>
          <p:nvPr/>
        </p:nvSpPr>
        <p:spPr>
          <a:xfrm>
            <a:off x="5692140" y="274320"/>
            <a:ext cx="2482596" cy="233172"/>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87" b="0" i="0">
                <a:solidFill>
                  <a:srgbClr val="595959"/>
                </a:solidFill>
                <a:latin typeface="Poppins"/>
              </a:rPr>
              <a:t>1 · how it works</a:t>
            </a:r>
          </a:p>
        </p:txBody>
      </p:sp>
      <p:sp>
        <p:nvSpPr>
          <p:cNvPr id="5" name="Rectangle 4"/>
          <p:cNvSpPr/>
          <p:nvPr/>
        </p:nvSpPr>
        <p:spPr>
          <a:xfrm>
            <a:off x="8243316"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7908"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72500"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79"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1 · cut into patches</a:t>
            </a:r>
          </a:p>
        </p:txBody>
      </p:sp>
      <p:sp>
        <p:nvSpPr>
          <p:cNvPr id="9" name="Rounded Rectangle 8"/>
          <p:cNvSpPr/>
          <p:nvPr/>
        </p:nvSpPr>
        <p:spPr>
          <a:xfrm>
            <a:off x="209169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2 · the backend</a:t>
            </a:r>
          </a:p>
        </p:txBody>
      </p:sp>
      <p:sp>
        <p:nvSpPr>
          <p:cNvPr id="10" name="Rounded Rectangle 9"/>
          <p:cNvSpPr/>
          <p:nvPr/>
        </p:nvSpPr>
        <p:spPr>
          <a:xfrm>
            <a:off x="377190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3 · blend</a:t>
            </a:r>
          </a:p>
        </p:txBody>
      </p:sp>
      <p:sp>
        <p:nvSpPr>
          <p:cNvPr id="11" name="Rounded Rectangle 10"/>
          <p:cNvSpPr/>
          <p:nvPr/>
        </p:nvSpPr>
        <p:spPr>
          <a:xfrm>
            <a:off x="5452110" y="1083564"/>
            <a:ext cx="1577339" cy="274320"/>
          </a:xfrm>
          <a:prstGeom prst="roundRect">
            <a:avLst>
              <a:gd name="adj" fmla="val 6000"/>
            </a:avLst>
          </a:prstGeom>
          <a:solidFill>
            <a:srgbClr val="E3ECF8"/>
          </a:solidFill>
          <a:ln w="14287">
            <a:solidFill>
              <a:srgbClr val="0047A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1" i="0">
                <a:solidFill>
                  <a:srgbClr val="0047AB"/>
                </a:solidFill>
                <a:latin typeface="Poppins"/>
              </a:rPr>
              <a:t>4 · write the field</a:t>
            </a:r>
          </a:p>
        </p:txBody>
      </p:sp>
      <p:sp>
        <p:nvSpPr>
          <p:cNvPr id="12" name="Rounded Rectangle 11"/>
          <p:cNvSpPr/>
          <p:nvPr/>
        </p:nvSpPr>
        <p:spPr>
          <a:xfrm>
            <a:off x="713232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 the loss</a:t>
            </a:r>
          </a:p>
        </p:txBody>
      </p:sp>
      <p:sp>
        <p:nvSpPr>
          <p:cNvPr id="13" name="TextBox 12"/>
          <p:cNvSpPr txBox="1"/>
          <p:nvPr/>
        </p:nvSpPr>
        <p:spPr>
          <a:xfrm>
            <a:off x="411479" y="288036"/>
            <a:ext cx="8298179" cy="233172"/>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1" i="0">
                <a:solidFill>
                  <a:srgbClr val="0047AB"/>
                </a:solidFill>
                <a:latin typeface="Poppins"/>
              </a:rPr>
              <a:t>STEP 4</a:t>
            </a:r>
            <a:r>
              <a:rPr sz="825" b="0" i="0">
                <a:solidFill>
                  <a:srgbClr val="595959"/>
                </a:solidFill>
                <a:latin typeface="Poppins"/>
              </a:rPr>
              <a:t>    write the field</a:t>
            </a:r>
          </a:p>
        </p:txBody>
      </p:sp>
      <p:sp>
        <p:nvSpPr>
          <p:cNvPr id="14" name="TextBox 13"/>
          <p:cNvSpPr txBox="1"/>
          <p:nvPr/>
        </p:nvSpPr>
        <p:spPr>
          <a:xfrm>
            <a:off x="411479" y="507491"/>
            <a:ext cx="8298179" cy="54864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2400" b="1" i="0">
                <a:solidFill>
                  <a:srgbClr val="0047AB"/>
                </a:solidFill>
                <a:latin typeface="Alegreya"/>
              </a:rPr>
              <a:t>Many formats in, the field out as OME-Zarr RFC-5</a:t>
            </a:r>
          </a:p>
        </p:txBody>
      </p:sp>
      <p:sp>
        <p:nvSpPr>
          <p:cNvPr id="15" name="TextBox 14"/>
          <p:cNvSpPr txBox="1"/>
          <p:nvPr/>
        </p:nvSpPr>
        <p:spPr>
          <a:xfrm>
            <a:off x="411479" y="1426464"/>
            <a:ext cx="2811779" cy="233172"/>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900" b="0" i="0">
                <a:solidFill>
                  <a:srgbClr val="595959"/>
                </a:solidFill>
                <a:latin typeface="Consolas"/>
              </a:rPr>
              <a:t>IN</a:t>
            </a:r>
          </a:p>
        </p:txBody>
      </p:sp>
      <p:sp>
        <p:nvSpPr>
          <p:cNvPr id="16" name="TextBox 15"/>
          <p:cNvSpPr txBox="1"/>
          <p:nvPr/>
        </p:nvSpPr>
        <p:spPr>
          <a:xfrm>
            <a:off x="5897879" y="1426464"/>
            <a:ext cx="2811779" cy="233172"/>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900" b="0" i="0">
                <a:solidFill>
                  <a:srgbClr val="595959"/>
                </a:solidFill>
                <a:latin typeface="Consolas"/>
              </a:rPr>
              <a:t>OUT</a:t>
            </a:r>
          </a:p>
        </p:txBody>
      </p:sp>
      <p:sp>
        <p:nvSpPr>
          <p:cNvPr id="17" name="Rounded Rectangle 16"/>
          <p:cNvSpPr/>
          <p:nvPr/>
        </p:nvSpPr>
        <p:spPr>
          <a:xfrm>
            <a:off x="411479" y="1659636"/>
            <a:ext cx="2811779" cy="589788"/>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96012" tIns="96012" bIns="96012">
            <a:noAutofit/>
          </a:bodyPr>
          <a:lstStyle/>
          <a:p>
            <a:pPr algn="l">
              <a:lnSpc>
                <a:spcPct val="100000"/>
              </a:lnSpc>
              <a:spcBef>
                <a:spcPts val="0"/>
              </a:spcBef>
              <a:spcAft>
                <a:spcPts val="75"/>
              </a:spcAft>
            </a:pPr>
            <a:r>
              <a:rPr sz="1275" b="1" i="0">
                <a:solidFill>
                  <a:srgbClr val="212121"/>
                </a:solidFill>
                <a:latin typeface="Poppins"/>
              </a:rPr>
              <a:t>ITK images</a:t>
            </a:r>
          </a:p>
          <a:p>
            <a:pPr algn="l">
              <a:lnSpc>
                <a:spcPct val="100000"/>
              </a:lnSpc>
              <a:spcBef>
                <a:spcPts val="0"/>
              </a:spcBef>
              <a:spcAft>
                <a:spcPts val="0"/>
              </a:spcAft>
            </a:pPr>
            <a:r>
              <a:rPr sz="900" b="0" i="0">
                <a:solidFill>
                  <a:srgbClr val="595959"/>
                </a:solidFill>
                <a:latin typeface="Poppins"/>
              </a:rPr>
              <a:t>.mha · .nii.gz · .nrrd</a:t>
            </a:r>
          </a:p>
        </p:txBody>
      </p:sp>
      <p:sp>
        <p:nvSpPr>
          <p:cNvPr id="18" name="Rounded Rectangle 17"/>
          <p:cNvSpPr/>
          <p:nvPr/>
        </p:nvSpPr>
        <p:spPr>
          <a:xfrm>
            <a:off x="411479" y="2290572"/>
            <a:ext cx="2811779" cy="589788"/>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96012" tIns="96012" bIns="96012">
            <a:noAutofit/>
          </a:bodyPr>
          <a:lstStyle/>
          <a:p>
            <a:pPr algn="l">
              <a:lnSpc>
                <a:spcPct val="100000"/>
              </a:lnSpc>
              <a:spcBef>
                <a:spcPts val="0"/>
              </a:spcBef>
              <a:spcAft>
                <a:spcPts val="75"/>
              </a:spcAft>
            </a:pPr>
            <a:r>
              <a:rPr sz="1275" b="1" i="0">
                <a:solidFill>
                  <a:srgbClr val="212121"/>
                </a:solidFill>
                <a:latin typeface="Poppins"/>
              </a:rPr>
              <a:t>DICOM</a:t>
            </a:r>
          </a:p>
          <a:p>
            <a:pPr algn="l">
              <a:lnSpc>
                <a:spcPct val="100000"/>
              </a:lnSpc>
              <a:spcBef>
                <a:spcPts val="0"/>
              </a:spcBef>
              <a:spcAft>
                <a:spcPts val="0"/>
              </a:spcAft>
            </a:pPr>
            <a:r>
              <a:rPr sz="900" b="0" i="0">
                <a:solidFill>
                  <a:srgbClr val="595959"/>
                </a:solidFill>
                <a:latin typeface="Poppins"/>
              </a:rPr>
              <a:t>series</a:t>
            </a:r>
          </a:p>
        </p:txBody>
      </p:sp>
      <p:sp>
        <p:nvSpPr>
          <p:cNvPr id="19" name="Rounded Rectangle 18"/>
          <p:cNvSpPr/>
          <p:nvPr/>
        </p:nvSpPr>
        <p:spPr>
          <a:xfrm>
            <a:off x="411479" y="2921508"/>
            <a:ext cx="2811779" cy="589788"/>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96012" tIns="96012" bIns="96012">
            <a:noAutofit/>
          </a:bodyPr>
          <a:lstStyle/>
          <a:p>
            <a:pPr algn="l">
              <a:lnSpc>
                <a:spcPct val="100000"/>
              </a:lnSpc>
              <a:spcBef>
                <a:spcPts val="0"/>
              </a:spcBef>
              <a:spcAft>
                <a:spcPts val="75"/>
              </a:spcAft>
            </a:pPr>
            <a:r>
              <a:rPr sz="1275" b="1" i="0">
                <a:solidFill>
                  <a:srgbClr val="212121"/>
                </a:solidFill>
                <a:latin typeface="Poppins"/>
              </a:rPr>
              <a:t>HDF5</a:t>
            </a:r>
          </a:p>
          <a:p>
            <a:pPr algn="l">
              <a:lnSpc>
                <a:spcPct val="100000"/>
              </a:lnSpc>
              <a:spcBef>
                <a:spcPts val="0"/>
              </a:spcBef>
              <a:spcAft>
                <a:spcPts val="0"/>
              </a:spcAft>
            </a:pPr>
            <a:r>
              <a:rPr sz="900" b="0" i="0">
                <a:solidFill>
                  <a:srgbClr val="595959"/>
                </a:solidFill>
                <a:latin typeface="Poppins"/>
              </a:rPr>
              <a:t>.h5</a:t>
            </a:r>
          </a:p>
        </p:txBody>
      </p:sp>
      <p:sp>
        <p:nvSpPr>
          <p:cNvPr id="20" name="Rounded Rectangle 19"/>
          <p:cNvSpPr/>
          <p:nvPr/>
        </p:nvSpPr>
        <p:spPr>
          <a:xfrm>
            <a:off x="411479" y="3552444"/>
            <a:ext cx="2811779" cy="589788"/>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96012" tIns="96012" bIns="96012">
            <a:noAutofit/>
          </a:bodyPr>
          <a:lstStyle/>
          <a:p>
            <a:pPr algn="l">
              <a:lnSpc>
                <a:spcPct val="100000"/>
              </a:lnSpc>
              <a:spcBef>
                <a:spcPts val="0"/>
              </a:spcBef>
              <a:spcAft>
                <a:spcPts val="75"/>
              </a:spcAft>
            </a:pPr>
            <a:r>
              <a:rPr sz="1275" b="1" i="0">
                <a:solidFill>
                  <a:srgbClr val="212121"/>
                </a:solidFill>
                <a:latin typeface="Poppins"/>
              </a:rPr>
              <a:t>OME-Zarr</a:t>
            </a:r>
          </a:p>
          <a:p>
            <a:pPr algn="l">
              <a:lnSpc>
                <a:spcPct val="100000"/>
              </a:lnSpc>
              <a:spcBef>
                <a:spcPts val="0"/>
              </a:spcBef>
              <a:spcAft>
                <a:spcPts val="0"/>
              </a:spcAft>
            </a:pPr>
            <a:r>
              <a:rPr sz="900" b="0" i="0">
                <a:solidFill>
                  <a:srgbClr val="595959"/>
                </a:solidFill>
                <a:latin typeface="Poppins"/>
              </a:rPr>
              <a:t>local, or read straight from s3://</a:t>
            </a:r>
          </a:p>
        </p:txBody>
      </p:sp>
      <p:sp>
        <p:nvSpPr>
          <p:cNvPr id="21" name="Rounded Rectangle 20"/>
          <p:cNvSpPr/>
          <p:nvPr/>
        </p:nvSpPr>
        <p:spPr>
          <a:xfrm>
            <a:off x="5897879" y="1659636"/>
            <a:ext cx="2811779" cy="589788"/>
          </a:xfrm>
          <a:prstGeom prst="roundRect">
            <a:avLst>
              <a:gd name="adj" fmla="val 6000"/>
            </a:avLst>
          </a:prstGeom>
          <a:solidFill>
            <a:srgbClr val="EDEDED"/>
          </a:solidFill>
          <a:ln w="7143">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96012" tIns="96012" bIns="96012">
            <a:noAutofit/>
          </a:bodyPr>
          <a:lstStyle/>
          <a:p>
            <a:pPr algn="l">
              <a:lnSpc>
                <a:spcPct val="100000"/>
              </a:lnSpc>
              <a:spcBef>
                <a:spcPts val="0"/>
              </a:spcBef>
              <a:spcAft>
                <a:spcPts val="75"/>
              </a:spcAft>
            </a:pPr>
            <a:r>
              <a:rPr sz="1275" b="1" i="0">
                <a:solidFill>
                  <a:srgbClr val="212121"/>
                </a:solidFill>
                <a:latin typeface="Poppins"/>
              </a:rPr>
              <a:t>displacement field</a:t>
            </a:r>
          </a:p>
          <a:p>
            <a:pPr algn="l">
              <a:lnSpc>
                <a:spcPct val="100000"/>
              </a:lnSpc>
              <a:spcBef>
                <a:spcPts val="0"/>
              </a:spcBef>
              <a:spcAft>
                <a:spcPts val="0"/>
              </a:spcAft>
            </a:pPr>
            <a:r>
              <a:rPr sz="900" b="0" i="0">
                <a:solidFill>
                  <a:srgbClr val="595959"/>
                </a:solidFill>
                <a:latin typeface="Poppins"/>
              </a:rPr>
              <a:t>OME-Zarr store · NGFF RFC-5 displacements</a:t>
            </a:r>
          </a:p>
        </p:txBody>
      </p:sp>
      <p:sp>
        <p:nvSpPr>
          <p:cNvPr id="22" name="Rounded Rectangle 21"/>
          <p:cNvSpPr/>
          <p:nvPr/>
        </p:nvSpPr>
        <p:spPr>
          <a:xfrm>
            <a:off x="5897879" y="2290572"/>
            <a:ext cx="2811779" cy="589788"/>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96012" tIns="96012" bIns="96012">
            <a:noAutofit/>
          </a:bodyPr>
          <a:lstStyle/>
          <a:p>
            <a:pPr algn="l">
              <a:lnSpc>
                <a:spcPct val="100000"/>
              </a:lnSpc>
              <a:spcBef>
                <a:spcPts val="0"/>
              </a:spcBef>
              <a:spcAft>
                <a:spcPts val="75"/>
              </a:spcAft>
            </a:pPr>
            <a:r>
              <a:rPr sz="1275" b="1" i="0">
                <a:solidFill>
                  <a:srgbClr val="212121"/>
                </a:solidFill>
                <a:latin typeface="Poppins"/>
              </a:rPr>
              <a:t>transform file</a:t>
            </a:r>
          </a:p>
          <a:p>
            <a:pPr algn="l">
              <a:lnSpc>
                <a:spcPct val="100000"/>
              </a:lnSpc>
              <a:spcBef>
                <a:spcPts val="0"/>
              </a:spcBef>
              <a:spcAft>
                <a:spcPts val="0"/>
              </a:spcAft>
            </a:pPr>
            <a:r>
              <a:rPr sz="900" b="0" i="0">
                <a:solidFill>
                  <a:srgbClr val="595959"/>
                </a:solidFill>
                <a:latin typeface="Poppins"/>
              </a:rPr>
              <a:t>ITK .h5 / .itk.txt · opens in 3D Slicer</a:t>
            </a:r>
          </a:p>
        </p:txBody>
      </p:sp>
      <p:sp>
        <p:nvSpPr>
          <p:cNvPr id="23" name="Rounded Rectangle 22"/>
          <p:cNvSpPr/>
          <p:nvPr/>
        </p:nvSpPr>
        <p:spPr>
          <a:xfrm>
            <a:off x="5897879" y="2921508"/>
            <a:ext cx="2811779" cy="589788"/>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96012" tIns="96012" bIns="96012">
            <a:noAutofit/>
          </a:bodyPr>
          <a:lstStyle/>
          <a:p>
            <a:pPr algn="l">
              <a:lnSpc>
                <a:spcPct val="100000"/>
              </a:lnSpc>
              <a:spcBef>
                <a:spcPts val="0"/>
              </a:spcBef>
              <a:spcAft>
                <a:spcPts val="75"/>
              </a:spcAft>
            </a:pPr>
            <a:r>
              <a:rPr sz="1275" b="1" i="0">
                <a:solidFill>
                  <a:srgbClr val="212121"/>
                </a:solidFill>
                <a:latin typeface="Poppins"/>
              </a:rPr>
              <a:t>moved image</a:t>
            </a:r>
          </a:p>
          <a:p>
            <a:pPr algn="l">
              <a:lnSpc>
                <a:spcPct val="100000"/>
              </a:lnSpc>
              <a:spcBef>
                <a:spcPts val="0"/>
              </a:spcBef>
              <a:spcAft>
                <a:spcPts val="0"/>
              </a:spcAft>
            </a:pPr>
            <a:r>
              <a:rPr sz="900" b="0" i="0">
                <a:solidFill>
                  <a:srgbClr val="595959"/>
                </a:solidFill>
                <a:latin typeface="Poppins"/>
              </a:rPr>
              <a:t>in the moving image's own format</a:t>
            </a:r>
          </a:p>
        </p:txBody>
      </p:sp>
      <p:sp>
        <p:nvSpPr>
          <p:cNvPr id="24" name="Right Arrow 23"/>
          <p:cNvSpPr/>
          <p:nvPr/>
        </p:nvSpPr>
        <p:spPr>
          <a:xfrm>
            <a:off x="3326129" y="2777489"/>
            <a:ext cx="288036" cy="246888"/>
          </a:xfrm>
          <a:prstGeom prst="rightArrow">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717035" y="1659636"/>
            <a:ext cx="1714500" cy="2482596"/>
          </a:xfrm>
          <a:prstGeom prst="roundRect">
            <a:avLst>
              <a:gd name="adj" fmla="val 6000"/>
            </a:avLst>
          </a:prstGeom>
          <a:solidFill>
            <a:srgbClr val="E3ECF8"/>
          </a:solidFill>
          <a:ln w="14287">
            <a:solidFill>
              <a:srgbClr val="0047AB"/>
            </a:solidFill>
          </a:ln>
          <a:effectLst/>
        </p:spPr>
        <p:style>
          <a:lnRef idx="1">
            <a:schemeClr val="accent1"/>
          </a:lnRef>
          <a:fillRef idx="3">
            <a:schemeClr val="accent1"/>
          </a:fillRef>
          <a:effectRef idx="2">
            <a:schemeClr val="accent1"/>
          </a:effectRef>
          <a:fontRef idx="minor">
            <a:schemeClr val="lt1"/>
          </a:fontRef>
        </p:style>
        <p:txBody>
          <a:bodyPr rtlCol="0" anchor="ctr" wrap="square" lIns="102869" rIns="102869" tIns="102869" bIns="102869">
            <a:noAutofit/>
          </a:bodyPr>
          <a:lstStyle/>
          <a:p>
            <a:pPr algn="ctr">
              <a:lnSpc>
                <a:spcPct val="100000"/>
              </a:lnSpc>
              <a:spcBef>
                <a:spcPts val="0"/>
              </a:spcBef>
              <a:spcAft>
                <a:spcPts val="600"/>
              </a:spcAft>
            </a:pPr>
            <a:r>
              <a:rPr sz="1950" b="1" i="0">
                <a:solidFill>
                  <a:srgbClr val="212121"/>
                </a:solidFill>
                <a:latin typeface="Poppins"/>
              </a:rPr>
              <a:t>KonfAI</a:t>
            </a:r>
          </a:p>
          <a:p>
            <a:pPr algn="ctr">
              <a:lnSpc>
                <a:spcPct val="100000"/>
              </a:lnSpc>
              <a:spcBef>
                <a:spcPts val="0"/>
              </a:spcBef>
              <a:spcAft>
                <a:spcPts val="0"/>
              </a:spcAft>
            </a:pPr>
            <a:r>
              <a:rPr sz="1050" b="0" i="0">
                <a:solidFill>
                  <a:srgbClr val="595959"/>
                </a:solidFill>
                <a:latin typeface="Poppins"/>
              </a:rPr>
              <a:t>reads one region</a:t>
            </a:r>
          </a:p>
          <a:p>
            <a:pPr algn="ctr">
              <a:lnSpc>
                <a:spcPct val="100000"/>
              </a:lnSpc>
              <a:spcBef>
                <a:spcPts val="0"/>
              </a:spcBef>
              <a:spcAft>
                <a:spcPts val="0"/>
              </a:spcAft>
            </a:pPr>
            <a:r>
              <a:rPr sz="1050" b="0" i="0">
                <a:solidFill>
                  <a:srgbClr val="595959"/>
                </a:solidFill>
                <a:latin typeface="Poppins"/>
              </a:rPr>
              <a:t>at a time, and writes</a:t>
            </a:r>
          </a:p>
          <a:p>
            <a:pPr algn="ctr">
              <a:lnSpc>
                <a:spcPct val="100000"/>
              </a:lnSpc>
              <a:spcBef>
                <a:spcPts val="0"/>
              </a:spcBef>
              <a:spcAft>
                <a:spcPts val="0"/>
              </a:spcAft>
            </a:pPr>
            <a:r>
              <a:rPr sz="1050" b="0" i="0">
                <a:solidFill>
                  <a:srgbClr val="595959"/>
                </a:solidFill>
                <a:latin typeface="Poppins"/>
              </a:rPr>
              <a:t>slab by slab as the</a:t>
            </a:r>
          </a:p>
          <a:p>
            <a:pPr algn="ctr">
              <a:lnSpc>
                <a:spcPct val="100000"/>
              </a:lnSpc>
              <a:spcBef>
                <a:spcPts val="0"/>
              </a:spcBef>
              <a:spcAft>
                <a:spcPts val="0"/>
              </a:spcAft>
            </a:pPr>
            <a:r>
              <a:rPr sz="1050" b="0" i="0">
                <a:solidFill>
                  <a:srgbClr val="595959"/>
                </a:solidFill>
                <a:latin typeface="Poppins"/>
              </a:rPr>
              <a:t>tiles complete</a:t>
            </a:r>
          </a:p>
        </p:txBody>
      </p:sp>
      <p:sp>
        <p:nvSpPr>
          <p:cNvPr id="26" name="Right Arrow 25"/>
          <p:cNvSpPr/>
          <p:nvPr/>
        </p:nvSpPr>
        <p:spPr>
          <a:xfrm>
            <a:off x="5534406" y="2777489"/>
            <a:ext cx="288036" cy="246888"/>
          </a:xfrm>
          <a:prstGeom prst="rightArrow">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79" y="4320540"/>
            <a:ext cx="8298179" cy="315468"/>
          </a:xfrm>
          <a:prstGeom prst="rect">
            <a:avLst/>
          </a:prstGeom>
          <a:noFill/>
        </p:spPr>
        <p:txBody>
          <a:bodyPr wrap="square" lIns="34290" rIns="34290" tIns="34290" bIns="34290" anchor="t">
            <a:noAutofit/>
          </a:bodyPr>
          <a:lstStyle/>
          <a:p>
            <a:pPr algn="ctr">
              <a:lnSpc>
                <a:spcPct val="100000"/>
              </a:lnSpc>
              <a:spcBef>
                <a:spcPts val="0"/>
              </a:spcBef>
              <a:spcAft>
                <a:spcPts val="0"/>
              </a:spcAft>
            </a:pPr>
            <a:r>
              <a:rPr sz="1200" b="0" i="1">
                <a:solidFill>
                  <a:srgbClr val="0047AB"/>
                </a:solidFill>
                <a:latin typeface="Poppins"/>
              </a:rPr>
              <a:t>the same command whatever the format; a remote store is read where it lives</a:t>
            </a:r>
          </a:p>
        </p:txBody>
      </p:sp>
      <p:pic>
        <p:nvPicPr>
          <p:cNvPr id="28" name="Picture 27" descr="image4.png"/>
          <p:cNvPicPr>
            <a:picLocks noChangeAspect="1"/>
          </p:cNvPicPr>
          <p:nvPr/>
        </p:nvPicPr>
        <p:blipFill>
          <a:blip r:embed="rId3"/>
          <a:stretch>
            <a:fillRect/>
          </a:stretch>
        </p:blipFill>
        <p:spPr>
          <a:xfrm>
            <a:off x="288036" y="4539996"/>
            <a:ext cx="425196" cy="493776"/>
          </a:xfrm>
          <a:prstGeom prst="rect">
            <a:avLst/>
          </a:prstGeom>
        </p:spPr>
      </p:pic>
      <p:sp>
        <p:nvSpPr>
          <p:cNvPr id="29" name="TextBox 28"/>
          <p:cNvSpPr txBox="1"/>
          <p:nvPr/>
        </p:nvSpPr>
        <p:spPr>
          <a:xfrm>
            <a:off x="788669" y="4821174"/>
            <a:ext cx="4114800" cy="205739"/>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50" b="0" i="0">
                <a:solidFill>
                  <a:srgbClr val="595959"/>
                </a:solidFill>
                <a:latin typeface="Poppins"/>
              </a:rPr>
              <a:t>Fideus Labs · KonfAI · impact-reg-konfai</a:t>
            </a:r>
          </a:p>
        </p:txBody>
      </p:sp>
      <p:sp>
        <p:nvSpPr>
          <p:cNvPr id="30" name="TextBox 29"/>
          <p:cNvSpPr txBox="1"/>
          <p:nvPr/>
        </p:nvSpPr>
        <p:spPr>
          <a:xfrm>
            <a:off x="8023859" y="4821174"/>
            <a:ext cx="685800" cy="205739"/>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50" b="0" i="0">
                <a:solidFill>
                  <a:srgbClr val="595959"/>
                </a:solidFill>
                <a:latin typeface="Poppin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493776" cy="521208"/>
          </a:xfrm>
          <a:prstGeom prst="rect">
            <a:avLst/>
          </a:prstGeom>
        </p:spPr>
      </p:pic>
      <p:pic>
        <p:nvPicPr>
          <p:cNvPr id="3" name="Picture 2" descr="image1.png"/>
          <p:cNvPicPr>
            <a:picLocks noChangeAspect="1"/>
          </p:cNvPicPr>
          <p:nvPr/>
        </p:nvPicPr>
        <p:blipFill>
          <a:blip r:embed="rId2"/>
          <a:stretch>
            <a:fillRect/>
          </a:stretch>
        </p:blipFill>
        <p:spPr>
          <a:xfrm rot="10800000">
            <a:off x="8649995" y="4622292"/>
            <a:ext cx="493776" cy="521208"/>
          </a:xfrm>
          <a:prstGeom prst="rect">
            <a:avLst/>
          </a:prstGeom>
        </p:spPr>
      </p:pic>
      <p:sp>
        <p:nvSpPr>
          <p:cNvPr id="4" name="TextBox 3"/>
          <p:cNvSpPr txBox="1"/>
          <p:nvPr/>
        </p:nvSpPr>
        <p:spPr>
          <a:xfrm>
            <a:off x="5692140" y="274320"/>
            <a:ext cx="2482596" cy="233172"/>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87" b="0" i="0">
                <a:solidFill>
                  <a:srgbClr val="595959"/>
                </a:solidFill>
                <a:latin typeface="Poppins"/>
              </a:rPr>
              <a:t>1 · how it works</a:t>
            </a:r>
          </a:p>
        </p:txBody>
      </p:sp>
      <p:sp>
        <p:nvSpPr>
          <p:cNvPr id="5" name="Rectangle 4"/>
          <p:cNvSpPr/>
          <p:nvPr/>
        </p:nvSpPr>
        <p:spPr>
          <a:xfrm>
            <a:off x="8243316"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7908"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72500"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79"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1 · cut into patches</a:t>
            </a:r>
          </a:p>
        </p:txBody>
      </p:sp>
      <p:sp>
        <p:nvSpPr>
          <p:cNvPr id="9" name="Rounded Rectangle 8"/>
          <p:cNvSpPr/>
          <p:nvPr/>
        </p:nvSpPr>
        <p:spPr>
          <a:xfrm>
            <a:off x="209169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2 · the backend</a:t>
            </a:r>
          </a:p>
        </p:txBody>
      </p:sp>
      <p:sp>
        <p:nvSpPr>
          <p:cNvPr id="10" name="Rounded Rectangle 9"/>
          <p:cNvSpPr/>
          <p:nvPr/>
        </p:nvSpPr>
        <p:spPr>
          <a:xfrm>
            <a:off x="377190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3 · blend</a:t>
            </a:r>
          </a:p>
        </p:txBody>
      </p:sp>
      <p:sp>
        <p:nvSpPr>
          <p:cNvPr id="11" name="Rounded Rectangle 10"/>
          <p:cNvSpPr/>
          <p:nvPr/>
        </p:nvSpPr>
        <p:spPr>
          <a:xfrm>
            <a:off x="5452110" y="1083564"/>
            <a:ext cx="1577339" cy="274320"/>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0" i="0">
                <a:solidFill>
                  <a:srgbClr val="595959"/>
                </a:solidFill>
                <a:latin typeface="Poppins"/>
              </a:rPr>
              <a:t>4 · write the field</a:t>
            </a:r>
          </a:p>
        </p:txBody>
      </p:sp>
      <p:sp>
        <p:nvSpPr>
          <p:cNvPr id="12" name="Rounded Rectangle 11"/>
          <p:cNvSpPr/>
          <p:nvPr/>
        </p:nvSpPr>
        <p:spPr>
          <a:xfrm>
            <a:off x="7132320" y="1083564"/>
            <a:ext cx="1577339" cy="274320"/>
          </a:xfrm>
          <a:prstGeom prst="roundRect">
            <a:avLst>
              <a:gd name="adj" fmla="val 6000"/>
            </a:avLst>
          </a:prstGeom>
          <a:solidFill>
            <a:srgbClr val="E3ECF8"/>
          </a:solidFill>
          <a:ln w="14287">
            <a:solidFill>
              <a:srgbClr val="0047A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lnSpc>
                <a:spcPct val="100000"/>
              </a:lnSpc>
              <a:spcBef>
                <a:spcPts val="0"/>
              </a:spcBef>
              <a:spcAft>
                <a:spcPts val="0"/>
              </a:spcAft>
            </a:pPr>
            <a:r>
              <a:rPr sz="825" b="1" i="0">
                <a:solidFill>
                  <a:srgbClr val="0047AB"/>
                </a:solidFill>
                <a:latin typeface="Poppins"/>
              </a:rPr>
              <a:t>+ the loss</a:t>
            </a:r>
          </a:p>
        </p:txBody>
      </p:sp>
      <p:sp>
        <p:nvSpPr>
          <p:cNvPr id="13" name="TextBox 12"/>
          <p:cNvSpPr txBox="1"/>
          <p:nvPr/>
        </p:nvSpPr>
        <p:spPr>
          <a:xfrm>
            <a:off x="411479" y="288036"/>
            <a:ext cx="8298179" cy="233172"/>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1" i="0">
                <a:solidFill>
                  <a:srgbClr val="0047AB"/>
                </a:solidFill>
                <a:latin typeface="Poppins"/>
              </a:rPr>
              <a:t>THE LOSS</a:t>
            </a:r>
            <a:r>
              <a:rPr sz="825" b="0" i="0">
                <a:solidFill>
                  <a:srgbClr val="595959"/>
                </a:solidFill>
                <a:latin typeface="Poppins"/>
              </a:rPr>
              <a:t>    for every backend, choose what is compared</a:t>
            </a:r>
          </a:p>
        </p:txBody>
      </p:sp>
      <p:sp>
        <p:nvSpPr>
          <p:cNvPr id="14" name="TextBox 13"/>
          <p:cNvSpPr txBox="1"/>
          <p:nvPr/>
        </p:nvSpPr>
        <p:spPr>
          <a:xfrm>
            <a:off x="411479" y="507491"/>
            <a:ext cx="8298179" cy="54864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2400" b="1" i="0">
                <a:solidFill>
                  <a:srgbClr val="0047AB"/>
                </a:solidFill>
                <a:latin typeface="Alegreya"/>
              </a:rPr>
              <a:t>IMPACT: register on a segmentation model's feature maps</a:t>
            </a:r>
          </a:p>
        </p:txBody>
      </p:sp>
      <p:sp>
        <p:nvSpPr>
          <p:cNvPr id="15" name="TextBox 14"/>
          <p:cNvSpPr txBox="1"/>
          <p:nvPr/>
        </p:nvSpPr>
        <p:spPr>
          <a:xfrm>
            <a:off x="411479" y="1591055"/>
            <a:ext cx="4629150" cy="0"/>
          </a:xfrm>
          <a:prstGeom prst="rect">
            <a:avLst/>
          </a:prstGeom>
          <a:noFill/>
        </p:spPr>
        <p:txBody>
          <a:bodyPr wrap="none">
            <a:spAutoFit/>
          </a:bodyPr>
          <a:lstStyle/>
          <a:p/>
        </p:txBody>
      </p:sp>
      <p:pic>
        <p:nvPicPr>
          <p:cNvPr id="16" name="Picture 15" descr="apex_featuremaps_itk.png"/>
          <p:cNvPicPr>
            <a:picLocks noChangeAspect="1"/>
          </p:cNvPicPr>
          <p:nvPr/>
        </p:nvPicPr>
        <p:blipFill>
          <a:blip r:embed="rId3"/>
          <a:stretch>
            <a:fillRect/>
          </a:stretch>
        </p:blipFill>
        <p:spPr>
          <a:xfrm>
            <a:off x="411479" y="1591055"/>
            <a:ext cx="4453529" cy="2880360"/>
          </a:xfrm>
          <a:prstGeom prst="rect">
            <a:avLst/>
          </a:prstGeom>
        </p:spPr>
      </p:pic>
      <p:sp>
        <p:nvSpPr>
          <p:cNvPr id="17" name="TextBox 16"/>
          <p:cNvSpPr txBox="1"/>
          <p:nvPr/>
        </p:nvSpPr>
        <p:spPr>
          <a:xfrm>
            <a:off x="411479" y="4498848"/>
            <a:ext cx="4453529" cy="315468"/>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50" b="0" i="0">
                <a:solidFill>
                  <a:srgbClr val="595959"/>
                </a:solidFill>
                <a:latin typeface="Poppins"/>
              </a:rPr>
              <a:t>subject_v · itk-impact ImageToFeaturesMap · one colour basis for both rows: same colour, same features</a:t>
            </a:r>
          </a:p>
        </p:txBody>
      </p:sp>
      <p:sp>
        <p:nvSpPr>
          <p:cNvPr id="18" name="Rounded Rectangle 17"/>
          <p:cNvSpPr/>
          <p:nvPr/>
        </p:nvSpPr>
        <p:spPr>
          <a:xfrm>
            <a:off x="5177790" y="1591055"/>
            <a:ext cx="3531870" cy="617220"/>
          </a:xfrm>
          <a:prstGeom prst="roundRect">
            <a:avLst>
              <a:gd name="adj" fmla="val 6000"/>
            </a:avLst>
          </a:prstGeom>
          <a:solidFill>
            <a:srgbClr val="E3ECF8"/>
          </a:solidFill>
          <a:ln w="14287">
            <a:solidFill>
              <a:srgbClr val="0047AB"/>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82296" bIns="82296">
            <a:noAutofit/>
          </a:bodyPr>
          <a:lstStyle/>
          <a:p>
            <a:pPr algn="l">
              <a:lnSpc>
                <a:spcPct val="100000"/>
              </a:lnSpc>
              <a:spcBef>
                <a:spcPts val="0"/>
              </a:spcBef>
              <a:spcAft>
                <a:spcPts val="0"/>
              </a:spcAft>
            </a:pPr>
            <a:r>
              <a:rPr sz="712" b="1" i="0">
                <a:solidFill>
                  <a:srgbClr val="595959"/>
                </a:solidFill>
                <a:latin typeface="Poppins"/>
              </a:rPr>
              <a:t>THE PROBLEM  </a:t>
            </a:r>
            <a:r>
              <a:rPr sz="900" b="0" i="0">
                <a:solidFill>
                  <a:srgbClr val="212121"/>
                </a:solidFill>
                <a:latin typeface="Poppins"/>
              </a:rPr>
              <a:t>two modalities share no intensity.  </a:t>
            </a:r>
            <a:r>
              <a:rPr sz="712" b="1" i="0">
                <a:solidFill>
                  <a:srgbClr val="595959"/>
                </a:solidFill>
                <a:latin typeface="Poppins"/>
              </a:rPr>
              <a:t>THE IDEA  </a:t>
            </a:r>
            <a:r>
              <a:rPr sz="900" b="0" i="0">
                <a:solidFill>
                  <a:srgbClr val="212121"/>
                </a:solidFill>
                <a:latin typeface="Poppins"/>
              </a:rPr>
              <a:t>the features a segmentation network computes, they do share.</a:t>
            </a:r>
          </a:p>
        </p:txBody>
      </p:sp>
      <p:cxnSp>
        <p:nvCxnSpPr>
          <p:cNvPr id="19" name="Connector 18"/>
          <p:cNvCxnSpPr/>
          <p:nvPr/>
        </p:nvCxnSpPr>
        <p:spPr>
          <a:xfrm>
            <a:off x="5177790" y="2297429"/>
            <a:ext cx="0" cy="356617"/>
          </a:xfrm>
          <a:prstGeom prst="line">
            <a:avLst/>
          </a:prstGeom>
          <a:ln w="28575">
            <a:solidFill>
              <a:srgbClr val="0047A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260086" y="2263139"/>
            <a:ext cx="3449574" cy="425196"/>
          </a:xfrm>
          <a:prstGeom prst="rect">
            <a:avLst/>
          </a:prstGeom>
          <a:noFill/>
        </p:spPr>
        <p:txBody>
          <a:bodyPr wrap="square" lIns="34290" rIns="34290" tIns="34290" bIns="34290" anchor="t">
            <a:noAutofit/>
          </a:bodyPr>
          <a:lstStyle/>
          <a:p>
            <a:pPr algn="l">
              <a:lnSpc>
                <a:spcPct val="100000"/>
              </a:lnSpc>
              <a:spcBef>
                <a:spcPts val="0"/>
              </a:spcBef>
              <a:spcAft>
                <a:spcPts val="75"/>
              </a:spcAft>
            </a:pPr>
            <a:r>
              <a:rPr sz="1050" b="1" i="0">
                <a:solidFill>
                  <a:srgbClr val="212121"/>
                </a:solidFill>
                <a:latin typeface="Poppins"/>
              </a:rPr>
              <a:t>MIND</a:t>
            </a:r>
          </a:p>
          <a:p>
            <a:pPr algn="l">
              <a:lnSpc>
                <a:spcPct val="100000"/>
              </a:lnSpc>
              <a:spcBef>
                <a:spcPts val="0"/>
              </a:spcBef>
              <a:spcAft>
                <a:spcPts val="0"/>
              </a:spcAft>
            </a:pPr>
            <a:r>
              <a:rPr sz="825" b="0" i="0">
                <a:solidFill>
                  <a:srgbClr val="595959"/>
                </a:solidFill>
                <a:latin typeface="Poppins"/>
              </a:rPr>
              <a:t>handcrafted descriptor, no training</a:t>
            </a:r>
          </a:p>
        </p:txBody>
      </p:sp>
      <p:cxnSp>
        <p:nvCxnSpPr>
          <p:cNvPr id="21" name="Connector 20"/>
          <p:cNvCxnSpPr/>
          <p:nvPr/>
        </p:nvCxnSpPr>
        <p:spPr>
          <a:xfrm>
            <a:off x="5177790" y="2750058"/>
            <a:ext cx="0" cy="356616"/>
          </a:xfrm>
          <a:prstGeom prst="line">
            <a:avLst/>
          </a:prstGeom>
          <a:ln w="28575">
            <a:solidFill>
              <a:srgbClr val="0047A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260086" y="2715768"/>
            <a:ext cx="3449574" cy="425196"/>
          </a:xfrm>
          <a:prstGeom prst="rect">
            <a:avLst/>
          </a:prstGeom>
          <a:noFill/>
        </p:spPr>
        <p:txBody>
          <a:bodyPr wrap="square" lIns="34290" rIns="34290" tIns="34290" bIns="34290" anchor="t">
            <a:noAutofit/>
          </a:bodyPr>
          <a:lstStyle/>
          <a:p>
            <a:pPr algn="l">
              <a:lnSpc>
                <a:spcPct val="100000"/>
              </a:lnSpc>
              <a:spcBef>
                <a:spcPts val="0"/>
              </a:spcBef>
              <a:spcAft>
                <a:spcPts val="75"/>
              </a:spcAft>
            </a:pPr>
            <a:r>
              <a:rPr sz="1050" b="1" i="0">
                <a:solidFill>
                  <a:srgbClr val="212121"/>
                </a:solidFill>
                <a:latin typeface="Poppins"/>
              </a:rPr>
              <a:t>TotalSegmentator</a:t>
            </a:r>
          </a:p>
          <a:p>
            <a:pPr algn="l">
              <a:lnSpc>
                <a:spcPct val="100000"/>
              </a:lnSpc>
              <a:spcBef>
                <a:spcPts val="0"/>
              </a:spcBef>
              <a:spcAft>
                <a:spcPts val="0"/>
              </a:spcAft>
            </a:pPr>
            <a:r>
              <a:rPr sz="825" b="0" i="0">
                <a:solidFill>
                  <a:srgbClr val="595959"/>
                </a:solidFill>
                <a:latin typeface="Poppins"/>
              </a:rPr>
              <a:t>3D segmentation network · the default · radiotherapy</a:t>
            </a:r>
          </a:p>
        </p:txBody>
      </p:sp>
      <p:cxnSp>
        <p:nvCxnSpPr>
          <p:cNvPr id="23" name="Connector 22"/>
          <p:cNvCxnSpPr/>
          <p:nvPr/>
        </p:nvCxnSpPr>
        <p:spPr>
          <a:xfrm>
            <a:off x="5177790" y="3202686"/>
            <a:ext cx="0" cy="356616"/>
          </a:xfrm>
          <a:prstGeom prst="line">
            <a:avLst/>
          </a:prstGeom>
          <a:ln w="28575">
            <a:solidFill>
              <a:srgbClr val="0047A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260086" y="3168396"/>
            <a:ext cx="3449574" cy="425196"/>
          </a:xfrm>
          <a:prstGeom prst="rect">
            <a:avLst/>
          </a:prstGeom>
          <a:noFill/>
        </p:spPr>
        <p:txBody>
          <a:bodyPr wrap="square" lIns="34290" rIns="34290" tIns="34290" bIns="34290" anchor="t">
            <a:noAutofit/>
          </a:bodyPr>
          <a:lstStyle/>
          <a:p>
            <a:pPr algn="l">
              <a:lnSpc>
                <a:spcPct val="100000"/>
              </a:lnSpc>
              <a:spcBef>
                <a:spcPts val="0"/>
              </a:spcBef>
              <a:spcAft>
                <a:spcPts val="75"/>
              </a:spcAft>
            </a:pPr>
            <a:r>
              <a:rPr sz="1050" b="1" i="0">
                <a:solidFill>
                  <a:srgbClr val="212121"/>
                </a:solidFill>
                <a:latin typeface="Poppins"/>
              </a:rPr>
              <a:t>SAM 2.1</a:t>
            </a:r>
          </a:p>
          <a:p>
            <a:pPr algn="l">
              <a:lnSpc>
                <a:spcPct val="100000"/>
              </a:lnSpc>
              <a:spcBef>
                <a:spcPts val="0"/>
              </a:spcBef>
              <a:spcAft>
                <a:spcPts val="0"/>
              </a:spcAft>
            </a:pPr>
            <a:r>
              <a:rPr sz="825" b="0" i="0">
                <a:solidFill>
                  <a:srgbClr val="595959"/>
                </a:solidFill>
                <a:latin typeface="Poppins"/>
              </a:rPr>
              <a:t>2D foundation model</a:t>
            </a:r>
          </a:p>
        </p:txBody>
      </p:sp>
      <p:cxnSp>
        <p:nvCxnSpPr>
          <p:cNvPr id="25" name="Connector 24"/>
          <p:cNvCxnSpPr/>
          <p:nvPr/>
        </p:nvCxnSpPr>
        <p:spPr>
          <a:xfrm>
            <a:off x="5177790" y="3655313"/>
            <a:ext cx="0" cy="356616"/>
          </a:xfrm>
          <a:prstGeom prst="line">
            <a:avLst/>
          </a:prstGeom>
          <a:ln w="28575">
            <a:solidFill>
              <a:srgbClr val="0047A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60086" y="3621023"/>
            <a:ext cx="3449574" cy="425196"/>
          </a:xfrm>
          <a:prstGeom prst="rect">
            <a:avLst/>
          </a:prstGeom>
          <a:noFill/>
        </p:spPr>
        <p:txBody>
          <a:bodyPr wrap="square" lIns="34290" rIns="34290" tIns="34290" bIns="34290" anchor="t">
            <a:noAutofit/>
          </a:bodyPr>
          <a:lstStyle/>
          <a:p>
            <a:pPr algn="l">
              <a:lnSpc>
                <a:spcPct val="100000"/>
              </a:lnSpc>
              <a:spcBef>
                <a:spcPts val="0"/>
              </a:spcBef>
              <a:spcAft>
                <a:spcPts val="75"/>
              </a:spcAft>
            </a:pPr>
            <a:r>
              <a:rPr sz="1050" b="1" i="0">
                <a:solidFill>
                  <a:srgbClr val="212121"/>
                </a:solidFill>
                <a:latin typeface="Poppins"/>
              </a:rPr>
              <a:t>Anatomix</a:t>
            </a:r>
          </a:p>
          <a:p>
            <a:pPr algn="l">
              <a:lnSpc>
                <a:spcPct val="100000"/>
              </a:lnSpc>
              <a:spcBef>
                <a:spcPts val="0"/>
              </a:spcBef>
              <a:spcAft>
                <a:spcPts val="0"/>
              </a:spcAft>
            </a:pPr>
            <a:r>
              <a:rPr sz="825" b="0" i="0">
                <a:solidFill>
                  <a:srgbClr val="595959"/>
                </a:solidFill>
                <a:latin typeface="Poppins"/>
              </a:rPr>
              <a:t>3D anatomy foundation features</a:t>
            </a:r>
          </a:p>
        </p:txBody>
      </p:sp>
      <p:sp>
        <p:nvSpPr>
          <p:cNvPr id="27" name="Rounded Rectangle 26"/>
          <p:cNvSpPr/>
          <p:nvPr/>
        </p:nvSpPr>
        <p:spPr>
          <a:xfrm>
            <a:off x="5177790" y="4101084"/>
            <a:ext cx="3531870" cy="370332"/>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41148" bIns="41148">
            <a:noAutofit/>
          </a:bodyPr>
          <a:lstStyle/>
          <a:p>
            <a:pPr algn="l">
              <a:lnSpc>
                <a:spcPct val="100000"/>
              </a:lnSpc>
              <a:spcBef>
                <a:spcPts val="0"/>
              </a:spcBef>
              <a:spcAft>
                <a:spcPts val="0"/>
              </a:spcAft>
            </a:pPr>
            <a:r>
              <a:rPr sz="862" b="1" i="0">
                <a:solidFill>
                  <a:srgbClr val="212121"/>
                </a:solidFill>
                <a:latin typeface="Consolas"/>
              </a:rPr>
              <a:t>Static</a:t>
            </a:r>
            <a:r>
              <a:rPr sz="862" b="0" i="0">
                <a:solidFill>
                  <a:srgbClr val="595959"/>
                </a:solidFill>
                <a:latin typeface="Poppins"/>
              </a:rPr>
              <a:t>  maps computed once   ·   </a:t>
            </a:r>
            <a:r>
              <a:rPr sz="862" b="1" i="0">
                <a:solidFill>
                  <a:srgbClr val="212121"/>
                </a:solidFill>
                <a:latin typeface="Consolas"/>
              </a:rPr>
              <a:t>Jacobian</a:t>
            </a:r>
            <a:r>
              <a:rPr sz="862" b="0" i="0">
                <a:solidFill>
                  <a:srgbClr val="595959"/>
                </a:solidFill>
                <a:latin typeface="Poppins"/>
              </a:rPr>
              <a:t>  gradients through the network</a:t>
            </a:r>
          </a:p>
        </p:txBody>
      </p:sp>
      <p:sp>
        <p:nvSpPr>
          <p:cNvPr id="28" name="TextBox 27"/>
          <p:cNvSpPr txBox="1"/>
          <p:nvPr/>
        </p:nvSpPr>
        <p:spPr>
          <a:xfrm>
            <a:off x="5177790" y="4498848"/>
            <a:ext cx="3531870" cy="315468"/>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87" b="0" i="0">
                <a:solidFill>
                  <a:srgbClr val="595959"/>
                </a:solidFill>
                <a:latin typeface="Poppins"/>
              </a:rPr>
              <a:t>Learn2Reg: 3rd CT lung (2021) · 2nd abdomen MR→CT (2023) · top-6 thorax CBCT (2023)</a:t>
            </a:r>
          </a:p>
        </p:txBody>
      </p:sp>
      <p:pic>
        <p:nvPicPr>
          <p:cNvPr id="29" name="Picture 28" descr="image4.png"/>
          <p:cNvPicPr>
            <a:picLocks noChangeAspect="1"/>
          </p:cNvPicPr>
          <p:nvPr/>
        </p:nvPicPr>
        <p:blipFill>
          <a:blip r:embed="rId4"/>
          <a:stretch>
            <a:fillRect/>
          </a:stretch>
        </p:blipFill>
        <p:spPr>
          <a:xfrm>
            <a:off x="288036" y="4539996"/>
            <a:ext cx="425196" cy="493776"/>
          </a:xfrm>
          <a:prstGeom prst="rect">
            <a:avLst/>
          </a:prstGeom>
        </p:spPr>
      </p:pic>
      <p:sp>
        <p:nvSpPr>
          <p:cNvPr id="30" name="TextBox 29"/>
          <p:cNvSpPr txBox="1"/>
          <p:nvPr/>
        </p:nvSpPr>
        <p:spPr>
          <a:xfrm>
            <a:off x="788669" y="4821174"/>
            <a:ext cx="4114800" cy="205739"/>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50" b="0" i="0">
                <a:solidFill>
                  <a:srgbClr val="595959"/>
                </a:solidFill>
                <a:latin typeface="Poppins"/>
              </a:rPr>
              <a:t>Fideus Labs · KonfAI · impact-reg-konfai</a:t>
            </a:r>
          </a:p>
        </p:txBody>
      </p:sp>
      <p:sp>
        <p:nvSpPr>
          <p:cNvPr id="31" name="TextBox 30"/>
          <p:cNvSpPr txBox="1"/>
          <p:nvPr/>
        </p:nvSpPr>
        <p:spPr>
          <a:xfrm>
            <a:off x="8023859" y="4821174"/>
            <a:ext cx="685800" cy="205739"/>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50" b="0" i="0">
                <a:solidFill>
                  <a:srgbClr val="595959"/>
                </a:solidFill>
                <a:latin typeface="Poppin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857250" cy="905256"/>
          </a:xfrm>
          <a:prstGeom prst="rect">
            <a:avLst/>
          </a:prstGeom>
        </p:spPr>
      </p:pic>
      <p:pic>
        <p:nvPicPr>
          <p:cNvPr id="3" name="Picture 2" descr="image1.png"/>
          <p:cNvPicPr>
            <a:picLocks noChangeAspect="1"/>
          </p:cNvPicPr>
          <p:nvPr/>
        </p:nvPicPr>
        <p:blipFill>
          <a:blip r:embed="rId2"/>
          <a:stretch>
            <a:fillRect/>
          </a:stretch>
        </p:blipFill>
        <p:spPr>
          <a:xfrm rot="10800000">
            <a:off x="8286521" y="4238244"/>
            <a:ext cx="857250" cy="905256"/>
          </a:xfrm>
          <a:prstGeom prst="rect">
            <a:avLst/>
          </a:prstGeom>
        </p:spPr>
      </p:pic>
      <p:sp>
        <p:nvSpPr>
          <p:cNvPr id="4" name="TextBox 3"/>
          <p:cNvSpPr txBox="1"/>
          <p:nvPr/>
        </p:nvSpPr>
        <p:spPr>
          <a:xfrm>
            <a:off x="822959" y="1371600"/>
            <a:ext cx="7543800" cy="27432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1050" b="1" i="0">
                <a:solidFill>
                  <a:srgbClr val="0047AB"/>
                </a:solidFill>
                <a:latin typeface="Poppins"/>
              </a:rPr>
              <a:t>PART 2</a:t>
            </a:r>
          </a:p>
        </p:txBody>
      </p:sp>
      <p:sp>
        <p:nvSpPr>
          <p:cNvPr id="5" name="TextBox 4"/>
          <p:cNvSpPr txBox="1"/>
          <p:nvPr/>
        </p:nvSpPr>
        <p:spPr>
          <a:xfrm>
            <a:off x="822959" y="1680210"/>
            <a:ext cx="7543800" cy="822959"/>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3300" b="1" i="0">
                <a:solidFill>
                  <a:srgbClr val="0047AB"/>
                </a:solidFill>
                <a:latin typeface="Alegreya"/>
              </a:rPr>
              <a:t>Applied to the hackathon data</a:t>
            </a:r>
          </a:p>
        </p:txBody>
      </p:sp>
      <p:sp>
        <p:nvSpPr>
          <p:cNvPr id="6" name="TextBox 5"/>
          <p:cNvSpPr txBox="1"/>
          <p:nvPr/>
        </p:nvSpPr>
        <p:spPr>
          <a:xfrm>
            <a:off x="822959" y="2640330"/>
            <a:ext cx="7543800" cy="1303019"/>
          </a:xfrm>
          <a:prstGeom prst="rect">
            <a:avLst/>
          </a:prstGeom>
          <a:noFill/>
        </p:spPr>
        <p:txBody>
          <a:bodyPr wrap="square" lIns="34290" rIns="34290" tIns="34290" bIns="34290" anchor="t">
            <a:noAutofit/>
          </a:bodyPr>
          <a:lstStyle/>
          <a:p>
            <a:pPr algn="l">
              <a:lnSpc>
                <a:spcPct val="100000"/>
              </a:lnSpc>
              <a:spcBef>
                <a:spcPts val="0"/>
              </a:spcBef>
              <a:spcAft>
                <a:spcPts val="600"/>
              </a:spcAft>
            </a:pPr>
            <a:r>
              <a:rPr sz="1350" b="0" i="0">
                <a:solidFill>
                  <a:srgbClr val="212121"/>
                </a:solidFill>
                <a:latin typeface="Poppins"/>
              </a:rPr>
              <a:t>the BRAIN CONNECTS / LINC hemisphere · 908 GiB of synchrotron X-ray</a:t>
            </a:r>
          </a:p>
          <a:p>
            <a:pPr algn="l">
              <a:lnSpc>
                <a:spcPct val="100000"/>
              </a:lnSpc>
              <a:spcBef>
                <a:spcPts val="0"/>
              </a:spcBef>
              <a:spcAft>
                <a:spcPts val="600"/>
              </a:spcAft>
            </a:pPr>
            <a:r>
              <a:rPr sz="1350" b="0" i="0">
                <a:solidFill>
                  <a:srgbClr val="212121"/>
                </a:solidFill>
                <a:latin typeface="Poppins"/>
              </a:rPr>
              <a:t>diffusion MRI onto that X-ray, down to 20 µm</a:t>
            </a:r>
          </a:p>
          <a:p>
            <a:pPr algn="l">
              <a:lnSpc>
                <a:spcPct val="100000"/>
              </a:lnSpc>
              <a:spcBef>
                <a:spcPts val="0"/>
              </a:spcBef>
              <a:spcAft>
                <a:spcPts val="0"/>
              </a:spcAft>
            </a:pPr>
            <a:r>
              <a:rPr sz="1350" b="0" i="0">
                <a:solidFill>
                  <a:srgbClr val="212121"/>
                </a:solidFill>
                <a:latin typeface="Poppins"/>
              </a:rPr>
              <a:t>the competition pair · DTI FA onto PS-OCT retardance</a:t>
            </a:r>
          </a:p>
        </p:txBody>
      </p:sp>
      <p:pic>
        <p:nvPicPr>
          <p:cNvPr id="7" name="Picture 6" descr="image4.png"/>
          <p:cNvPicPr>
            <a:picLocks noChangeAspect="1"/>
          </p:cNvPicPr>
          <p:nvPr/>
        </p:nvPicPr>
        <p:blipFill>
          <a:blip r:embed="rId3"/>
          <a:stretch>
            <a:fillRect/>
          </a:stretch>
        </p:blipFill>
        <p:spPr>
          <a:xfrm>
            <a:off x="288036" y="4539996"/>
            <a:ext cx="425196" cy="49377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493776" cy="521208"/>
          </a:xfrm>
          <a:prstGeom prst="rect">
            <a:avLst/>
          </a:prstGeom>
        </p:spPr>
      </p:pic>
      <p:pic>
        <p:nvPicPr>
          <p:cNvPr id="3" name="Picture 2" descr="image1.png"/>
          <p:cNvPicPr>
            <a:picLocks noChangeAspect="1"/>
          </p:cNvPicPr>
          <p:nvPr/>
        </p:nvPicPr>
        <p:blipFill>
          <a:blip r:embed="rId2"/>
          <a:stretch>
            <a:fillRect/>
          </a:stretch>
        </p:blipFill>
        <p:spPr>
          <a:xfrm rot="10800000">
            <a:off x="8649995" y="4622292"/>
            <a:ext cx="493776" cy="521208"/>
          </a:xfrm>
          <a:prstGeom prst="rect">
            <a:avLst/>
          </a:prstGeom>
        </p:spPr>
      </p:pic>
      <p:sp>
        <p:nvSpPr>
          <p:cNvPr id="4" name="TextBox 3"/>
          <p:cNvSpPr txBox="1"/>
          <p:nvPr/>
        </p:nvSpPr>
        <p:spPr>
          <a:xfrm>
            <a:off x="5692140" y="274320"/>
            <a:ext cx="2482596" cy="233172"/>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87" b="0" i="0">
                <a:solidFill>
                  <a:srgbClr val="595959"/>
                </a:solidFill>
                <a:latin typeface="Poppins"/>
              </a:rPr>
              <a:t>2 · on the hackathon data</a:t>
            </a:r>
          </a:p>
        </p:txBody>
      </p:sp>
      <p:sp>
        <p:nvSpPr>
          <p:cNvPr id="5" name="Rectangle 4"/>
          <p:cNvSpPr/>
          <p:nvPr/>
        </p:nvSpPr>
        <p:spPr>
          <a:xfrm>
            <a:off x="8243316"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7908"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72500"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288036"/>
            <a:ext cx="8298179" cy="233172"/>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1" i="0">
                <a:solidFill>
                  <a:srgbClr val="0047AB"/>
                </a:solidFill>
                <a:latin typeface="Poppins"/>
              </a:rPr>
              <a:t>THE LINC HEMISPHERE</a:t>
            </a:r>
            <a:r>
              <a:rPr sz="825" b="0" i="0">
                <a:solidFill>
                  <a:srgbClr val="595959"/>
                </a:solidFill>
                <a:latin typeface="Poppins"/>
              </a:rPr>
              <a:t>    BRAIN CONNECTS · dandiset 001278 · level by level</a:t>
            </a:r>
          </a:p>
        </p:txBody>
      </p:sp>
      <p:sp>
        <p:nvSpPr>
          <p:cNvPr id="9" name="TextBox 8"/>
          <p:cNvSpPr txBox="1"/>
          <p:nvPr/>
        </p:nvSpPr>
        <p:spPr>
          <a:xfrm>
            <a:off x="411479" y="507491"/>
            <a:ext cx="8298179" cy="54864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2400" b="1" i="0">
                <a:solidFill>
                  <a:srgbClr val="0047AB"/>
                </a:solidFill>
                <a:latin typeface="Alegreya"/>
              </a:rPr>
              <a:t>908 GiB on one 24 GB card</a:t>
            </a:r>
          </a:p>
        </p:txBody>
      </p:sp>
      <p:cxnSp>
        <p:nvCxnSpPr>
          <p:cNvPr id="10" name="Connector 9"/>
          <p:cNvCxnSpPr/>
          <p:nvPr/>
        </p:nvCxnSpPr>
        <p:spPr>
          <a:xfrm>
            <a:off x="4961337" y="1110996"/>
            <a:ext cx="0" cy="2811780"/>
          </a:xfrm>
          <a:prstGeom prst="line">
            <a:avLst/>
          </a:prstGeom>
          <a:ln w="14287">
            <a:solidFill>
              <a:srgbClr val="212121"/>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412697" y="3936491"/>
            <a:ext cx="1097280" cy="219456"/>
          </a:xfrm>
          <a:prstGeom prst="rect">
            <a:avLst/>
          </a:prstGeom>
          <a:noFill/>
        </p:spPr>
        <p:txBody>
          <a:bodyPr wrap="square" lIns="34290" rIns="34290" tIns="34290" bIns="34290" anchor="t">
            <a:noAutofit/>
          </a:bodyPr>
          <a:lstStyle/>
          <a:p>
            <a:pPr algn="ctr">
              <a:lnSpc>
                <a:spcPct val="100000"/>
              </a:lnSpc>
              <a:spcBef>
                <a:spcPts val="0"/>
              </a:spcBef>
              <a:spcAft>
                <a:spcPts val="0"/>
              </a:spcAft>
            </a:pPr>
            <a:r>
              <a:rPr sz="825" b="0" i="0">
                <a:solidFill>
                  <a:srgbClr val="212121"/>
                </a:solidFill>
                <a:latin typeface="Consolas"/>
              </a:rPr>
              <a:t>one 24 GB card</a:t>
            </a:r>
          </a:p>
        </p:txBody>
      </p:sp>
      <p:sp>
        <p:nvSpPr>
          <p:cNvPr id="12" name="TextBox 11"/>
          <p:cNvSpPr txBox="1"/>
          <p:nvPr/>
        </p:nvSpPr>
        <p:spPr>
          <a:xfrm>
            <a:off x="411479" y="1179576"/>
            <a:ext cx="1543050" cy="384048"/>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1125" b="1" i="0">
                <a:solidFill>
                  <a:srgbClr val="212121"/>
                </a:solidFill>
                <a:latin typeface="Poppins"/>
              </a:rPr>
              <a:t>level 4</a:t>
            </a:r>
          </a:p>
          <a:p>
            <a:pPr algn="l">
              <a:lnSpc>
                <a:spcPct val="100000"/>
              </a:lnSpc>
              <a:spcBef>
                <a:spcPts val="0"/>
              </a:spcBef>
              <a:spcAft>
                <a:spcPts val="0"/>
              </a:spcAft>
            </a:pPr>
            <a:r>
              <a:rPr sz="825" b="0" i="0">
                <a:solidFill>
                  <a:srgbClr val="595959"/>
                </a:solidFill>
                <a:latin typeface="Consolas"/>
              </a:rPr>
              <a:t>321 µm</a:t>
            </a:r>
          </a:p>
        </p:txBody>
      </p:sp>
      <p:sp>
        <p:nvSpPr>
          <p:cNvPr id="13" name="Rectangle 12"/>
          <p:cNvSpPr/>
          <p:nvPr/>
        </p:nvSpPr>
        <p:spPr>
          <a:xfrm>
            <a:off x="2023110" y="1220724"/>
            <a:ext cx="422700" cy="301752"/>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00674" y="1179576"/>
            <a:ext cx="891540" cy="384048"/>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1050" b="1" i="0">
                <a:solidFill>
                  <a:srgbClr val="212121"/>
                </a:solidFill>
                <a:latin typeface="Consolas"/>
              </a:rPr>
              <a:t>0.22 GiB</a:t>
            </a:r>
          </a:p>
        </p:txBody>
      </p:sp>
      <p:sp>
        <p:nvSpPr>
          <p:cNvPr id="15" name="TextBox 14"/>
          <p:cNvSpPr txBox="1"/>
          <p:nvPr/>
        </p:nvSpPr>
        <p:spPr>
          <a:xfrm>
            <a:off x="7029450" y="1179576"/>
            <a:ext cx="1680210" cy="384048"/>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900" b="0" i="0">
                <a:solidFill>
                  <a:srgbClr val="595959"/>
                </a:solidFill>
                <a:latin typeface="Poppins"/>
              </a:rPr>
              <a:t>whole hemisphere · 2 min 06 s</a:t>
            </a:r>
          </a:p>
        </p:txBody>
      </p:sp>
      <p:sp>
        <p:nvSpPr>
          <p:cNvPr id="16" name="TextBox 15"/>
          <p:cNvSpPr txBox="1"/>
          <p:nvPr/>
        </p:nvSpPr>
        <p:spPr>
          <a:xfrm>
            <a:off x="411479" y="1741932"/>
            <a:ext cx="1543050" cy="384048"/>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1125" b="1" i="0">
                <a:solidFill>
                  <a:srgbClr val="212121"/>
                </a:solidFill>
                <a:latin typeface="Poppins"/>
              </a:rPr>
              <a:t>level 3</a:t>
            </a:r>
          </a:p>
          <a:p>
            <a:pPr algn="l">
              <a:lnSpc>
                <a:spcPct val="100000"/>
              </a:lnSpc>
              <a:spcBef>
                <a:spcPts val="0"/>
              </a:spcBef>
              <a:spcAft>
                <a:spcPts val="0"/>
              </a:spcAft>
            </a:pPr>
            <a:r>
              <a:rPr sz="825" b="0" i="0">
                <a:solidFill>
                  <a:srgbClr val="595959"/>
                </a:solidFill>
                <a:latin typeface="Consolas"/>
              </a:rPr>
              <a:t>161 µm</a:t>
            </a:r>
          </a:p>
        </p:txBody>
      </p:sp>
      <p:sp>
        <p:nvSpPr>
          <p:cNvPr id="17" name="Rectangle 16"/>
          <p:cNvSpPr/>
          <p:nvPr/>
        </p:nvSpPr>
        <p:spPr>
          <a:xfrm>
            <a:off x="2023110" y="1783080"/>
            <a:ext cx="1543568" cy="301752"/>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23110" y="1783080"/>
            <a:ext cx="1474988" cy="301752"/>
          </a:xfrm>
          <a:prstGeom prst="rect">
            <a:avLst/>
          </a:prstGeom>
          <a:noFill/>
        </p:spPr>
        <p:txBody>
          <a:bodyPr wrap="square" lIns="34290" rIns="34290" tIns="34290" bIns="34290" anchor="ctr">
            <a:noAutofit/>
          </a:bodyPr>
          <a:lstStyle/>
          <a:p>
            <a:pPr algn="r">
              <a:lnSpc>
                <a:spcPct val="100000"/>
              </a:lnSpc>
              <a:spcBef>
                <a:spcPts val="0"/>
              </a:spcBef>
              <a:spcAft>
                <a:spcPts val="0"/>
              </a:spcAft>
            </a:pPr>
            <a:r>
              <a:rPr sz="1050" b="1" i="0">
                <a:solidFill>
                  <a:srgbClr val="FFFFFF"/>
                </a:solidFill>
                <a:latin typeface="Consolas"/>
              </a:rPr>
              <a:t>1.78 GiB</a:t>
            </a:r>
          </a:p>
        </p:txBody>
      </p:sp>
      <p:sp>
        <p:nvSpPr>
          <p:cNvPr id="19" name="TextBox 18"/>
          <p:cNvSpPr txBox="1"/>
          <p:nvPr/>
        </p:nvSpPr>
        <p:spPr>
          <a:xfrm>
            <a:off x="7029450" y="1741932"/>
            <a:ext cx="1680210" cy="384048"/>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900" b="0" i="0">
                <a:solidFill>
                  <a:srgbClr val="595959"/>
                </a:solidFill>
                <a:latin typeface="Poppins"/>
              </a:rPr>
              <a:t>125 tiles · 8 min 27 s</a:t>
            </a:r>
          </a:p>
        </p:txBody>
      </p:sp>
      <p:sp>
        <p:nvSpPr>
          <p:cNvPr id="20" name="TextBox 19"/>
          <p:cNvSpPr txBox="1"/>
          <p:nvPr/>
        </p:nvSpPr>
        <p:spPr>
          <a:xfrm>
            <a:off x="411479" y="2304288"/>
            <a:ext cx="1543050" cy="384048"/>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1125" b="1" i="0">
                <a:solidFill>
                  <a:srgbClr val="212121"/>
                </a:solidFill>
                <a:latin typeface="Poppins"/>
              </a:rPr>
              <a:t>level 2</a:t>
            </a:r>
          </a:p>
          <a:p>
            <a:pPr algn="l">
              <a:lnSpc>
                <a:spcPct val="100000"/>
              </a:lnSpc>
              <a:spcBef>
                <a:spcPts val="0"/>
              </a:spcBef>
              <a:spcAft>
                <a:spcPts val="0"/>
              </a:spcAft>
            </a:pPr>
            <a:r>
              <a:rPr sz="825" b="0" i="0">
                <a:solidFill>
                  <a:srgbClr val="595959"/>
                </a:solidFill>
                <a:latin typeface="Consolas"/>
              </a:rPr>
              <a:t>80 µm</a:t>
            </a:r>
          </a:p>
        </p:txBody>
      </p:sp>
      <p:sp>
        <p:nvSpPr>
          <p:cNvPr id="21" name="Rectangle 20"/>
          <p:cNvSpPr/>
          <p:nvPr/>
        </p:nvSpPr>
        <p:spPr>
          <a:xfrm>
            <a:off x="2023110" y="2345436"/>
            <a:ext cx="2656870" cy="301752"/>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23110" y="2345436"/>
            <a:ext cx="2588290" cy="301752"/>
          </a:xfrm>
          <a:prstGeom prst="rect">
            <a:avLst/>
          </a:prstGeom>
          <a:noFill/>
        </p:spPr>
        <p:txBody>
          <a:bodyPr wrap="square" lIns="34290" rIns="34290" tIns="34290" bIns="34290" anchor="ctr">
            <a:noAutofit/>
          </a:bodyPr>
          <a:lstStyle/>
          <a:p>
            <a:pPr algn="r">
              <a:lnSpc>
                <a:spcPct val="100000"/>
              </a:lnSpc>
              <a:spcBef>
                <a:spcPts val="0"/>
              </a:spcBef>
              <a:spcAft>
                <a:spcPts val="0"/>
              </a:spcAft>
            </a:pPr>
            <a:r>
              <a:rPr sz="1050" b="1" i="0">
                <a:solidFill>
                  <a:srgbClr val="FFFFFF"/>
                </a:solidFill>
                <a:latin typeface="Consolas"/>
              </a:rPr>
              <a:t>14.2 GiB</a:t>
            </a:r>
          </a:p>
        </p:txBody>
      </p:sp>
      <p:sp>
        <p:nvSpPr>
          <p:cNvPr id="23" name="TextBox 22"/>
          <p:cNvSpPr txBox="1"/>
          <p:nvPr/>
        </p:nvSpPr>
        <p:spPr>
          <a:xfrm>
            <a:off x="7029450" y="2304288"/>
            <a:ext cx="1680210" cy="384048"/>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900" b="0" i="0">
                <a:solidFill>
                  <a:srgbClr val="595959"/>
                </a:solidFill>
                <a:latin typeface="Poppins"/>
              </a:rPr>
              <a:t>zoom, rigid · 17 s</a:t>
            </a:r>
          </a:p>
        </p:txBody>
      </p:sp>
      <p:sp>
        <p:nvSpPr>
          <p:cNvPr id="24" name="TextBox 23"/>
          <p:cNvSpPr txBox="1"/>
          <p:nvPr/>
        </p:nvSpPr>
        <p:spPr>
          <a:xfrm>
            <a:off x="411479" y="2866644"/>
            <a:ext cx="1543050" cy="384048"/>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1125" b="1" i="0">
                <a:solidFill>
                  <a:srgbClr val="212121"/>
                </a:solidFill>
                <a:latin typeface="Poppins"/>
              </a:rPr>
              <a:t>level 1</a:t>
            </a:r>
          </a:p>
          <a:p>
            <a:pPr algn="l">
              <a:lnSpc>
                <a:spcPct val="100000"/>
              </a:lnSpc>
              <a:spcBef>
                <a:spcPts val="0"/>
              </a:spcBef>
              <a:spcAft>
                <a:spcPts val="0"/>
              </a:spcAft>
            </a:pPr>
            <a:r>
              <a:rPr sz="825" b="0" i="0">
                <a:solidFill>
                  <a:srgbClr val="595959"/>
                </a:solidFill>
                <a:latin typeface="Consolas"/>
              </a:rPr>
              <a:t>40 µm</a:t>
            </a:r>
          </a:p>
        </p:txBody>
      </p:sp>
      <p:sp>
        <p:nvSpPr>
          <p:cNvPr id="25" name="Rectangle 24"/>
          <p:cNvSpPr/>
          <p:nvPr/>
        </p:nvSpPr>
        <p:spPr>
          <a:xfrm>
            <a:off x="2023110" y="2907791"/>
            <a:ext cx="3771681" cy="301752"/>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23110" y="2907791"/>
            <a:ext cx="3703101" cy="301752"/>
          </a:xfrm>
          <a:prstGeom prst="rect">
            <a:avLst/>
          </a:prstGeom>
          <a:noFill/>
        </p:spPr>
        <p:txBody>
          <a:bodyPr wrap="square" lIns="34290" rIns="34290" tIns="34290" bIns="34290" anchor="ctr">
            <a:noAutofit/>
          </a:bodyPr>
          <a:lstStyle/>
          <a:p>
            <a:pPr algn="r">
              <a:lnSpc>
                <a:spcPct val="100000"/>
              </a:lnSpc>
              <a:spcBef>
                <a:spcPts val="0"/>
              </a:spcBef>
              <a:spcAft>
                <a:spcPts val="0"/>
              </a:spcAft>
            </a:pPr>
            <a:r>
              <a:rPr sz="1050" b="1" i="0">
                <a:solidFill>
                  <a:srgbClr val="FFFFFF"/>
                </a:solidFill>
                <a:latin typeface="Consolas"/>
              </a:rPr>
              <a:t>113.6 GiB</a:t>
            </a:r>
          </a:p>
        </p:txBody>
      </p:sp>
      <p:sp>
        <p:nvSpPr>
          <p:cNvPr id="27" name="TextBox 26"/>
          <p:cNvSpPr txBox="1"/>
          <p:nvPr/>
        </p:nvSpPr>
        <p:spPr>
          <a:xfrm>
            <a:off x="7029450" y="2866644"/>
            <a:ext cx="1680210" cy="384048"/>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900" b="0" i="0">
                <a:solidFill>
                  <a:srgbClr val="595959"/>
                </a:solidFill>
                <a:latin typeface="Poppins"/>
              </a:rPr>
              <a:t>294 tiles · 35 min</a:t>
            </a:r>
          </a:p>
        </p:txBody>
      </p:sp>
      <p:sp>
        <p:nvSpPr>
          <p:cNvPr id="28" name="TextBox 27"/>
          <p:cNvSpPr txBox="1"/>
          <p:nvPr/>
        </p:nvSpPr>
        <p:spPr>
          <a:xfrm>
            <a:off x="411479" y="3429000"/>
            <a:ext cx="1543050" cy="384048"/>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1125" b="1" i="0">
                <a:solidFill>
                  <a:srgbClr val="212121"/>
                </a:solidFill>
                <a:latin typeface="Poppins"/>
              </a:rPr>
              <a:t>level 0</a:t>
            </a:r>
          </a:p>
          <a:p>
            <a:pPr algn="l">
              <a:lnSpc>
                <a:spcPct val="100000"/>
              </a:lnSpc>
              <a:spcBef>
                <a:spcPts val="0"/>
              </a:spcBef>
              <a:spcAft>
                <a:spcPts val="0"/>
              </a:spcAft>
            </a:pPr>
            <a:r>
              <a:rPr sz="825" b="0" i="0">
                <a:solidFill>
                  <a:srgbClr val="595959"/>
                </a:solidFill>
                <a:latin typeface="Consolas"/>
              </a:rPr>
              <a:t>20 µm</a:t>
            </a:r>
          </a:p>
        </p:txBody>
      </p:sp>
      <p:sp>
        <p:nvSpPr>
          <p:cNvPr id="29" name="Rectangle 28"/>
          <p:cNvSpPr/>
          <p:nvPr/>
        </p:nvSpPr>
        <p:spPr>
          <a:xfrm>
            <a:off x="2023110" y="3470148"/>
            <a:ext cx="4886314" cy="301752"/>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23110" y="3470148"/>
            <a:ext cx="4817734" cy="301752"/>
          </a:xfrm>
          <a:prstGeom prst="rect">
            <a:avLst/>
          </a:prstGeom>
          <a:noFill/>
        </p:spPr>
        <p:txBody>
          <a:bodyPr wrap="square" lIns="34290" rIns="34290" tIns="34290" bIns="34290" anchor="ctr">
            <a:noAutofit/>
          </a:bodyPr>
          <a:lstStyle/>
          <a:p>
            <a:pPr algn="r">
              <a:lnSpc>
                <a:spcPct val="100000"/>
              </a:lnSpc>
              <a:spcBef>
                <a:spcPts val="0"/>
              </a:spcBef>
              <a:spcAft>
                <a:spcPts val="0"/>
              </a:spcAft>
            </a:pPr>
            <a:r>
              <a:rPr sz="1050" b="1" i="0">
                <a:solidFill>
                  <a:srgbClr val="FFFFFF"/>
                </a:solidFill>
                <a:latin typeface="Consolas"/>
              </a:rPr>
              <a:t>908.5 GiB</a:t>
            </a:r>
          </a:p>
        </p:txBody>
      </p:sp>
      <p:sp>
        <p:nvSpPr>
          <p:cNvPr id="31" name="TextBox 30"/>
          <p:cNvSpPr txBox="1"/>
          <p:nvPr/>
        </p:nvSpPr>
        <p:spPr>
          <a:xfrm>
            <a:off x="7029450" y="3429000"/>
            <a:ext cx="1680210" cy="384048"/>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900" b="0" i="0">
                <a:solidFill>
                  <a:srgbClr val="595959"/>
                </a:solidFill>
                <a:latin typeface="Poppins"/>
              </a:rPr>
              <a:t>125 tiles, 15 mm window · 14 min</a:t>
            </a:r>
          </a:p>
        </p:txBody>
      </p:sp>
      <p:sp>
        <p:nvSpPr>
          <p:cNvPr id="32" name="Rectangle 31"/>
          <p:cNvSpPr/>
          <p:nvPr/>
        </p:nvSpPr>
        <p:spPr>
          <a:xfrm>
            <a:off x="411479" y="4279392"/>
            <a:ext cx="137160" cy="13716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504" y="4217670"/>
            <a:ext cx="2057400" cy="260604"/>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825" b="0" i="0">
                <a:solidFill>
                  <a:srgbClr val="595959"/>
                </a:solidFill>
                <a:latin typeface="Poppins"/>
              </a:rPr>
              <a:t>fits in memory: one pass</a:t>
            </a:r>
          </a:p>
        </p:txBody>
      </p:sp>
      <p:sp>
        <p:nvSpPr>
          <p:cNvPr id="34" name="Rectangle 33"/>
          <p:cNvSpPr/>
          <p:nvPr/>
        </p:nvSpPr>
        <p:spPr>
          <a:xfrm>
            <a:off x="2674620" y="4279392"/>
            <a:ext cx="137160" cy="137160"/>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66644" y="4217670"/>
            <a:ext cx="2331720" cy="260604"/>
          </a:xfrm>
          <a:prstGeom prst="rect">
            <a:avLst/>
          </a:prstGeom>
          <a:noFill/>
        </p:spPr>
        <p:txBody>
          <a:bodyPr wrap="square" lIns="34290" rIns="34290" tIns="34290" bIns="34290" anchor="ctr">
            <a:noAutofit/>
          </a:bodyPr>
          <a:lstStyle/>
          <a:p>
            <a:pPr algn="l">
              <a:lnSpc>
                <a:spcPct val="100000"/>
              </a:lnSpc>
              <a:spcBef>
                <a:spcPts val="0"/>
              </a:spcBef>
              <a:spcAft>
                <a:spcPts val="0"/>
              </a:spcAft>
            </a:pPr>
            <a:r>
              <a:rPr sz="825" b="0" i="0">
                <a:solidFill>
                  <a:srgbClr val="595959"/>
                </a:solidFill>
                <a:latin typeface="Poppins"/>
              </a:rPr>
              <a:t>tiled: the same command · log scale</a:t>
            </a:r>
          </a:p>
        </p:txBody>
      </p:sp>
      <p:sp>
        <p:nvSpPr>
          <p:cNvPr id="36" name="TextBox 35"/>
          <p:cNvSpPr txBox="1"/>
          <p:nvPr/>
        </p:nvSpPr>
        <p:spPr>
          <a:xfrm>
            <a:off x="5212079" y="4217670"/>
            <a:ext cx="3497579" cy="260604"/>
          </a:xfrm>
          <a:prstGeom prst="rect">
            <a:avLst/>
          </a:prstGeom>
          <a:noFill/>
        </p:spPr>
        <p:txBody>
          <a:bodyPr wrap="square" lIns="34290" rIns="34290" tIns="34290" bIns="34290" anchor="ctr">
            <a:noAutofit/>
          </a:bodyPr>
          <a:lstStyle/>
          <a:p>
            <a:pPr algn="r">
              <a:lnSpc>
                <a:spcPct val="100000"/>
              </a:lnSpc>
              <a:spcBef>
                <a:spcPts val="0"/>
              </a:spcBef>
              <a:spcAft>
                <a:spcPts val="0"/>
              </a:spcAft>
            </a:pPr>
            <a:r>
              <a:rPr sz="825" b="0" i="0">
                <a:solidFill>
                  <a:srgbClr val="595959"/>
                </a:solidFill>
                <a:latin typeface="Poppins"/>
              </a:rPr>
              <a:t>the first stages run in memory, the fine ones in tiles</a:t>
            </a:r>
          </a:p>
        </p:txBody>
      </p:sp>
      <p:sp>
        <p:nvSpPr>
          <p:cNvPr id="37" name="TextBox 36"/>
          <p:cNvSpPr txBox="1"/>
          <p:nvPr/>
        </p:nvSpPr>
        <p:spPr>
          <a:xfrm>
            <a:off x="411479" y="4491990"/>
            <a:ext cx="8298179" cy="315468"/>
          </a:xfrm>
          <a:prstGeom prst="rect">
            <a:avLst/>
          </a:prstGeom>
          <a:noFill/>
        </p:spPr>
        <p:txBody>
          <a:bodyPr wrap="square" lIns="34290" rIns="34290" tIns="34290" bIns="34290" anchor="t">
            <a:noAutofit/>
          </a:bodyPr>
          <a:lstStyle/>
          <a:p>
            <a:pPr algn="ctr">
              <a:lnSpc>
                <a:spcPct val="100000"/>
              </a:lnSpc>
              <a:spcBef>
                <a:spcPts val="0"/>
              </a:spcBef>
              <a:spcAft>
                <a:spcPts val="0"/>
              </a:spcAft>
            </a:pPr>
            <a:r>
              <a:rPr sz="1200" b="0" i="1">
                <a:solidFill>
                  <a:srgbClr val="0047AB"/>
                </a:solidFill>
                <a:latin typeface="Poppins"/>
              </a:rPr>
              <a:t>down the ladder: more tiles, more time; the command and the memory never change</a:t>
            </a:r>
          </a:p>
        </p:txBody>
      </p:sp>
      <p:pic>
        <p:nvPicPr>
          <p:cNvPr id="38" name="Picture 37" descr="image4.png"/>
          <p:cNvPicPr>
            <a:picLocks noChangeAspect="1"/>
          </p:cNvPicPr>
          <p:nvPr/>
        </p:nvPicPr>
        <p:blipFill>
          <a:blip r:embed="rId3"/>
          <a:stretch>
            <a:fillRect/>
          </a:stretch>
        </p:blipFill>
        <p:spPr>
          <a:xfrm>
            <a:off x="288036" y="4539996"/>
            <a:ext cx="425196" cy="493776"/>
          </a:xfrm>
          <a:prstGeom prst="rect">
            <a:avLst/>
          </a:prstGeom>
        </p:spPr>
      </p:pic>
      <p:sp>
        <p:nvSpPr>
          <p:cNvPr id="39" name="TextBox 38"/>
          <p:cNvSpPr txBox="1"/>
          <p:nvPr/>
        </p:nvSpPr>
        <p:spPr>
          <a:xfrm>
            <a:off x="788669" y="4821174"/>
            <a:ext cx="4114800" cy="205739"/>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50" b="0" i="0">
                <a:solidFill>
                  <a:srgbClr val="595959"/>
                </a:solidFill>
                <a:latin typeface="Poppins"/>
              </a:rPr>
              <a:t>Fideus Labs · KonfAI · impact-reg-konfai</a:t>
            </a:r>
          </a:p>
        </p:txBody>
      </p:sp>
      <p:sp>
        <p:nvSpPr>
          <p:cNvPr id="40" name="TextBox 39"/>
          <p:cNvSpPr txBox="1"/>
          <p:nvPr/>
        </p:nvSpPr>
        <p:spPr>
          <a:xfrm>
            <a:off x="8023859" y="4821174"/>
            <a:ext cx="685800" cy="205739"/>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50" b="0" i="0">
                <a:solidFill>
                  <a:srgbClr val="595959"/>
                </a:solidFill>
                <a:latin typeface="Poppin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493776" cy="521208"/>
          </a:xfrm>
          <a:prstGeom prst="rect">
            <a:avLst/>
          </a:prstGeom>
        </p:spPr>
      </p:pic>
      <p:pic>
        <p:nvPicPr>
          <p:cNvPr id="3" name="Picture 2" descr="image1.png"/>
          <p:cNvPicPr>
            <a:picLocks noChangeAspect="1"/>
          </p:cNvPicPr>
          <p:nvPr/>
        </p:nvPicPr>
        <p:blipFill>
          <a:blip r:embed="rId2"/>
          <a:stretch>
            <a:fillRect/>
          </a:stretch>
        </p:blipFill>
        <p:spPr>
          <a:xfrm rot="10800000">
            <a:off x="8649995" y="4622292"/>
            <a:ext cx="493776" cy="521208"/>
          </a:xfrm>
          <a:prstGeom prst="rect">
            <a:avLst/>
          </a:prstGeom>
        </p:spPr>
      </p:pic>
      <p:sp>
        <p:nvSpPr>
          <p:cNvPr id="4" name="TextBox 3"/>
          <p:cNvSpPr txBox="1"/>
          <p:nvPr/>
        </p:nvSpPr>
        <p:spPr>
          <a:xfrm>
            <a:off x="5692140" y="274320"/>
            <a:ext cx="2482596" cy="233172"/>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87" b="0" i="0">
                <a:solidFill>
                  <a:srgbClr val="595959"/>
                </a:solidFill>
                <a:latin typeface="Poppins"/>
              </a:rPr>
              <a:t>2 · on the hackathon data</a:t>
            </a:r>
          </a:p>
        </p:txBody>
      </p:sp>
      <p:sp>
        <p:nvSpPr>
          <p:cNvPr id="5" name="Rectangle 4"/>
          <p:cNvSpPr/>
          <p:nvPr/>
        </p:nvSpPr>
        <p:spPr>
          <a:xfrm>
            <a:off x="8243316"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7908"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72500"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288036"/>
            <a:ext cx="8298179" cy="233172"/>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1" i="0">
                <a:solidFill>
                  <a:srgbClr val="0047AB"/>
                </a:solidFill>
                <a:latin typeface="Poppins"/>
              </a:rPr>
              <a:t>THE LINC HEMISPHERE</a:t>
            </a:r>
            <a:r>
              <a:rPr sz="825" b="0" i="0">
                <a:solidFill>
                  <a:srgbClr val="595959"/>
                </a:solidFill>
                <a:latin typeface="Poppins"/>
              </a:rPr>
              <a:t>    diffusion MRI onto synchrotron X-ray</a:t>
            </a:r>
          </a:p>
        </p:txBody>
      </p:sp>
      <p:sp>
        <p:nvSpPr>
          <p:cNvPr id="9" name="TextBox 8"/>
          <p:cNvSpPr txBox="1"/>
          <p:nvPr/>
        </p:nvSpPr>
        <p:spPr>
          <a:xfrm>
            <a:off x="411479" y="507491"/>
            <a:ext cx="8298179" cy="54864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2400" b="1" i="0">
                <a:solidFill>
                  <a:srgbClr val="0047AB"/>
                </a:solidFill>
                <a:latin typeface="Alegreya"/>
              </a:rPr>
              <a:t>From the whole hemisphere to 20 µm</a:t>
            </a:r>
          </a:p>
        </p:txBody>
      </p:sp>
      <p:pic>
        <p:nvPicPr>
          <p:cNvPr id="10" name="Picture 9" descr="D11_plane_both.png"/>
          <p:cNvPicPr>
            <a:picLocks noChangeAspect="1"/>
          </p:cNvPicPr>
          <p:nvPr/>
        </p:nvPicPr>
        <p:blipFill>
          <a:blip r:embed="rId3"/>
          <a:stretch>
            <a:fillRect/>
          </a:stretch>
        </p:blipFill>
        <p:spPr>
          <a:xfrm>
            <a:off x="978430" y="1110996"/>
            <a:ext cx="2301651" cy="2811779"/>
          </a:xfrm>
          <a:prstGeom prst="rect">
            <a:avLst/>
          </a:prstGeom>
        </p:spPr>
      </p:pic>
      <p:pic>
        <p:nvPicPr>
          <p:cNvPr id="11" name="Picture 10" descr="Z3_edges.png"/>
          <p:cNvPicPr>
            <a:picLocks noChangeAspect="1"/>
          </p:cNvPicPr>
          <p:nvPr/>
        </p:nvPicPr>
        <p:blipFill>
          <a:blip r:embed="rId4"/>
          <a:stretch>
            <a:fillRect/>
          </a:stretch>
        </p:blipFill>
        <p:spPr>
          <a:xfrm>
            <a:off x="3485822" y="1110996"/>
            <a:ext cx="4679518" cy="2811779"/>
          </a:xfrm>
          <a:prstGeom prst="rect">
            <a:avLst/>
          </a:prstGeom>
        </p:spPr>
      </p:pic>
      <p:sp>
        <p:nvSpPr>
          <p:cNvPr id="12" name="TextBox 11"/>
          <p:cNvSpPr txBox="1"/>
          <p:nvPr/>
        </p:nvSpPr>
        <p:spPr>
          <a:xfrm>
            <a:off x="978430" y="3950208"/>
            <a:ext cx="2301651" cy="260604"/>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0" i="0">
                <a:solidFill>
                  <a:srgbClr val="595959"/>
                </a:solidFill>
                <a:latin typeface="Poppins"/>
              </a:rPr>
              <a:t>level 4 · blue: affine · gold: deformable</a:t>
            </a:r>
          </a:p>
        </p:txBody>
      </p:sp>
      <p:sp>
        <p:nvSpPr>
          <p:cNvPr id="13" name="TextBox 12"/>
          <p:cNvSpPr txBox="1"/>
          <p:nvPr/>
        </p:nvSpPr>
        <p:spPr>
          <a:xfrm>
            <a:off x="3485822" y="3950208"/>
            <a:ext cx="4679518" cy="260604"/>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0" i="0">
                <a:solidFill>
                  <a:srgbClr val="595959"/>
                </a:solidFill>
                <a:latin typeface="Poppins"/>
              </a:rPr>
              <a:t>zoom 1 on the overview · top: placed by hand · bottom: after 294 tiles</a:t>
            </a:r>
          </a:p>
        </p:txBody>
      </p:sp>
      <p:cxnSp>
        <p:nvCxnSpPr>
          <p:cNvPr id="14" name="Connector 13"/>
          <p:cNvCxnSpPr/>
          <p:nvPr/>
        </p:nvCxnSpPr>
        <p:spPr>
          <a:xfrm>
            <a:off x="411479" y="4251960"/>
            <a:ext cx="2708910" cy="0"/>
          </a:xfrm>
          <a:prstGeom prst="line">
            <a:avLst/>
          </a:prstGeom>
          <a:ln w="21431">
            <a:solidFill>
              <a:srgbClr val="0047A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11479" y="4279392"/>
            <a:ext cx="2708910" cy="514350"/>
          </a:xfrm>
          <a:prstGeom prst="rect">
            <a:avLst/>
          </a:prstGeom>
          <a:noFill/>
        </p:spPr>
        <p:txBody>
          <a:bodyPr wrap="square" lIns="34290" rIns="34290" tIns="34290" bIns="34290" anchor="t">
            <a:noAutofit/>
          </a:bodyPr>
          <a:lstStyle/>
          <a:p>
            <a:pPr algn="l">
              <a:lnSpc>
                <a:spcPct val="100000"/>
              </a:lnSpc>
              <a:spcBef>
                <a:spcPts val="0"/>
              </a:spcBef>
              <a:spcAft>
                <a:spcPts val="75"/>
              </a:spcAft>
            </a:pPr>
            <a:r>
              <a:rPr sz="1500" b="0" i="0">
                <a:solidFill>
                  <a:srgbClr val="212121"/>
                </a:solidFill>
                <a:latin typeface="Consolas"/>
              </a:rPr>
              <a:t>~1 mm → 0</a:t>
            </a:r>
          </a:p>
          <a:p>
            <a:pPr algn="l">
              <a:lnSpc>
                <a:spcPct val="100000"/>
              </a:lnSpc>
              <a:spcBef>
                <a:spcPts val="0"/>
              </a:spcBef>
              <a:spcAft>
                <a:spcPts val="0"/>
              </a:spcAft>
            </a:pPr>
            <a:r>
              <a:rPr sz="825" b="0" i="0">
                <a:solidFill>
                  <a:srgbClr val="595959"/>
                </a:solidFill>
                <a:latin typeface="Poppins"/>
              </a:rPr>
              <a:t>level 4 residual shift</a:t>
            </a:r>
          </a:p>
        </p:txBody>
      </p:sp>
      <p:cxnSp>
        <p:nvCxnSpPr>
          <p:cNvPr id="16" name="Connector 15"/>
          <p:cNvCxnSpPr/>
          <p:nvPr/>
        </p:nvCxnSpPr>
        <p:spPr>
          <a:xfrm>
            <a:off x="3206114" y="4251960"/>
            <a:ext cx="2708911" cy="0"/>
          </a:xfrm>
          <a:prstGeom prst="line">
            <a:avLst/>
          </a:prstGeom>
          <a:ln w="21431">
            <a:solidFill>
              <a:srgbClr val="0047A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6114" y="4279392"/>
            <a:ext cx="2708910" cy="514350"/>
          </a:xfrm>
          <a:prstGeom prst="rect">
            <a:avLst/>
          </a:prstGeom>
          <a:noFill/>
        </p:spPr>
        <p:txBody>
          <a:bodyPr wrap="square" lIns="34290" rIns="34290" tIns="34290" bIns="34290" anchor="t">
            <a:noAutofit/>
          </a:bodyPr>
          <a:lstStyle/>
          <a:p>
            <a:pPr algn="l">
              <a:lnSpc>
                <a:spcPct val="100000"/>
              </a:lnSpc>
              <a:spcBef>
                <a:spcPts val="0"/>
              </a:spcBef>
              <a:spcAft>
                <a:spcPts val="75"/>
              </a:spcAft>
            </a:pPr>
            <a:r>
              <a:rPr sz="1500" b="0" i="0">
                <a:solidFill>
                  <a:srgbClr val="212121"/>
                </a:solidFill>
                <a:latin typeface="Consolas"/>
              </a:rPr>
              <a:t>0.45 → &lt;0.02 mm</a:t>
            </a:r>
          </a:p>
          <a:p>
            <a:pPr algn="l">
              <a:lnSpc>
                <a:spcPct val="100000"/>
              </a:lnSpc>
              <a:spcBef>
                <a:spcPts val="0"/>
              </a:spcBef>
              <a:spcAft>
                <a:spcPts val="0"/>
              </a:spcAft>
            </a:pPr>
            <a:r>
              <a:rPr sz="825" b="0" i="0">
                <a:solidFill>
                  <a:srgbClr val="595959"/>
                </a:solidFill>
                <a:latin typeface="Poppins"/>
              </a:rPr>
              <a:t>zoom 1 median residual</a:t>
            </a:r>
          </a:p>
        </p:txBody>
      </p:sp>
      <p:cxnSp>
        <p:nvCxnSpPr>
          <p:cNvPr id="18" name="Connector 17"/>
          <p:cNvCxnSpPr/>
          <p:nvPr/>
        </p:nvCxnSpPr>
        <p:spPr>
          <a:xfrm>
            <a:off x="6000750" y="4251960"/>
            <a:ext cx="2708909" cy="0"/>
          </a:xfrm>
          <a:prstGeom prst="line">
            <a:avLst/>
          </a:prstGeom>
          <a:ln w="21431">
            <a:solidFill>
              <a:srgbClr val="0047A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00750" y="4279392"/>
            <a:ext cx="2708910" cy="514350"/>
          </a:xfrm>
          <a:prstGeom prst="rect">
            <a:avLst/>
          </a:prstGeom>
          <a:noFill/>
        </p:spPr>
        <p:txBody>
          <a:bodyPr wrap="square" lIns="34290" rIns="34290" tIns="34290" bIns="34290" anchor="t">
            <a:noAutofit/>
          </a:bodyPr>
          <a:lstStyle/>
          <a:p>
            <a:pPr algn="l">
              <a:lnSpc>
                <a:spcPct val="100000"/>
              </a:lnSpc>
              <a:spcBef>
                <a:spcPts val="0"/>
              </a:spcBef>
              <a:spcAft>
                <a:spcPts val="75"/>
              </a:spcAft>
            </a:pPr>
            <a:r>
              <a:rPr sz="1500" b="0" i="0">
                <a:solidFill>
                  <a:srgbClr val="212121"/>
                </a:solidFill>
                <a:latin typeface="Consolas"/>
              </a:rPr>
              <a:t>19 % → 87 %</a:t>
            </a:r>
          </a:p>
          <a:p>
            <a:pPr algn="l">
              <a:lnSpc>
                <a:spcPct val="100000"/>
              </a:lnSpc>
              <a:spcBef>
                <a:spcPts val="0"/>
              </a:spcBef>
              <a:spcAft>
                <a:spcPts val="0"/>
              </a:spcAft>
            </a:pPr>
            <a:r>
              <a:rPr sz="825" b="0" i="0">
                <a:solidFill>
                  <a:srgbClr val="595959"/>
                </a:solidFill>
                <a:latin typeface="Poppins"/>
              </a:rPr>
              <a:t>zoom edges within one 20 µm voxel</a:t>
            </a:r>
          </a:p>
        </p:txBody>
      </p:sp>
      <p:pic>
        <p:nvPicPr>
          <p:cNvPr id="20" name="Picture 19" descr="image4.png"/>
          <p:cNvPicPr>
            <a:picLocks noChangeAspect="1"/>
          </p:cNvPicPr>
          <p:nvPr/>
        </p:nvPicPr>
        <p:blipFill>
          <a:blip r:embed="rId5"/>
          <a:stretch>
            <a:fillRect/>
          </a:stretch>
        </p:blipFill>
        <p:spPr>
          <a:xfrm>
            <a:off x="288036" y="4539996"/>
            <a:ext cx="425196" cy="493776"/>
          </a:xfrm>
          <a:prstGeom prst="rect">
            <a:avLst/>
          </a:prstGeom>
        </p:spPr>
      </p:pic>
      <p:sp>
        <p:nvSpPr>
          <p:cNvPr id="21" name="TextBox 20"/>
          <p:cNvSpPr txBox="1"/>
          <p:nvPr/>
        </p:nvSpPr>
        <p:spPr>
          <a:xfrm>
            <a:off x="788669" y="4821174"/>
            <a:ext cx="4114800" cy="205739"/>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50" b="0" i="0">
                <a:solidFill>
                  <a:srgbClr val="595959"/>
                </a:solidFill>
                <a:latin typeface="Poppins"/>
              </a:rPr>
              <a:t>Fideus Labs · KonfAI · impact-reg-konfai</a:t>
            </a:r>
          </a:p>
        </p:txBody>
      </p:sp>
      <p:sp>
        <p:nvSpPr>
          <p:cNvPr id="22" name="TextBox 21"/>
          <p:cNvSpPr txBox="1"/>
          <p:nvPr/>
        </p:nvSpPr>
        <p:spPr>
          <a:xfrm>
            <a:off x="8023859" y="4821174"/>
            <a:ext cx="685800" cy="205739"/>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50" b="0" i="0">
                <a:solidFill>
                  <a:srgbClr val="595959"/>
                </a:solidFill>
                <a:latin typeface="Poppin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493776" cy="521208"/>
          </a:xfrm>
          <a:prstGeom prst="rect">
            <a:avLst/>
          </a:prstGeom>
        </p:spPr>
      </p:pic>
      <p:pic>
        <p:nvPicPr>
          <p:cNvPr id="3" name="Picture 2" descr="image1.png"/>
          <p:cNvPicPr>
            <a:picLocks noChangeAspect="1"/>
          </p:cNvPicPr>
          <p:nvPr/>
        </p:nvPicPr>
        <p:blipFill>
          <a:blip r:embed="rId2"/>
          <a:stretch>
            <a:fillRect/>
          </a:stretch>
        </p:blipFill>
        <p:spPr>
          <a:xfrm rot="10800000">
            <a:off x="8649995" y="4622292"/>
            <a:ext cx="493776" cy="521208"/>
          </a:xfrm>
          <a:prstGeom prst="rect">
            <a:avLst/>
          </a:prstGeom>
        </p:spPr>
      </p:pic>
      <p:sp>
        <p:nvSpPr>
          <p:cNvPr id="4" name="TextBox 3"/>
          <p:cNvSpPr txBox="1"/>
          <p:nvPr/>
        </p:nvSpPr>
        <p:spPr>
          <a:xfrm>
            <a:off x="5692140" y="274320"/>
            <a:ext cx="2482596" cy="233172"/>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87" b="0" i="0">
                <a:solidFill>
                  <a:srgbClr val="595959"/>
                </a:solidFill>
                <a:latin typeface="Poppins"/>
              </a:rPr>
              <a:t>2 · on the hackathon data</a:t>
            </a:r>
          </a:p>
        </p:txBody>
      </p:sp>
      <p:sp>
        <p:nvSpPr>
          <p:cNvPr id="5" name="Rectangle 4"/>
          <p:cNvSpPr/>
          <p:nvPr/>
        </p:nvSpPr>
        <p:spPr>
          <a:xfrm>
            <a:off x="8243316"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7908"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72500" y="322326"/>
            <a:ext cx="109728" cy="1097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288036"/>
            <a:ext cx="8298179" cy="233172"/>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1" i="0">
                <a:solidFill>
                  <a:srgbClr val="0047AB"/>
                </a:solidFill>
                <a:latin typeface="Poppins"/>
              </a:rPr>
              <a:t>THE COMPETITION PAIR</a:t>
            </a:r>
            <a:r>
              <a:rPr sz="825" b="0" i="0">
                <a:solidFill>
                  <a:srgbClr val="595959"/>
                </a:solidFill>
                <a:latin typeface="Poppins"/>
              </a:rPr>
              <a:t>    DTI FA onto PS-OCT retardance · 0.4 mm grid</a:t>
            </a:r>
          </a:p>
        </p:txBody>
      </p:sp>
      <p:sp>
        <p:nvSpPr>
          <p:cNvPr id="9" name="TextBox 8"/>
          <p:cNvSpPr txBox="1"/>
          <p:nvPr/>
        </p:nvSpPr>
        <p:spPr>
          <a:xfrm>
            <a:off x="411479" y="507491"/>
            <a:ext cx="8298179" cy="54864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2400" b="1" i="0">
                <a:solidFill>
                  <a:srgbClr val="0047AB"/>
                </a:solidFill>
                <a:latin typeface="Alegreya"/>
              </a:rPr>
              <a:t>Three engines, two subjects</a:t>
            </a:r>
          </a:p>
        </p:txBody>
      </p:sp>
      <p:pic>
        <p:nvPicPr>
          <p:cNvPr id="10" name="Picture 9" descr="subject_v_VB_edges_slide.png"/>
          <p:cNvPicPr>
            <a:picLocks noChangeAspect="1"/>
          </p:cNvPicPr>
          <p:nvPr/>
        </p:nvPicPr>
        <p:blipFill>
          <a:blip r:embed="rId3"/>
          <a:stretch>
            <a:fillRect/>
          </a:stretch>
        </p:blipFill>
        <p:spPr>
          <a:xfrm>
            <a:off x="411479" y="1097280"/>
            <a:ext cx="5298479" cy="3188970"/>
          </a:xfrm>
          <a:prstGeom prst="rect">
            <a:avLst/>
          </a:prstGeom>
        </p:spPr>
      </p:pic>
      <p:cxnSp>
        <p:nvCxnSpPr>
          <p:cNvPr id="11" name="Connector 10"/>
          <p:cNvCxnSpPr/>
          <p:nvPr/>
        </p:nvCxnSpPr>
        <p:spPr>
          <a:xfrm>
            <a:off x="425196" y="4478274"/>
            <a:ext cx="246888" cy="0"/>
          </a:xfrm>
          <a:prstGeom prst="line">
            <a:avLst/>
          </a:prstGeom>
          <a:ln w="21431">
            <a:solidFill>
              <a:srgbClr val="F0B42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0664" y="4341114"/>
            <a:ext cx="4969295" cy="425196"/>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0" i="0">
                <a:solidFill>
                  <a:srgbClr val="595959"/>
                </a:solidFill>
                <a:latin typeface="Poppins"/>
              </a:rPr>
              <a:t>the retardance's white-matter outline, the same in every panel · grey: the FA after each stage · aligned = the bright tracts lie under the gold lines · bottom: 24 mm zoom</a:t>
            </a:r>
          </a:p>
        </p:txBody>
      </p:sp>
      <p:sp>
        <p:nvSpPr>
          <p:cNvPr id="13" name="Rounded Rectangle 12"/>
          <p:cNvSpPr/>
          <p:nvPr/>
        </p:nvSpPr>
        <p:spPr>
          <a:xfrm>
            <a:off x="5897879" y="1097280"/>
            <a:ext cx="2811779" cy="946403"/>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89154" rIns="89154" tIns="89154" bIns="89154">
            <a:noAutofit/>
          </a:bodyPr>
          <a:lstStyle/>
          <a:p>
            <a:pPr algn="l">
              <a:lnSpc>
                <a:spcPct val="100000"/>
              </a:lnSpc>
              <a:spcBef>
                <a:spcPts val="0"/>
              </a:spcBef>
              <a:spcAft>
                <a:spcPts val="75"/>
              </a:spcAft>
            </a:pPr>
            <a:r>
              <a:rPr sz="1200" b="1" i="0">
                <a:solidFill>
                  <a:srgbClr val="212121"/>
                </a:solidFill>
                <a:latin typeface="Poppins"/>
              </a:rPr>
              <a:t>elastix MI + bending</a:t>
            </a:r>
          </a:p>
          <a:p>
            <a:pPr algn="l">
              <a:lnSpc>
                <a:spcPct val="100000"/>
              </a:lnSpc>
              <a:spcBef>
                <a:spcPts val="0"/>
              </a:spcBef>
              <a:spcAft>
                <a:spcPts val="0"/>
              </a:spcAft>
            </a:pPr>
            <a:r>
              <a:rPr sz="1650" b="1" i="0">
                <a:solidFill>
                  <a:srgbClr val="212121"/>
                </a:solidFill>
                <a:latin typeface="Consolas"/>
              </a:rPr>
              <a:t>0.40 / 0.40 mm</a:t>
            </a:r>
          </a:p>
          <a:p>
            <a:pPr algn="l">
              <a:lnSpc>
                <a:spcPct val="100000"/>
              </a:lnSpc>
              <a:spcBef>
                <a:spcPts val="0"/>
              </a:spcBef>
              <a:spcAft>
                <a:spcPts val="75"/>
              </a:spcAft>
            </a:pPr>
            <a:r>
              <a:rPr sz="900" b="1" i="0">
                <a:solidFill>
                  <a:srgbClr val="2E7D4F"/>
                </a:solidFill>
                <a:latin typeface="Consolas"/>
              </a:rPr>
              <a:t>0 % folded</a:t>
            </a:r>
            <a:r>
              <a:rPr sz="900" b="0" i="0">
                <a:solidFill>
                  <a:srgbClr val="595959"/>
                </a:solidFill>
                <a:latin typeface="Consolas"/>
              </a:rPr>
              <a:t> · max 5.0 mm</a:t>
            </a:r>
          </a:p>
          <a:p>
            <a:pPr algn="l">
              <a:lnSpc>
                <a:spcPct val="100000"/>
              </a:lnSpc>
              <a:spcBef>
                <a:spcPts val="0"/>
              </a:spcBef>
              <a:spcAft>
                <a:spcPts val="0"/>
              </a:spcAft>
            </a:pPr>
            <a:r>
              <a:rPr sz="787" b="0" i="0">
                <a:solidFill>
                  <a:srgbClr val="595959"/>
                </a:solidFill>
                <a:latin typeface="Poppins"/>
              </a:rPr>
              <a:t>subject_m: 0.57 / 0.40 mm · 0 % · max 3.8 mm</a:t>
            </a:r>
          </a:p>
        </p:txBody>
      </p:sp>
      <p:cxnSp>
        <p:nvCxnSpPr>
          <p:cNvPr id="14" name="Connector 13"/>
          <p:cNvCxnSpPr/>
          <p:nvPr/>
        </p:nvCxnSpPr>
        <p:spPr>
          <a:xfrm>
            <a:off x="5897879" y="1152144"/>
            <a:ext cx="0" cy="836676"/>
          </a:xfrm>
          <a:prstGeom prst="line">
            <a:avLst/>
          </a:prstGeom>
          <a:ln w="38100">
            <a:solidFill>
              <a:srgbClr val="2E7D4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897879" y="2105406"/>
            <a:ext cx="2811779" cy="946403"/>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89154" rIns="89154" tIns="89154" bIns="89154">
            <a:noAutofit/>
          </a:bodyPr>
          <a:lstStyle/>
          <a:p>
            <a:pPr algn="l">
              <a:lnSpc>
                <a:spcPct val="100000"/>
              </a:lnSpc>
              <a:spcBef>
                <a:spcPts val="0"/>
              </a:spcBef>
              <a:spcAft>
                <a:spcPts val="75"/>
              </a:spcAft>
            </a:pPr>
            <a:r>
              <a:rPr sz="1200" b="1" i="0">
                <a:solidFill>
                  <a:srgbClr val="212121"/>
                </a:solidFill>
                <a:latin typeface="Poppins"/>
              </a:rPr>
              <a:t>FireANTs SyN CC</a:t>
            </a:r>
          </a:p>
          <a:p>
            <a:pPr algn="l">
              <a:lnSpc>
                <a:spcPct val="100000"/>
              </a:lnSpc>
              <a:spcBef>
                <a:spcPts val="0"/>
              </a:spcBef>
              <a:spcAft>
                <a:spcPts val="0"/>
              </a:spcAft>
            </a:pPr>
            <a:r>
              <a:rPr sz="1650" b="1" i="0">
                <a:solidFill>
                  <a:srgbClr val="212121"/>
                </a:solidFill>
                <a:latin typeface="Consolas"/>
              </a:rPr>
              <a:t>0.40 / 0.40 mm</a:t>
            </a:r>
          </a:p>
          <a:p>
            <a:pPr algn="l">
              <a:lnSpc>
                <a:spcPct val="100000"/>
              </a:lnSpc>
              <a:spcBef>
                <a:spcPts val="0"/>
              </a:spcBef>
              <a:spcAft>
                <a:spcPts val="75"/>
              </a:spcAft>
            </a:pPr>
            <a:r>
              <a:rPr sz="900" b="1" i="0">
                <a:solidFill>
                  <a:srgbClr val="2E7D4F"/>
                </a:solidFill>
                <a:latin typeface="Consolas"/>
              </a:rPr>
              <a:t>0 % folded</a:t>
            </a:r>
            <a:r>
              <a:rPr sz="900" b="0" i="0">
                <a:solidFill>
                  <a:srgbClr val="595959"/>
                </a:solidFill>
                <a:latin typeface="Consolas"/>
              </a:rPr>
              <a:t> · max 2.7 mm</a:t>
            </a:r>
          </a:p>
          <a:p>
            <a:pPr algn="l">
              <a:lnSpc>
                <a:spcPct val="100000"/>
              </a:lnSpc>
              <a:spcBef>
                <a:spcPts val="0"/>
              </a:spcBef>
              <a:spcAft>
                <a:spcPts val="0"/>
              </a:spcAft>
            </a:pPr>
            <a:r>
              <a:rPr sz="787" b="0" i="0">
                <a:solidFill>
                  <a:srgbClr val="595959"/>
                </a:solidFill>
                <a:latin typeface="Poppins"/>
              </a:rPr>
              <a:t>subject_m: 0.40 / 0.40 mm · 0 % · max 2.1 mm</a:t>
            </a:r>
          </a:p>
        </p:txBody>
      </p:sp>
      <p:cxnSp>
        <p:nvCxnSpPr>
          <p:cNvPr id="16" name="Connector 15"/>
          <p:cNvCxnSpPr/>
          <p:nvPr/>
        </p:nvCxnSpPr>
        <p:spPr>
          <a:xfrm>
            <a:off x="5897879" y="2160270"/>
            <a:ext cx="0" cy="836676"/>
          </a:xfrm>
          <a:prstGeom prst="line">
            <a:avLst/>
          </a:prstGeom>
          <a:ln w="38100">
            <a:solidFill>
              <a:srgbClr val="2E7D4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897879" y="3113532"/>
            <a:ext cx="2811779" cy="946403"/>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89154" rIns="89154" tIns="89154" bIns="89154">
            <a:noAutofit/>
          </a:bodyPr>
          <a:lstStyle/>
          <a:p>
            <a:pPr algn="l">
              <a:lnSpc>
                <a:spcPct val="100000"/>
              </a:lnSpc>
              <a:spcBef>
                <a:spcPts val="0"/>
              </a:spcBef>
              <a:spcAft>
                <a:spcPts val="75"/>
              </a:spcAft>
            </a:pPr>
            <a:r>
              <a:rPr sz="1200" b="1" i="0">
                <a:solidFill>
                  <a:srgbClr val="212121"/>
                </a:solidFill>
                <a:latin typeface="Poppins"/>
              </a:rPr>
              <a:t>ConvexAdam MIND</a:t>
            </a:r>
          </a:p>
          <a:p>
            <a:pPr algn="l">
              <a:lnSpc>
                <a:spcPct val="100000"/>
              </a:lnSpc>
              <a:spcBef>
                <a:spcPts val="0"/>
              </a:spcBef>
              <a:spcAft>
                <a:spcPts val="0"/>
              </a:spcAft>
            </a:pPr>
            <a:r>
              <a:rPr sz="1650" b="1" i="0">
                <a:solidFill>
                  <a:srgbClr val="212121"/>
                </a:solidFill>
                <a:latin typeface="Consolas"/>
              </a:rPr>
              <a:t>0.57 / 0.40 mm</a:t>
            </a:r>
          </a:p>
          <a:p>
            <a:pPr algn="l">
              <a:lnSpc>
                <a:spcPct val="100000"/>
              </a:lnSpc>
              <a:spcBef>
                <a:spcPts val="0"/>
              </a:spcBef>
              <a:spcAft>
                <a:spcPts val="75"/>
              </a:spcAft>
            </a:pPr>
            <a:r>
              <a:rPr sz="900" b="1" i="0">
                <a:solidFill>
                  <a:srgbClr val="B03A2E"/>
                </a:solidFill>
                <a:latin typeface="Consolas"/>
              </a:rPr>
              <a:t>1.6 % folded</a:t>
            </a:r>
            <a:r>
              <a:rPr sz="900" b="0" i="0">
                <a:solidFill>
                  <a:srgbClr val="595959"/>
                </a:solidFill>
                <a:latin typeface="Consolas"/>
              </a:rPr>
              <a:t> · max 13.5 mm</a:t>
            </a:r>
          </a:p>
          <a:p>
            <a:pPr algn="l">
              <a:lnSpc>
                <a:spcPct val="100000"/>
              </a:lnSpc>
              <a:spcBef>
                <a:spcPts val="0"/>
              </a:spcBef>
              <a:spcAft>
                <a:spcPts val="0"/>
              </a:spcAft>
            </a:pPr>
            <a:r>
              <a:rPr sz="787" b="0" i="0">
                <a:solidFill>
                  <a:srgbClr val="595959"/>
                </a:solidFill>
                <a:latin typeface="Poppins"/>
              </a:rPr>
              <a:t>subject_m: 0.57 / 0.40 mm · 1.6 % · max 14.5 mm</a:t>
            </a:r>
          </a:p>
        </p:txBody>
      </p:sp>
      <p:cxnSp>
        <p:nvCxnSpPr>
          <p:cNvPr id="18" name="Connector 17"/>
          <p:cNvCxnSpPr/>
          <p:nvPr/>
        </p:nvCxnSpPr>
        <p:spPr>
          <a:xfrm>
            <a:off x="5897879" y="3168396"/>
            <a:ext cx="0" cy="836676"/>
          </a:xfrm>
          <a:prstGeom prst="line">
            <a:avLst/>
          </a:prstGeom>
          <a:ln w="38100">
            <a:solidFill>
              <a:srgbClr val="B03A2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897879" y="4128515"/>
            <a:ext cx="2811779" cy="630936"/>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87" b="0" i="0">
                <a:solidFill>
                  <a:srgbClr val="595959"/>
                </a:solidFill>
                <a:latin typeface="Poppins"/>
              </a:rPr>
              <a:t>subject_v shown; residual = median best shift in 12 mm windows (MI / gradients). Affine alone: 1.26 mm (v), 1.13 mm (m). Our measures, no official criterion.</a:t>
            </a:r>
          </a:p>
        </p:txBody>
      </p:sp>
      <p:pic>
        <p:nvPicPr>
          <p:cNvPr id="20" name="Picture 19" descr="image4.png"/>
          <p:cNvPicPr>
            <a:picLocks noChangeAspect="1"/>
          </p:cNvPicPr>
          <p:nvPr/>
        </p:nvPicPr>
        <p:blipFill>
          <a:blip r:embed="rId4"/>
          <a:stretch>
            <a:fillRect/>
          </a:stretch>
        </p:blipFill>
        <p:spPr>
          <a:xfrm>
            <a:off x="288036" y="4539996"/>
            <a:ext cx="425196" cy="493776"/>
          </a:xfrm>
          <a:prstGeom prst="rect">
            <a:avLst/>
          </a:prstGeom>
        </p:spPr>
      </p:pic>
      <p:sp>
        <p:nvSpPr>
          <p:cNvPr id="21" name="TextBox 20"/>
          <p:cNvSpPr txBox="1"/>
          <p:nvPr/>
        </p:nvSpPr>
        <p:spPr>
          <a:xfrm>
            <a:off x="788669" y="4821174"/>
            <a:ext cx="4114800" cy="205739"/>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50" b="0" i="0">
                <a:solidFill>
                  <a:srgbClr val="595959"/>
                </a:solidFill>
                <a:latin typeface="Poppins"/>
              </a:rPr>
              <a:t>Fideus Labs · KonfAI · impact-reg-konfai</a:t>
            </a:r>
          </a:p>
        </p:txBody>
      </p:sp>
      <p:sp>
        <p:nvSpPr>
          <p:cNvPr id="22" name="TextBox 21"/>
          <p:cNvSpPr txBox="1"/>
          <p:nvPr/>
        </p:nvSpPr>
        <p:spPr>
          <a:xfrm>
            <a:off x="8023859" y="4821174"/>
            <a:ext cx="685800" cy="205739"/>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50" b="0" i="0">
                <a:solidFill>
                  <a:srgbClr val="595959"/>
                </a:solidFill>
                <a:latin typeface="Poppi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493776" cy="521208"/>
          </a:xfrm>
          <a:prstGeom prst="rect">
            <a:avLst/>
          </a:prstGeom>
        </p:spPr>
      </p:pic>
      <p:pic>
        <p:nvPicPr>
          <p:cNvPr id="3" name="Picture 2" descr="image1.png"/>
          <p:cNvPicPr>
            <a:picLocks noChangeAspect="1"/>
          </p:cNvPicPr>
          <p:nvPr/>
        </p:nvPicPr>
        <p:blipFill>
          <a:blip r:embed="rId2"/>
          <a:stretch>
            <a:fillRect/>
          </a:stretch>
        </p:blipFill>
        <p:spPr>
          <a:xfrm rot="10800000">
            <a:off x="8649995" y="4622292"/>
            <a:ext cx="493776" cy="521208"/>
          </a:xfrm>
          <a:prstGeom prst="rect">
            <a:avLst/>
          </a:prstGeom>
        </p:spPr>
      </p:pic>
      <p:sp>
        <p:nvSpPr>
          <p:cNvPr id="4" name="TextBox 3"/>
          <p:cNvSpPr txBox="1"/>
          <p:nvPr/>
        </p:nvSpPr>
        <p:spPr>
          <a:xfrm>
            <a:off x="5692140" y="274320"/>
            <a:ext cx="2482596" cy="233172"/>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87" b="0" i="0">
                <a:solidFill>
                  <a:srgbClr val="595959"/>
                </a:solidFill>
                <a:latin typeface="Poppins"/>
              </a:rPr>
              <a:t>3 · wrap-up</a:t>
            </a:r>
          </a:p>
        </p:txBody>
      </p:sp>
      <p:sp>
        <p:nvSpPr>
          <p:cNvPr id="5" name="Rectangle 4"/>
          <p:cNvSpPr/>
          <p:nvPr/>
        </p:nvSpPr>
        <p:spPr>
          <a:xfrm>
            <a:off x="8243316"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7908"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72500"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288036"/>
            <a:ext cx="8298179" cy="233172"/>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1" i="0">
                <a:solidFill>
                  <a:srgbClr val="0047AB"/>
                </a:solidFill>
                <a:latin typeface="Poppins"/>
              </a:rPr>
              <a:t>TAKE-AWAYS</a:t>
            </a:r>
          </a:p>
        </p:txBody>
      </p:sp>
      <p:sp>
        <p:nvSpPr>
          <p:cNvPr id="9" name="TextBox 8"/>
          <p:cNvSpPr txBox="1"/>
          <p:nvPr/>
        </p:nvSpPr>
        <p:spPr>
          <a:xfrm>
            <a:off x="411479" y="507491"/>
            <a:ext cx="8298179" cy="54864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2400" b="1" i="0">
                <a:solidFill>
                  <a:srgbClr val="0047AB"/>
                </a:solidFill>
                <a:latin typeface="Alegreya"/>
              </a:rPr>
              <a:t>One command, any engine, any loss, any size</a:t>
            </a:r>
          </a:p>
        </p:txBody>
      </p:sp>
      <p:cxnSp>
        <p:nvCxnSpPr>
          <p:cNvPr id="10" name="Connector 9"/>
          <p:cNvCxnSpPr/>
          <p:nvPr/>
        </p:nvCxnSpPr>
        <p:spPr>
          <a:xfrm>
            <a:off x="411479" y="1234440"/>
            <a:ext cx="2647189" cy="0"/>
          </a:xfrm>
          <a:prstGeom prst="line">
            <a:avLst/>
          </a:prstGeom>
          <a:ln w="14287">
            <a:solidFill>
              <a:srgbClr val="21212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79" y="1303019"/>
            <a:ext cx="2647188" cy="1680210"/>
          </a:xfrm>
          <a:prstGeom prst="rect">
            <a:avLst/>
          </a:prstGeom>
          <a:noFill/>
        </p:spPr>
        <p:txBody>
          <a:bodyPr wrap="square" lIns="34290" rIns="34290" tIns="34290" bIns="34290" anchor="t">
            <a:noAutofit/>
          </a:bodyPr>
          <a:lstStyle/>
          <a:p>
            <a:pPr algn="l">
              <a:lnSpc>
                <a:spcPct val="100000"/>
              </a:lnSpc>
              <a:spcBef>
                <a:spcPts val="0"/>
              </a:spcBef>
              <a:spcAft>
                <a:spcPts val="300"/>
              </a:spcAft>
            </a:pPr>
            <a:r>
              <a:rPr sz="3600" b="1" i="0">
                <a:solidFill>
                  <a:srgbClr val="0047AB"/>
                </a:solidFill>
                <a:latin typeface="Poppins"/>
              </a:rPr>
              <a:t>4 steps</a:t>
            </a:r>
          </a:p>
          <a:p>
            <a:pPr algn="l">
              <a:lnSpc>
                <a:spcPct val="100000"/>
              </a:lnSpc>
              <a:spcBef>
                <a:spcPts val="0"/>
              </a:spcBef>
              <a:spcAft>
                <a:spcPts val="450"/>
              </a:spcAft>
            </a:pPr>
            <a:r>
              <a:rPr sz="1425" b="1" i="0">
                <a:solidFill>
                  <a:srgbClr val="212121"/>
                </a:solidFill>
                <a:latin typeface="Poppins"/>
              </a:rPr>
              <a:t>one command</a:t>
            </a:r>
          </a:p>
          <a:p>
            <a:pPr algn="l">
              <a:lnSpc>
                <a:spcPct val="100000"/>
              </a:lnSpc>
              <a:spcBef>
                <a:spcPts val="0"/>
              </a:spcBef>
              <a:spcAft>
                <a:spcPts val="0"/>
              </a:spcAft>
            </a:pPr>
            <a:r>
              <a:rPr sz="1050" b="0" i="0">
                <a:solidFill>
                  <a:srgbClr val="595959"/>
                </a:solidFill>
                <a:latin typeface="Poppins"/>
              </a:rPr>
              <a:t>patches, backend, blend, write; and the loss you choose</a:t>
            </a:r>
          </a:p>
        </p:txBody>
      </p:sp>
      <p:cxnSp>
        <p:nvCxnSpPr>
          <p:cNvPr id="12" name="Connector 11"/>
          <p:cNvCxnSpPr/>
          <p:nvPr/>
        </p:nvCxnSpPr>
        <p:spPr>
          <a:xfrm>
            <a:off x="3236976" y="1234440"/>
            <a:ext cx="2647188" cy="0"/>
          </a:xfrm>
          <a:prstGeom prst="line">
            <a:avLst/>
          </a:prstGeom>
          <a:ln w="14287">
            <a:solidFill>
              <a:srgbClr val="21212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236976" y="1303019"/>
            <a:ext cx="2647188" cy="1680210"/>
          </a:xfrm>
          <a:prstGeom prst="rect">
            <a:avLst/>
          </a:prstGeom>
          <a:noFill/>
        </p:spPr>
        <p:txBody>
          <a:bodyPr wrap="square" lIns="34290" rIns="34290" tIns="34290" bIns="34290" anchor="t">
            <a:noAutofit/>
          </a:bodyPr>
          <a:lstStyle/>
          <a:p>
            <a:pPr algn="l">
              <a:lnSpc>
                <a:spcPct val="100000"/>
              </a:lnSpc>
              <a:spcBef>
                <a:spcPts val="0"/>
              </a:spcBef>
              <a:spcAft>
                <a:spcPts val="300"/>
              </a:spcAft>
            </a:pPr>
            <a:r>
              <a:rPr sz="3600" b="1" i="0">
                <a:solidFill>
                  <a:srgbClr val="0047AB"/>
                </a:solidFill>
                <a:latin typeface="Poppins"/>
              </a:rPr>
              <a:t>908 GiB</a:t>
            </a:r>
          </a:p>
          <a:p>
            <a:pPr algn="l">
              <a:lnSpc>
                <a:spcPct val="100000"/>
              </a:lnSpc>
              <a:spcBef>
                <a:spcPts val="0"/>
              </a:spcBef>
              <a:spcAft>
                <a:spcPts val="450"/>
              </a:spcAft>
            </a:pPr>
            <a:r>
              <a:rPr sz="1425" b="1" i="0">
                <a:solidFill>
                  <a:srgbClr val="212121"/>
                </a:solidFill>
                <a:latin typeface="Poppins"/>
              </a:rPr>
              <a:t>on one 24 GB card</a:t>
            </a:r>
          </a:p>
          <a:p>
            <a:pPr algn="l">
              <a:lnSpc>
                <a:spcPct val="100000"/>
              </a:lnSpc>
              <a:spcBef>
                <a:spcPts val="0"/>
              </a:spcBef>
              <a:spcAft>
                <a:spcPts val="0"/>
              </a:spcAft>
            </a:pPr>
            <a:r>
              <a:rPr sz="1050" b="0" i="0">
                <a:solidFill>
                  <a:srgbClr val="595959"/>
                </a:solidFill>
                <a:latin typeface="Poppins"/>
              </a:rPr>
              <a:t>memory follows the patch, not the volume</a:t>
            </a:r>
          </a:p>
        </p:txBody>
      </p:sp>
      <p:cxnSp>
        <p:nvCxnSpPr>
          <p:cNvPr id="14" name="Connector 13"/>
          <p:cNvCxnSpPr/>
          <p:nvPr/>
        </p:nvCxnSpPr>
        <p:spPr>
          <a:xfrm>
            <a:off x="6062472" y="1234440"/>
            <a:ext cx="2647187" cy="0"/>
          </a:xfrm>
          <a:prstGeom prst="line">
            <a:avLst/>
          </a:prstGeom>
          <a:ln w="14287">
            <a:solidFill>
              <a:srgbClr val="21212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062472" y="1303019"/>
            <a:ext cx="2647188" cy="1680210"/>
          </a:xfrm>
          <a:prstGeom prst="rect">
            <a:avLst/>
          </a:prstGeom>
          <a:noFill/>
        </p:spPr>
        <p:txBody>
          <a:bodyPr wrap="square" lIns="34290" rIns="34290" tIns="34290" bIns="34290" anchor="t">
            <a:noAutofit/>
          </a:bodyPr>
          <a:lstStyle/>
          <a:p>
            <a:pPr algn="l">
              <a:lnSpc>
                <a:spcPct val="100000"/>
              </a:lnSpc>
              <a:spcBef>
                <a:spcPts val="0"/>
              </a:spcBef>
              <a:spcAft>
                <a:spcPts val="300"/>
              </a:spcAft>
            </a:pPr>
            <a:r>
              <a:rPr sz="3600" b="1" i="0">
                <a:solidFill>
                  <a:srgbClr val="0047AB"/>
                </a:solidFill>
                <a:latin typeface="Poppins"/>
              </a:rPr>
              <a:t>OME-Zarr</a:t>
            </a:r>
          </a:p>
          <a:p>
            <a:pPr algn="l">
              <a:lnSpc>
                <a:spcPct val="100000"/>
              </a:lnSpc>
              <a:spcBef>
                <a:spcPts val="0"/>
              </a:spcBef>
              <a:spcAft>
                <a:spcPts val="450"/>
              </a:spcAft>
            </a:pPr>
            <a:r>
              <a:rPr sz="1425" b="1" i="0">
                <a:solidFill>
                  <a:srgbClr val="212121"/>
                </a:solidFill>
                <a:latin typeface="Poppins"/>
              </a:rPr>
              <a:t>fields as RFC-5 transforms</a:t>
            </a:r>
          </a:p>
          <a:p>
            <a:pPr algn="l">
              <a:lnSpc>
                <a:spcPct val="100000"/>
              </a:lnSpc>
              <a:spcBef>
                <a:spcPts val="0"/>
              </a:spcBef>
              <a:spcAft>
                <a:spcPts val="0"/>
              </a:spcAft>
            </a:pPr>
            <a:r>
              <a:rPr sz="1050" b="0" i="0">
                <a:solidFill>
                  <a:srgbClr val="595959"/>
                </a:solidFill>
                <a:latin typeface="Poppins"/>
              </a:rPr>
              <a:t>or ITK transforms; images from ITK, DICOM, HDF5 or OME-Zarr</a:t>
            </a:r>
          </a:p>
        </p:txBody>
      </p:sp>
      <p:sp>
        <p:nvSpPr>
          <p:cNvPr id="16" name="Rounded Rectangle 15"/>
          <p:cNvSpPr/>
          <p:nvPr/>
        </p:nvSpPr>
        <p:spPr>
          <a:xfrm>
            <a:off x="411479" y="3223260"/>
            <a:ext cx="8298179" cy="651509"/>
          </a:xfrm>
          <a:prstGeom prst="roundRect">
            <a:avLst>
              <a:gd name="adj" fmla="val 6000"/>
            </a:avLst>
          </a:prstGeom>
          <a:solidFill>
            <a:srgbClr val="F4F5F7"/>
          </a:solidFill>
          <a:ln w="7143">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96012" tIns="96012" bIns="96012">
            <a:noAutofit/>
          </a:bodyPr>
          <a:lstStyle/>
          <a:p>
            <a:pPr algn="l">
              <a:lnSpc>
                <a:spcPct val="100000"/>
              </a:lnSpc>
              <a:spcBef>
                <a:spcPts val="0"/>
              </a:spcBef>
              <a:spcAft>
                <a:spcPts val="0"/>
              </a:spcAft>
            </a:pPr>
            <a:r>
              <a:rPr sz="975" b="0" i="0">
                <a:solidFill>
                  <a:srgbClr val="212121"/>
                </a:solidFill>
                <a:latin typeface="Consolas"/>
              </a:rPr>
              <a:t>pip install impact-reg-konfai "konfai[omezarr,monitoring,s3]" itk-impact</a:t>
            </a:r>
          </a:p>
          <a:p>
            <a:pPr algn="l">
              <a:lnSpc>
                <a:spcPct val="100000"/>
              </a:lnSpc>
              <a:spcBef>
                <a:spcPts val="0"/>
              </a:spcBef>
              <a:spcAft>
                <a:spcPts val="0"/>
              </a:spcAft>
            </a:pPr>
            <a:r>
              <a:rPr sz="975" b="0" i="0">
                <a:solidFill>
                  <a:srgbClr val="212121"/>
                </a:solidFill>
                <a:latin typeface="Consolas"/>
              </a:rPr>
              <a:t>impact-reg-konfai register FireANTs_SyN -f Fixed.ome.zarr -m Moving.ome.zarr -o out --gpu 0</a:t>
            </a:r>
          </a:p>
        </p:txBody>
      </p:sp>
      <p:sp>
        <p:nvSpPr>
          <p:cNvPr id="17" name="TextBox 16"/>
          <p:cNvSpPr txBox="1"/>
          <p:nvPr/>
        </p:nvSpPr>
        <p:spPr>
          <a:xfrm>
            <a:off x="411479" y="4114800"/>
            <a:ext cx="8298179" cy="425196"/>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1950" b="1" i="0">
                <a:solidFill>
                  <a:srgbClr val="0047AB"/>
                </a:solidFill>
                <a:latin typeface="Poppins"/>
              </a:rPr>
              <a:t>Thank you</a:t>
            </a:r>
          </a:p>
        </p:txBody>
      </p:sp>
      <p:pic>
        <p:nvPicPr>
          <p:cNvPr id="18" name="Picture 17" descr="image4.png"/>
          <p:cNvPicPr>
            <a:picLocks noChangeAspect="1"/>
          </p:cNvPicPr>
          <p:nvPr/>
        </p:nvPicPr>
        <p:blipFill>
          <a:blip r:embed="rId3"/>
          <a:stretch>
            <a:fillRect/>
          </a:stretch>
        </p:blipFill>
        <p:spPr>
          <a:xfrm>
            <a:off x="288036" y="4539996"/>
            <a:ext cx="425196" cy="493776"/>
          </a:xfrm>
          <a:prstGeom prst="rect">
            <a:avLst/>
          </a:prstGeom>
        </p:spPr>
      </p:pic>
      <p:sp>
        <p:nvSpPr>
          <p:cNvPr id="19" name="TextBox 18"/>
          <p:cNvSpPr txBox="1"/>
          <p:nvPr/>
        </p:nvSpPr>
        <p:spPr>
          <a:xfrm>
            <a:off x="788669" y="4821174"/>
            <a:ext cx="4114800" cy="205739"/>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50" b="0" i="0">
                <a:solidFill>
                  <a:srgbClr val="595959"/>
                </a:solidFill>
                <a:latin typeface="Poppins"/>
              </a:rPr>
              <a:t>Fideus Labs · KonfAI · impact-reg-konfai</a:t>
            </a:r>
          </a:p>
        </p:txBody>
      </p:sp>
      <p:sp>
        <p:nvSpPr>
          <p:cNvPr id="20" name="TextBox 19"/>
          <p:cNvSpPr txBox="1"/>
          <p:nvPr/>
        </p:nvSpPr>
        <p:spPr>
          <a:xfrm>
            <a:off x="8023859" y="4821174"/>
            <a:ext cx="685800" cy="205739"/>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50" b="0" i="0">
                <a:solidFill>
                  <a:srgbClr val="595959"/>
                </a:solidFill>
                <a:latin typeface="Poppi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493776" cy="521208"/>
          </a:xfrm>
          <a:prstGeom prst="rect">
            <a:avLst/>
          </a:prstGeom>
        </p:spPr>
      </p:pic>
      <p:pic>
        <p:nvPicPr>
          <p:cNvPr id="3" name="Picture 2" descr="image1.png"/>
          <p:cNvPicPr>
            <a:picLocks noChangeAspect="1"/>
          </p:cNvPicPr>
          <p:nvPr/>
        </p:nvPicPr>
        <p:blipFill>
          <a:blip r:embed="rId2"/>
          <a:stretch>
            <a:fillRect/>
          </a:stretch>
        </p:blipFill>
        <p:spPr>
          <a:xfrm rot="10800000">
            <a:off x="8649995" y="4622292"/>
            <a:ext cx="493776" cy="521208"/>
          </a:xfrm>
          <a:prstGeom prst="rect">
            <a:avLst/>
          </a:prstGeom>
        </p:spPr>
      </p:pic>
      <p:sp>
        <p:nvSpPr>
          <p:cNvPr id="4" name="TextBox 3"/>
          <p:cNvSpPr txBox="1"/>
          <p:nvPr/>
        </p:nvSpPr>
        <p:spPr>
          <a:xfrm>
            <a:off x="5692140" y="274320"/>
            <a:ext cx="2482596" cy="233172"/>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87" b="0" i="0">
                <a:solidFill>
                  <a:srgbClr val="595959"/>
                </a:solidFill>
                <a:latin typeface="Poppins"/>
              </a:rPr>
              <a:t>backup</a:t>
            </a:r>
          </a:p>
        </p:txBody>
      </p:sp>
      <p:sp>
        <p:nvSpPr>
          <p:cNvPr id="5" name="Rectangle 4"/>
          <p:cNvSpPr/>
          <p:nvPr/>
        </p:nvSpPr>
        <p:spPr>
          <a:xfrm>
            <a:off x="8243316"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7908"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72500" y="322326"/>
            <a:ext cx="109728" cy="109728"/>
          </a:xfrm>
          <a:prstGeom prst="rect">
            <a:avLst/>
          </a:prstGeom>
          <a:solidFill>
            <a:srgbClr val="004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288036"/>
            <a:ext cx="8298179" cy="233172"/>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825" b="1" i="0">
                <a:solidFill>
                  <a:srgbClr val="0047AB"/>
                </a:solidFill>
                <a:latin typeface="Poppins"/>
              </a:rPr>
              <a:t>BACKUP</a:t>
            </a:r>
            <a:r>
              <a:rPr sz="825" b="0" i="0">
                <a:solidFill>
                  <a:srgbClr val="595959"/>
                </a:solidFill>
                <a:latin typeface="Poppins"/>
              </a:rPr>
              <a:t>    for questions</a:t>
            </a:r>
          </a:p>
        </p:txBody>
      </p:sp>
      <p:sp>
        <p:nvSpPr>
          <p:cNvPr id="9" name="TextBox 8"/>
          <p:cNvSpPr txBox="1"/>
          <p:nvPr/>
        </p:nvSpPr>
        <p:spPr>
          <a:xfrm>
            <a:off x="411479" y="507491"/>
            <a:ext cx="8298179" cy="548640"/>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2400" b="1" i="0">
                <a:solidFill>
                  <a:srgbClr val="0047AB"/>
                </a:solidFill>
                <a:latin typeface="Alegreya"/>
              </a:rPr>
              <a:t>Flicker: retardance and FA on the 24 mm box</a:t>
            </a:r>
          </a:p>
        </p:txBody>
      </p:sp>
      <p:sp>
        <p:nvSpPr>
          <p:cNvPr id="10" name="TextBox 9"/>
          <p:cNvSpPr txBox="1"/>
          <p:nvPr/>
        </p:nvSpPr>
        <p:spPr>
          <a:xfrm>
            <a:off x="411479" y="1817369"/>
            <a:ext cx="1988819" cy="342900"/>
          </a:xfrm>
          <a:prstGeom prst="rect">
            <a:avLst/>
          </a:prstGeom>
          <a:noFill/>
        </p:spPr>
        <p:txBody>
          <a:bodyPr wrap="square" lIns="34290" rIns="34290" tIns="34290" bIns="34290" anchor="ctr">
            <a:noAutofit/>
          </a:bodyPr>
          <a:lstStyle/>
          <a:p>
            <a:pPr algn="r">
              <a:lnSpc>
                <a:spcPct val="100000"/>
              </a:lnSpc>
              <a:spcBef>
                <a:spcPts val="0"/>
              </a:spcBef>
              <a:spcAft>
                <a:spcPts val="0"/>
              </a:spcAft>
            </a:pPr>
            <a:r>
              <a:rPr sz="1200" b="1" i="0">
                <a:solidFill>
                  <a:srgbClr val="212121"/>
                </a:solidFill>
                <a:latin typeface="Poppins"/>
              </a:rPr>
              <a:t>subject_v</a:t>
            </a:r>
          </a:p>
        </p:txBody>
      </p:sp>
      <p:pic>
        <p:nvPicPr>
          <p:cNvPr id="11" name="Picture 10" descr="subject_v_VB_flicker_affine.gif"/>
          <p:cNvPicPr>
            <a:picLocks noChangeAspect="1"/>
          </p:cNvPicPr>
          <p:nvPr/>
        </p:nvPicPr>
        <p:blipFill>
          <a:blip r:embed="rId3"/>
          <a:stretch>
            <a:fillRect/>
          </a:stretch>
        </p:blipFill>
        <p:spPr>
          <a:xfrm>
            <a:off x="2891675" y="1200150"/>
            <a:ext cx="1577339" cy="1577339"/>
          </a:xfrm>
          <a:prstGeom prst="rect">
            <a:avLst/>
          </a:prstGeom>
        </p:spPr>
      </p:pic>
      <p:pic>
        <p:nvPicPr>
          <p:cNvPr id="12" name="Picture 11" descr="subject_v_VB_flicker_fireants.gif"/>
          <p:cNvPicPr>
            <a:picLocks noChangeAspect="1"/>
          </p:cNvPicPr>
          <p:nvPr/>
        </p:nvPicPr>
        <p:blipFill>
          <a:blip r:embed="rId4"/>
          <a:stretch>
            <a:fillRect/>
          </a:stretch>
        </p:blipFill>
        <p:spPr>
          <a:xfrm>
            <a:off x="4674755" y="1200150"/>
            <a:ext cx="1577339" cy="1577339"/>
          </a:xfrm>
          <a:prstGeom prst="rect">
            <a:avLst/>
          </a:prstGeom>
        </p:spPr>
      </p:pic>
      <p:sp>
        <p:nvSpPr>
          <p:cNvPr id="13" name="TextBox 12"/>
          <p:cNvSpPr txBox="1"/>
          <p:nvPr/>
        </p:nvSpPr>
        <p:spPr>
          <a:xfrm>
            <a:off x="411479" y="3531870"/>
            <a:ext cx="1988819" cy="342900"/>
          </a:xfrm>
          <a:prstGeom prst="rect">
            <a:avLst/>
          </a:prstGeom>
          <a:noFill/>
        </p:spPr>
        <p:txBody>
          <a:bodyPr wrap="square" lIns="34290" rIns="34290" tIns="34290" bIns="34290" anchor="ctr">
            <a:noAutofit/>
          </a:bodyPr>
          <a:lstStyle/>
          <a:p>
            <a:pPr algn="r">
              <a:lnSpc>
                <a:spcPct val="100000"/>
              </a:lnSpc>
              <a:spcBef>
                <a:spcPts val="0"/>
              </a:spcBef>
              <a:spcAft>
                <a:spcPts val="0"/>
              </a:spcAft>
            </a:pPr>
            <a:r>
              <a:rPr sz="1200" b="1" i="0">
                <a:solidFill>
                  <a:srgbClr val="212121"/>
                </a:solidFill>
                <a:latin typeface="Poppins"/>
              </a:rPr>
              <a:t>subject_m</a:t>
            </a:r>
          </a:p>
        </p:txBody>
      </p:sp>
      <p:pic>
        <p:nvPicPr>
          <p:cNvPr id="14" name="Picture 13" descr="subject_m_VB_flicker_affine.gif"/>
          <p:cNvPicPr>
            <a:picLocks noChangeAspect="1"/>
          </p:cNvPicPr>
          <p:nvPr/>
        </p:nvPicPr>
        <p:blipFill>
          <a:blip r:embed="rId5"/>
          <a:stretch>
            <a:fillRect/>
          </a:stretch>
        </p:blipFill>
        <p:spPr>
          <a:xfrm>
            <a:off x="2891675" y="2914650"/>
            <a:ext cx="1577339" cy="1577339"/>
          </a:xfrm>
          <a:prstGeom prst="rect">
            <a:avLst/>
          </a:prstGeom>
        </p:spPr>
      </p:pic>
      <p:pic>
        <p:nvPicPr>
          <p:cNvPr id="15" name="Picture 14" descr="subject_m_VB_flicker_fireants.gif"/>
          <p:cNvPicPr>
            <a:picLocks noChangeAspect="1"/>
          </p:cNvPicPr>
          <p:nvPr/>
        </p:nvPicPr>
        <p:blipFill>
          <a:blip r:embed="rId6"/>
          <a:stretch>
            <a:fillRect/>
          </a:stretch>
        </p:blipFill>
        <p:spPr>
          <a:xfrm>
            <a:off x="4674755" y="2914650"/>
            <a:ext cx="1577339" cy="1577339"/>
          </a:xfrm>
          <a:prstGeom prst="rect">
            <a:avLst/>
          </a:prstGeom>
        </p:spPr>
      </p:pic>
      <p:sp>
        <p:nvSpPr>
          <p:cNvPr id="16" name="TextBox 15"/>
          <p:cNvSpPr txBox="1"/>
          <p:nvPr/>
        </p:nvSpPr>
        <p:spPr>
          <a:xfrm>
            <a:off x="2891675" y="946403"/>
            <a:ext cx="1577339" cy="246888"/>
          </a:xfrm>
          <a:prstGeom prst="rect">
            <a:avLst/>
          </a:prstGeom>
          <a:noFill/>
        </p:spPr>
        <p:txBody>
          <a:bodyPr wrap="square" lIns="34290" rIns="34290" tIns="34290" bIns="34290" anchor="t">
            <a:noAutofit/>
          </a:bodyPr>
          <a:lstStyle/>
          <a:p>
            <a:pPr algn="ctr">
              <a:lnSpc>
                <a:spcPct val="100000"/>
              </a:lnSpc>
              <a:spcBef>
                <a:spcPts val="0"/>
              </a:spcBef>
              <a:spcAft>
                <a:spcPts val="0"/>
              </a:spcAft>
            </a:pPr>
            <a:r>
              <a:rPr sz="1050" b="1" i="0">
                <a:solidFill>
                  <a:srgbClr val="212121"/>
                </a:solidFill>
                <a:latin typeface="Poppins"/>
              </a:rPr>
              <a:t>affine only</a:t>
            </a:r>
          </a:p>
        </p:txBody>
      </p:sp>
      <p:sp>
        <p:nvSpPr>
          <p:cNvPr id="17" name="TextBox 16"/>
          <p:cNvSpPr txBox="1"/>
          <p:nvPr/>
        </p:nvSpPr>
        <p:spPr>
          <a:xfrm>
            <a:off x="4674755" y="946403"/>
            <a:ext cx="1577339" cy="246888"/>
          </a:xfrm>
          <a:prstGeom prst="rect">
            <a:avLst/>
          </a:prstGeom>
          <a:noFill/>
        </p:spPr>
        <p:txBody>
          <a:bodyPr wrap="square" lIns="34290" rIns="34290" tIns="34290" bIns="34290" anchor="t">
            <a:noAutofit/>
          </a:bodyPr>
          <a:lstStyle/>
          <a:p>
            <a:pPr algn="ctr">
              <a:lnSpc>
                <a:spcPct val="100000"/>
              </a:lnSpc>
              <a:spcBef>
                <a:spcPts val="0"/>
              </a:spcBef>
              <a:spcAft>
                <a:spcPts val="0"/>
              </a:spcAft>
            </a:pPr>
            <a:r>
              <a:rPr sz="1050" b="1" i="0">
                <a:solidFill>
                  <a:srgbClr val="212121"/>
                </a:solidFill>
                <a:latin typeface="Poppins"/>
              </a:rPr>
              <a:t>FireANTs SyN CC</a:t>
            </a:r>
          </a:p>
        </p:txBody>
      </p:sp>
      <p:sp>
        <p:nvSpPr>
          <p:cNvPr id="18" name="TextBox 17"/>
          <p:cNvSpPr txBox="1"/>
          <p:nvPr/>
        </p:nvSpPr>
        <p:spPr>
          <a:xfrm>
            <a:off x="411479" y="4491990"/>
            <a:ext cx="8298179" cy="274320"/>
          </a:xfrm>
          <a:prstGeom prst="rect">
            <a:avLst/>
          </a:prstGeom>
          <a:noFill/>
        </p:spPr>
        <p:txBody>
          <a:bodyPr wrap="square" lIns="34290" rIns="34290" tIns="34290" bIns="34290" anchor="t">
            <a:noAutofit/>
          </a:bodyPr>
          <a:lstStyle/>
          <a:p>
            <a:pPr algn="ctr">
              <a:lnSpc>
                <a:spcPct val="100000"/>
              </a:lnSpc>
              <a:spcBef>
                <a:spcPts val="0"/>
              </a:spcBef>
              <a:spcAft>
                <a:spcPts val="0"/>
              </a:spcAft>
            </a:pPr>
            <a:r>
              <a:rPr sz="825" b="0" i="0">
                <a:solidFill>
                  <a:srgbClr val="595959"/>
                </a:solidFill>
                <a:latin typeface="Poppins"/>
              </a:rPr>
              <a:t>retardance and FA alternate every 0.7 s (plays in slideshow mode) · aligned = the tracts stay put when the image switches</a:t>
            </a:r>
          </a:p>
        </p:txBody>
      </p:sp>
      <p:pic>
        <p:nvPicPr>
          <p:cNvPr id="19" name="Picture 18" descr="image4.png"/>
          <p:cNvPicPr>
            <a:picLocks noChangeAspect="1"/>
          </p:cNvPicPr>
          <p:nvPr/>
        </p:nvPicPr>
        <p:blipFill>
          <a:blip r:embed="rId7"/>
          <a:stretch>
            <a:fillRect/>
          </a:stretch>
        </p:blipFill>
        <p:spPr>
          <a:xfrm>
            <a:off x="288036" y="4539996"/>
            <a:ext cx="425196" cy="493776"/>
          </a:xfrm>
          <a:prstGeom prst="rect">
            <a:avLst/>
          </a:prstGeom>
        </p:spPr>
      </p:pic>
      <p:sp>
        <p:nvSpPr>
          <p:cNvPr id="20" name="TextBox 19"/>
          <p:cNvSpPr txBox="1"/>
          <p:nvPr/>
        </p:nvSpPr>
        <p:spPr>
          <a:xfrm>
            <a:off x="788669" y="4821174"/>
            <a:ext cx="4114800" cy="205739"/>
          </a:xfrm>
          <a:prstGeom prst="rect">
            <a:avLst/>
          </a:prstGeom>
          <a:noFill/>
        </p:spPr>
        <p:txBody>
          <a:bodyPr wrap="square" lIns="34290" rIns="34290" tIns="34290" bIns="34290" anchor="t">
            <a:noAutofit/>
          </a:bodyPr>
          <a:lstStyle/>
          <a:p>
            <a:pPr algn="l">
              <a:lnSpc>
                <a:spcPct val="100000"/>
              </a:lnSpc>
              <a:spcBef>
                <a:spcPts val="0"/>
              </a:spcBef>
              <a:spcAft>
                <a:spcPts val="0"/>
              </a:spcAft>
            </a:pPr>
            <a:r>
              <a:rPr sz="750" b="0" i="0">
                <a:solidFill>
                  <a:srgbClr val="595959"/>
                </a:solidFill>
                <a:latin typeface="Poppins"/>
              </a:rPr>
              <a:t>Fideus Labs · KonfAI · impact-reg-konfai</a:t>
            </a:r>
          </a:p>
        </p:txBody>
      </p:sp>
      <p:sp>
        <p:nvSpPr>
          <p:cNvPr id="21" name="TextBox 20"/>
          <p:cNvSpPr txBox="1"/>
          <p:nvPr/>
        </p:nvSpPr>
        <p:spPr>
          <a:xfrm>
            <a:off x="8023859" y="4821174"/>
            <a:ext cx="685800" cy="205739"/>
          </a:xfrm>
          <a:prstGeom prst="rect">
            <a:avLst/>
          </a:prstGeom>
          <a:noFill/>
        </p:spPr>
        <p:txBody>
          <a:bodyPr wrap="square" lIns="34290" rIns="34290" tIns="34290" bIns="34290" anchor="t">
            <a:noAutofit/>
          </a:bodyPr>
          <a:lstStyle/>
          <a:p>
            <a:pPr algn="r">
              <a:lnSpc>
                <a:spcPct val="100000"/>
              </a:lnSpc>
              <a:spcBef>
                <a:spcPts val="0"/>
              </a:spcBef>
              <a:spcAft>
                <a:spcPts val="0"/>
              </a:spcAft>
            </a:pPr>
            <a:r>
              <a:rPr sz="750" b="0" i="0">
                <a:solidFill>
                  <a:srgbClr val="595959"/>
                </a:solidFill>
                <a:latin typeface="Poppin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
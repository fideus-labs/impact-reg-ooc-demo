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We run it with KonfAI, on volumes that don't fit in memory.</a:t>
            </a:r>
          </a:p>
          <a:p/>
          <a:p>
            <a:r>
              <a:t>The whole talk hangs on one idea: the registration engine only ever sees a patch. A volume that fits is just the case of one patch. Everything follows from that: which engine you can plug in, how the tiles are joined, how the field is written, and what is compared inside the patch, which is where IMPACT comes in.</a:t>
            </a:r>
          </a:p>
          <a:p/>
          <a:p>
            <a:r>
              <a:t>Part one, how it works. Part two, what it did on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LINC hemisphere: 908 gigabytes, in an OME-Zarr store, on disk or on S3. KonfAI never loads it. It cuts it into patches and reads one region at a time: the patch, plus a halo around it, which is the overlap with its neighbours. And it only decodes the chunks that region touches. A fifteen-millimetre window of the finest level costs 864 megabytes to read, out of 908 gigabytes.</a:t>
            </a:r>
          </a:p>
          <a:p/>
          <a:p>
            <a:r>
              <a:t>That's two settings in the preset: patch size and overlap. Leave the patch size out, and the whole volume is one patch. Set one, and you get tiles, with the same command. So GPU memory follows the patch, not the volume.</a:t>
            </a:r>
          </a:p>
          <a:p/>
          <a:p>
            <a:r>
              <a:t>And what does the engine do with a patch? Step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a:t>
            </a:r>
          </a:p>
          <a:p/>
          <a:p>
            <a:r>
              <a:t>Step two, the backend. Because the engine only sees patches, its contract is simple: a fixed patch and a moving patch go in, one patch of displacement comes out.</a:t>
            </a:r>
          </a:p>
          <a:p/>
          <a:p>
            <a:r>
              <a:t>Anything that honours that contract can be the engine. elastix: a B-spline with mutual information and a bending penalty. FireANTs: symmetric diffeomorphic SyN on the GPU. ConvexAdam: coupled convex optimisation refined with Adam, on MIND features. Same patches in, same field out, so switching engines means changing the preset name.</a:t>
            </a:r>
          </a:p>
          <a:p/>
          <a:p>
            <a:r>
              <a:t>What differs is memory, and the tile sets it. Here's the whole level-3 hemisphere, 1.8 gigabytes, in tiles, on one card. elastix peaks at 16.5 gigabytes with tiles of 256 cubed. FireANTs, 18.1 gigabytes with tiles of 192 cubed. ConvexAdam, 9.5 gigabytes with tiles of 192 cubed. Every tile completes, and every run writes its field. An engine that needs more memory gets a smaller tile: one line.</a:t>
            </a:r>
          </a:p>
          <a:p/>
          <a:p>
            <a:r>
              <a:t>But each patch was registered without seeing its neighbours. Step three: how they meet.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it never saw its neighbour. That's what the halo is for. We don't cut and paste tiles. Each patch gets a weight that fades to zero before its edge, while its neighbour's weight rises, and at every voxel the weights sum to one: a partition of unity.</a:t>
            </a:r>
          </a:p>
          <a:p/>
          <a:p>
            <a:r>
              <a:t>Top, two patches of displacement that don't quite agree in the overlap. Middle, their weights. Bottom, the blended field: one continuous field.</a:t>
            </a:r>
          </a:p>
          <a:p/>
          <a:p>
            <a:r>
              <a:t>And we checked it. On a known deformation of the light-sheet section, the tiled registration brings the error from 20.8 down to 5.6 microns, and the field's step at the tile planes is the same as anywhere else. No seam.</a:t>
            </a:r>
          </a:p>
          <a:p/>
          <a:p>
            <a:r>
              <a:t>That field is as big as the volume. Step four: writing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the same way the volume was read.</a:t>
            </a:r>
          </a:p>
          <a:p/>
          <a:p>
            <a:r>
              <a:t>On the way in, KonfAI reads ITK images like NIfTI or MetaImage, DICOM, HDF5, and OME-Zarr, local or straight from S3. On the way out, the field is an ITK displacement field that opens in 3D Slicer, and KonfAI's OME-Zarr writer stores the same field as OME-Zarr RFC-5, with a displacements transformation any OME-Zarr-aware tool can apply. And the moved image comes back in your moving image's own format.</a:t>
            </a:r>
          </a:p>
          <a:p/>
          <a:p>
            <a:r>
              <a:t>That's the pipeline. One thing is left: what the engine compares inside the patch. The loss.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Inside the patch, the engine compares something, and for every backend you choose what. The usual choice is intensity: mutual information, cross-correlation. IMPACT is the other choice: it compares the feature maps of a pretrained network, a segmentation model in particular.</a:t>
            </a:r>
          </a:p>
          <a:p/>
          <a:p>
            <a:r>
              <a:t>Why? Because two modalities share no intensity, but the features a segmentation network computes, they do share. Here are the competition's two images, the retardance on top and the registered FA below, through four extractors: MIND, which is handcrafted, then TotalSegmentator, SAM and Anatomix. For each model, both rows use the same colour basis, so the same colour means the same features, even though the images look nothing alike.</a:t>
            </a:r>
          </a:p>
          <a:p/>
          <a:p>
            <a:r>
              <a:t>TotalSegmentator is our default. It's trained on CT and MR, and it's what we use in radiotherapy. You can use the maps as they are, that's Static mode, or backpropagate through the network, that's Jacobian mode. And like the engine, it's one setting in the preset.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s)</a:t>
            </a:r>
          </a:p>
          <a:p/>
          <a:p>
            <a:r>
              <a:t>So that's the pipeline. Part one claimed three things: any engine, any size, any loss. Part two puts them to work on the hackathon data. First the LINC hemisphere, 908 gigabytes: the diffusion MRI brought onto its X-ray, and a zoom scan brought onto its overview. Then the competition pair, with intensity losses and with IMPACT features.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The LINC hemisphere: 908 gigabytes of synchrotron X-ray at 20 microns, and a 24-megabyte diffusion MRI map to bring into it. Each bar is one level of the pyramid, on a log scale, against one card.</a:t>
            </a:r>
          </a:p>
          <a:p/>
          <a:p>
            <a:r>
              <a:t>At level 4, the hemisphere fits in memory, so the first deformable runs on all of it in one pass, in about two minutes. Every level down is eight times bigger, and runs the same command in tiles: 125 tiles for the whole of level 3, 294 tiles for the zoom box at 40 microns, and 125 tiles for a fifteen-millimetre window of level 0.</a:t>
            </a:r>
          </a:p>
          <a:p/>
          <a:p>
            <a:r>
              <a:t>The run time goes up. The command doesn't change, and neither does the card.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First, the diffusion MRI onto the X-ray. On the left, level 4: the MRI outline in blue after the affine, in gold after the deformable.</a:t>
            </a:r>
          </a:p>
          <a:p/>
          <a:p>
            <a:r>
              <a:t>That deformable moves the MRI by 1.65 millimetres at the median, which you can't judge by eye on a whole brain. So we score against something the engine never saw: the consortium's own alignment of the same MRI map. The correlation with it is 0.764 after the affine, 0.888 after level 4 in one pass, 0.929 after the 125 tiles of level 3, and 0.955 in a 20-micron window, in tiles again. Every level brings it closer, and at the tile planes the field changes no more than anywhere else.</a:t>
            </a:r>
          </a:p>
          <a:p/>
          <a:p>
            <a:r>
              <a:t>Now one step further: X-ray against X-ray.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The same hemisphere was scanned again at 4.3 microns: zoom 1, 602 gigabytes. The consortium placed it on the 20-micron overview by hand. Top: that placement. The gold lines are the overview's edges, and the zoom's edges sit beside them.</a:t>
            </a:r>
          </a:p>
          <a:p/>
          <a:p>
            <a:r>
              <a:t>A rigid correction at 80 microns helps a little: the median residual goes from 0.45 to 0.33 millimetres. Then 294 tiles at 40 microns, 35 minutes. Bottom: the edges sit on the gold lines. The median residual is under 0.02 millimetres, within one voxel of the overview, measured in eight windows no run ever saw.</a:t>
            </a:r>
          </a:p>
          <a:p/>
          <a:p>
            <a:r>
              <a:t>Last, the competition pair, where the loss comes 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the FA's 0.4-millimetre grid, through the same pipeline.</a:t>
            </a:r>
          </a:p>
          <a:p/>
          <a:p>
            <a:r>
              <a:t>The gold line is the retardance's white matter, the same in every panel; the grey image is the FA, moving. After the affine alone, look at the zoom: the tract sits next to the gold line. After each registration, it sits under it.</a:t>
            </a:r>
          </a:p>
          <a:p/>
          <a:p>
            <a:r>
              <a:t>In numbers. After the affine, the residual is 1.26 millimetres on subject v. There, elastix, FireANTs, and FireANTs with IMPACT all reach 0.40, one grid step. On subject m, FireANTs with cross-correlation reaches 0.40, elastix and FireANTs with IMPACT 0.57. None of the three folds any tissue. So IMPACT features from TotalSegmentator, swapped in for cross-correlation, land within one grid step of it, with no folding. ConvexAdam aligns the inside too, but folds 1.6 percent of the tissue, with displacements up to 13.5 millimetres.</a:t>
            </a:r>
          </a:p>
          <a:p/>
          <a:p>
            <a:r>
              <a:t>These are our measures; the competition sets no criterion.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The engine only ever sees a patch. So any engine that takes two patches plugs in, any size runs on one card with the same command, the tiles join without a seam, and the field comes out as OME-Zarr RFC-5.</a:t>
            </a:r>
          </a:p>
          <a:p/>
          <a:p>
            <a:r>
              <a:t>And inside the patch, the loss is yours: with IMPACT, what a segmentation model sees.</a:t>
            </a:r>
          </a:p>
          <a:p/>
          <a:p>
            <a:r>
              <a:t>It's all a pip install away.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48939"/>
            <a:ext cx="4526279" cy="65150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0" i="0">
                <a:solidFill>
                  <a:srgbClr val="808080"/>
                </a:solidFill>
                <a:latin typeface="Poppins"/>
              </a:rPr>
              <a:t>with KonfAI, where the engine only ever sees a patch: elastix · FireANTs · ConvexAdam, out of core, fields as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engine only ever sees a patch</a:t>
            </a:r>
          </a:p>
        </p:txBody>
      </p:sp>
      <p:sp>
        <p:nvSpPr>
          <p:cNvPr id="15" name="Rounded Rectangle 14"/>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pct_level4.png"/>
          <p:cNvPicPr>
            <a:picLocks noChangeAspect="1"/>
          </p:cNvPicPr>
          <p:nvPr/>
        </p:nvPicPr>
        <p:blipFill>
          <a:blip r:embed="rId3"/>
          <a:stretch>
            <a:fillRect/>
          </a:stretch>
        </p:blipFill>
        <p:spPr>
          <a:xfrm>
            <a:off x="1194435" y="1577339"/>
            <a:ext cx="2137410" cy="2640330"/>
          </a:xfrm>
          <a:prstGeom prst="rect">
            <a:avLst/>
          </a:prstGeom>
        </p:spPr>
      </p:pic>
      <p:cxnSp>
        <p:nvCxnSpPr>
          <p:cNvPr id="17" name="Connector 16"/>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31" name="Connector 30"/>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3" name="TextBox 32"/>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hemisphere on disk, in OME-Zarr, local or on S3. It is never loaded.</a:t>
            </a:r>
          </a:p>
        </p:txBody>
      </p:sp>
      <p:sp>
        <p:nvSpPr>
          <p:cNvPr id="34" name="TextBox 33"/>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864 MiB</a:t>
            </a:r>
          </a:p>
          <a:p>
            <a:pPr algn="l">
              <a:lnSpc>
                <a:spcPct val="100000"/>
              </a:lnSpc>
              <a:spcBef>
                <a:spcPts val="0"/>
              </a:spcBef>
              <a:spcAft>
                <a:spcPts val="0"/>
              </a:spcAft>
            </a:pPr>
            <a:r>
              <a:rPr sz="975" b="0" i="0">
                <a:solidFill>
                  <a:srgbClr val="595959"/>
                </a:solidFill>
                <a:latin typeface="Poppins"/>
              </a:rPr>
              <a:t>read for a 15 mm window of its finest level: only the chunks the window touches.</a:t>
            </a:r>
          </a:p>
        </p:txBody>
      </p:sp>
      <p:sp>
        <p:nvSpPr>
          <p:cNvPr id="35" name="TextBox 34"/>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the whole volume is one patch.</a:t>
            </a:r>
          </a:p>
        </p:txBody>
      </p:sp>
      <p:sp>
        <p:nvSpPr>
          <p:cNvPr id="36" name="Rounded Rectangle 35"/>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7" name="TextBox 36"/>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GPU memory follows the patch, not the volume</a:t>
            </a:r>
          </a:p>
        </p:txBody>
      </p:sp>
      <p:pic>
        <p:nvPicPr>
          <p:cNvPr id="38" name="Picture 37" descr="image4.png"/>
          <p:cNvPicPr>
            <a:picLocks noChangeAspect="1"/>
          </p:cNvPicPr>
          <p:nvPr/>
        </p:nvPicPr>
        <p:blipFill>
          <a:blip r:embed="rId4"/>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Two patches in, one displacement patch out</a:t>
            </a:r>
          </a:p>
        </p:txBody>
      </p:sp>
      <p:sp>
        <p:nvSpPr>
          <p:cNvPr id="15" name="Rounded Rectangle 14"/>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6" name="Rounded Rectangle 15"/>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7" name="Right Arrow 16"/>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9" name="Right Arrow 18"/>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7" name="TextBox 36"/>
          <p:cNvSpPr txBox="1"/>
          <p:nvPr/>
        </p:nvSpPr>
        <p:spPr>
          <a:xfrm>
            <a:off x="411479" y="2606039"/>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every engine on one card: the level-3 hemisphere, 1.78 GiB, in tiles</a:t>
            </a:r>
          </a:p>
        </p:txBody>
      </p:sp>
      <p:cxnSp>
        <p:nvCxnSpPr>
          <p:cNvPr id="38" name="Connector 37"/>
          <p:cNvCxnSpPr/>
          <p:nvPr/>
        </p:nvCxnSpPr>
        <p:spPr>
          <a:xfrm>
            <a:off x="7029450" y="2914650"/>
            <a:ext cx="0" cy="1186434"/>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275070" y="4101084"/>
            <a:ext cx="150876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the card: 23.4 GiB</a:t>
            </a:r>
          </a:p>
        </p:txBody>
      </p:sp>
      <p:sp>
        <p:nvSpPr>
          <p:cNvPr id="40" name="TextBox 39"/>
          <p:cNvSpPr txBox="1"/>
          <p:nvPr/>
        </p:nvSpPr>
        <p:spPr>
          <a:xfrm>
            <a:off x="411479" y="2935224"/>
            <a:ext cx="147446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elastix</a:t>
            </a:r>
          </a:p>
          <a:p>
            <a:pPr algn="l">
              <a:lnSpc>
                <a:spcPct val="100000"/>
              </a:lnSpc>
              <a:spcBef>
                <a:spcPts val="0"/>
              </a:spcBef>
              <a:spcAft>
                <a:spcPts val="0"/>
              </a:spcAft>
            </a:pPr>
            <a:r>
              <a:rPr sz="825" b="0" i="0">
                <a:solidFill>
                  <a:srgbClr val="595959"/>
                </a:solidFill>
                <a:latin typeface="Consolas"/>
              </a:rPr>
              <a:t>tiles of 256³</a:t>
            </a:r>
          </a:p>
        </p:txBody>
      </p:sp>
      <p:sp>
        <p:nvSpPr>
          <p:cNvPr id="41" name="Rectangle 40"/>
          <p:cNvSpPr/>
          <p:nvPr/>
        </p:nvSpPr>
        <p:spPr>
          <a:xfrm>
            <a:off x="1954530" y="2976372"/>
            <a:ext cx="3569911"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954530" y="2948939"/>
            <a:ext cx="3501331"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FFFFFF"/>
                </a:solidFill>
                <a:latin typeface="Consolas"/>
              </a:rPr>
              <a:t>16.5 GiB</a:t>
            </a:r>
          </a:p>
        </p:txBody>
      </p:sp>
      <p:sp>
        <p:nvSpPr>
          <p:cNvPr id="43" name="TextBox 42"/>
          <p:cNvSpPr txBox="1"/>
          <p:nvPr/>
        </p:nvSpPr>
        <p:spPr>
          <a:xfrm>
            <a:off x="7098029" y="2948939"/>
            <a:ext cx="1611630"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787" b="0" i="0">
                <a:solidFill>
                  <a:srgbClr val="595959"/>
                </a:solidFill>
                <a:latin typeface="Poppins"/>
              </a:rPr>
              <a:t>125 tiles · field written</a:t>
            </a:r>
          </a:p>
        </p:txBody>
      </p:sp>
      <p:sp>
        <p:nvSpPr>
          <p:cNvPr id="44" name="TextBox 43"/>
          <p:cNvSpPr txBox="1"/>
          <p:nvPr/>
        </p:nvSpPr>
        <p:spPr>
          <a:xfrm>
            <a:off x="411479" y="3319272"/>
            <a:ext cx="147446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FireANTs</a:t>
            </a:r>
          </a:p>
          <a:p>
            <a:pPr algn="l">
              <a:lnSpc>
                <a:spcPct val="100000"/>
              </a:lnSpc>
              <a:spcBef>
                <a:spcPts val="0"/>
              </a:spcBef>
              <a:spcAft>
                <a:spcPts val="0"/>
              </a:spcAft>
            </a:pPr>
            <a:r>
              <a:rPr sz="825" b="0" i="0">
                <a:solidFill>
                  <a:srgbClr val="595959"/>
                </a:solidFill>
                <a:latin typeface="Consolas"/>
              </a:rPr>
              <a:t>tiles of 192³</a:t>
            </a:r>
          </a:p>
        </p:txBody>
      </p:sp>
      <p:sp>
        <p:nvSpPr>
          <p:cNvPr id="45" name="Rectangle 44"/>
          <p:cNvSpPr/>
          <p:nvPr/>
        </p:nvSpPr>
        <p:spPr>
          <a:xfrm>
            <a:off x="1954530" y="3360420"/>
            <a:ext cx="3931346"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54530" y="3332987"/>
            <a:ext cx="3862766"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FFFFFF"/>
                </a:solidFill>
                <a:latin typeface="Consolas"/>
              </a:rPr>
              <a:t>18.1 GiB</a:t>
            </a:r>
          </a:p>
        </p:txBody>
      </p:sp>
      <p:sp>
        <p:nvSpPr>
          <p:cNvPr id="47" name="TextBox 46"/>
          <p:cNvSpPr txBox="1"/>
          <p:nvPr/>
        </p:nvSpPr>
        <p:spPr>
          <a:xfrm>
            <a:off x="7098029" y="3332987"/>
            <a:ext cx="1611630"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787" b="0" i="0">
                <a:solidFill>
                  <a:srgbClr val="595959"/>
                </a:solidFill>
                <a:latin typeface="Poppins"/>
              </a:rPr>
              <a:t>252 tiles · field written</a:t>
            </a:r>
          </a:p>
        </p:txBody>
      </p:sp>
      <p:sp>
        <p:nvSpPr>
          <p:cNvPr id="48" name="TextBox 47"/>
          <p:cNvSpPr txBox="1"/>
          <p:nvPr/>
        </p:nvSpPr>
        <p:spPr>
          <a:xfrm>
            <a:off x="411479" y="3703320"/>
            <a:ext cx="147446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ConvexAdam</a:t>
            </a:r>
          </a:p>
          <a:p>
            <a:pPr algn="l">
              <a:lnSpc>
                <a:spcPct val="100000"/>
              </a:lnSpc>
              <a:spcBef>
                <a:spcPts val="0"/>
              </a:spcBef>
              <a:spcAft>
                <a:spcPts val="0"/>
              </a:spcAft>
            </a:pPr>
            <a:r>
              <a:rPr sz="825" b="0" i="0">
                <a:solidFill>
                  <a:srgbClr val="595959"/>
                </a:solidFill>
                <a:latin typeface="Consolas"/>
              </a:rPr>
              <a:t>tiles of 192³</a:t>
            </a:r>
          </a:p>
        </p:txBody>
      </p:sp>
      <p:sp>
        <p:nvSpPr>
          <p:cNvPr id="49" name="Rectangle 48"/>
          <p:cNvSpPr/>
          <p:nvPr/>
        </p:nvSpPr>
        <p:spPr>
          <a:xfrm>
            <a:off x="1954530" y="3744468"/>
            <a:ext cx="2049683"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54530" y="3717035"/>
            <a:ext cx="1981103"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FFFFFF"/>
                </a:solidFill>
                <a:latin typeface="Consolas"/>
              </a:rPr>
              <a:t>9.5 GiB</a:t>
            </a:r>
          </a:p>
        </p:txBody>
      </p:sp>
      <p:sp>
        <p:nvSpPr>
          <p:cNvPr id="51" name="TextBox 50"/>
          <p:cNvSpPr txBox="1"/>
          <p:nvPr/>
        </p:nvSpPr>
        <p:spPr>
          <a:xfrm>
            <a:off x="7098029" y="3717035"/>
            <a:ext cx="1611630"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787" b="0" i="0">
                <a:solidFill>
                  <a:srgbClr val="595959"/>
                </a:solidFill>
                <a:latin typeface="Poppins"/>
              </a:rPr>
              <a:t>252 tiles · field written</a:t>
            </a:r>
          </a:p>
        </p:txBody>
      </p:sp>
      <p:sp>
        <p:nvSpPr>
          <p:cNvPr id="52" name="TextBox 51"/>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engine is a preset name, the tile size sets the memory</a:t>
            </a:r>
          </a:p>
        </p:txBody>
      </p:sp>
      <p:pic>
        <p:nvPicPr>
          <p:cNvPr id="53" name="Picture 52" descr="image4.png"/>
          <p:cNvPicPr>
            <a:picLocks noChangeAspect="1"/>
          </p:cNvPicPr>
          <p:nvPr/>
        </p:nvPicPr>
        <p:blipFill>
          <a:blip r:embed="rId3"/>
          <a:stretch>
            <a:fillRect/>
          </a:stretch>
        </p:blipFill>
        <p:spPr>
          <a:xfrm>
            <a:off x="288036" y="4539996"/>
            <a:ext cx="425196" cy="493776"/>
          </a:xfrm>
          <a:prstGeom prst="rect">
            <a:avLst/>
          </a:prstGeom>
        </p:spPr>
      </p:pic>
      <p:sp>
        <p:nvSpPr>
          <p:cNvPr id="54" name="TextBox 53"/>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5" name="TextBox 54"/>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meet in the halo: no seam between tiles</a:t>
            </a:r>
          </a:p>
        </p:txBody>
      </p:sp>
      <p:sp>
        <p:nvSpPr>
          <p:cNvPr id="15" name="Rounded Rectangle 14"/>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end_large.png"/>
          <p:cNvPicPr>
            <a:picLocks noChangeAspect="1"/>
          </p:cNvPicPr>
          <p:nvPr/>
        </p:nvPicPr>
        <p:blipFill>
          <a:blip r:embed="rId3"/>
          <a:stretch>
            <a:fillRect/>
          </a:stretch>
        </p:blipFill>
        <p:spPr>
          <a:xfrm>
            <a:off x="411479" y="1474469"/>
            <a:ext cx="3550211" cy="2880360"/>
          </a:xfrm>
          <a:prstGeom prst="rect">
            <a:avLst/>
          </a:prstGeom>
        </p:spPr>
      </p:pic>
      <p:sp>
        <p:nvSpPr>
          <p:cNvPr id="17" name="TextBox 16"/>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and it never saw its neighbour: that is what the halo is for. Its weight fades to zero before its edge while the neighbour's rises, and at every voxel the weights sum to one.</a:t>
            </a:r>
          </a:p>
        </p:txBody>
      </p:sp>
      <p:sp>
        <p:nvSpPr>
          <p:cNvPr id="18" name="Rounded Rectangle 17"/>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9" name="TextBox 18"/>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20" name="TextBox 19"/>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21" name="Picture 20" descr="image4.png"/>
          <p:cNvPicPr>
            <a:picLocks noChangeAspect="1"/>
          </p:cNvPicPr>
          <p:nvPr/>
        </p:nvPicPr>
        <p:blipFill>
          <a:blip r:embed="rId4"/>
          <a:stretch>
            <a:fillRect/>
          </a:stretch>
        </p:blipFill>
        <p:spPr>
          <a:xfrm>
            <a:off x="288036" y="4539996"/>
            <a:ext cx="425196" cy="493776"/>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Written slab by slab, out as OME-Zarr RFC-5</a:t>
            </a:r>
          </a:p>
        </p:txBody>
      </p:sp>
      <p:sp>
        <p:nvSpPr>
          <p:cNvPr id="15" name="TextBox 14"/>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6" name="TextBox 15"/>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7" name="Rounded Rectangle 16"/>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8" name="Rounded Rectangle 17"/>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9" name="Rounded Rectangle 18"/>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20" name="Rounded Rectangle 19"/>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21" name="Rounded Rectangle 20"/>
          <p:cNvSpPr/>
          <p:nvPr/>
        </p:nvSpPr>
        <p:spPr>
          <a:xfrm>
            <a:off x="58978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ITK .h5, streamed as tiles complete · 3D Slicer</a:t>
            </a:r>
          </a:p>
        </p:txBody>
      </p:sp>
      <p:sp>
        <p:nvSpPr>
          <p:cNvPr id="22" name="Rounded Rectangle 21"/>
          <p:cNvSpPr/>
          <p:nvPr/>
        </p:nvSpPr>
        <p:spPr>
          <a:xfrm>
            <a:off x="5897879" y="2290572"/>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 RFC-5</a:t>
            </a:r>
          </a:p>
          <a:p>
            <a:pPr algn="l">
              <a:lnSpc>
                <a:spcPct val="100000"/>
              </a:lnSpc>
              <a:spcBef>
                <a:spcPts val="0"/>
              </a:spcBef>
              <a:spcAft>
                <a:spcPts val="0"/>
              </a:spcAft>
            </a:pPr>
            <a:r>
              <a:rPr sz="900" b="0" i="0">
                <a:solidFill>
                  <a:srgbClr val="595959"/>
                </a:solidFill>
                <a:latin typeface="Poppins"/>
              </a:rPr>
              <a:t>the same field · displacements</a:t>
            </a:r>
          </a:p>
        </p:txBody>
      </p:sp>
      <p:sp>
        <p:nvSpPr>
          <p:cNvPr id="23" name="Rounded Rectangle 22"/>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4" name="Right Arrow 23"/>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6" name="Right Arrow 25"/>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8" name="Picture 27" descr="image4.png"/>
          <p:cNvPicPr>
            <a:picLocks noChangeAspect="1"/>
          </p:cNvPicPr>
          <p:nvPr/>
        </p:nvPicPr>
        <p:blipFill>
          <a:blip r:embed="rId3"/>
          <a:stretch>
            <a:fillRect/>
          </a:stretch>
        </p:blipFill>
        <p:spPr>
          <a:xfrm>
            <a:off x="288036" y="4539996"/>
            <a:ext cx="425196" cy="493776"/>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what the engine compares inside the patch</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5" name="TextBox 14"/>
          <p:cNvSpPr txBox="1"/>
          <p:nvPr/>
        </p:nvSpPr>
        <p:spPr>
          <a:xfrm>
            <a:off x="411479" y="1591055"/>
            <a:ext cx="4629150" cy="0"/>
          </a:xfrm>
          <a:prstGeom prst="rect">
            <a:avLst/>
          </a:prstGeom>
          <a:noFill/>
        </p:spPr>
        <p:txBody>
          <a:bodyPr wrap="none">
            <a:spAutoFit/>
          </a:bodyPr>
          <a:lstStyle/>
          <a:p/>
        </p:txBody>
      </p:sp>
      <p:pic>
        <p:nvPicPr>
          <p:cNvPr id="16" name="Picture 15" descr="apex_featuremaps_itk.png"/>
          <p:cNvPicPr>
            <a:picLocks noChangeAspect="1"/>
          </p:cNvPicPr>
          <p:nvPr/>
        </p:nvPicPr>
        <p:blipFill>
          <a:blip r:embed="rId3"/>
          <a:stretch>
            <a:fillRect/>
          </a:stretch>
        </p:blipFill>
        <p:spPr>
          <a:xfrm>
            <a:off x="411479" y="1591055"/>
            <a:ext cx="4082402" cy="2640330"/>
          </a:xfrm>
          <a:prstGeom prst="rect">
            <a:avLst/>
          </a:prstGeom>
        </p:spPr>
      </p:pic>
      <p:sp>
        <p:nvSpPr>
          <p:cNvPr id="17" name="TextBox 16"/>
          <p:cNvSpPr txBox="1"/>
          <p:nvPr/>
        </p:nvSpPr>
        <p:spPr>
          <a:xfrm>
            <a:off x="411479" y="4258818"/>
            <a:ext cx="4082402"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per model, one colour basis for both rows: same colour, same features</a:t>
            </a:r>
          </a:p>
        </p:txBody>
      </p:sp>
      <p:sp>
        <p:nvSpPr>
          <p:cNvPr id="18" name="Rounded Rectangle 17"/>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pretrained network computes, they do share.</a:t>
            </a:r>
          </a:p>
        </p:txBody>
      </p:sp>
      <p:cxnSp>
        <p:nvCxnSpPr>
          <p:cNvPr id="19" name="Connector 18"/>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21" name="Connector 20"/>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CT and MR · the default · radiotherapy</a:t>
            </a:r>
          </a:p>
        </p:txBody>
      </p:sp>
      <p:cxnSp>
        <p:nvCxnSpPr>
          <p:cNvPr id="23" name="Connector 22"/>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5" name="Connector 24"/>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model</a:t>
            </a:r>
          </a:p>
        </p:txBody>
      </p:sp>
      <p:sp>
        <p:nvSpPr>
          <p:cNvPr id="27" name="Rounded Rectangle 26"/>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8" name="TextBox 27"/>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like the engine, the loss is set in the preset: the same command runs it</a:t>
            </a:r>
          </a:p>
        </p:txBody>
      </p:sp>
      <p:pic>
        <p:nvPicPr>
          <p:cNvPr id="29" name="Picture 28" descr="image4.png"/>
          <p:cNvPicPr>
            <a:picLocks noChangeAspect="1"/>
          </p:cNvPicPr>
          <p:nvPr/>
        </p:nvPicPr>
        <p:blipFill>
          <a:blip r:embed="rId4"/>
          <a:stretch>
            <a:fillRect/>
          </a:stretch>
        </p:blipFill>
        <p:spPr>
          <a:xfrm>
            <a:off x="288036" y="4539996"/>
            <a:ext cx="425196" cy="493776"/>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857250" cy="905256"/>
          </a:xfrm>
          <a:prstGeom prst="rect">
            <a:avLst/>
          </a:prstGeom>
        </p:spPr>
      </p:pic>
      <p:pic>
        <p:nvPicPr>
          <p:cNvPr id="3" name="Picture 2" descr="image1.png"/>
          <p:cNvPicPr>
            <a:picLocks noChangeAspect="1"/>
          </p:cNvPicPr>
          <p:nvPr/>
        </p:nvPicPr>
        <p:blipFill>
          <a:blip r:embed="rId2"/>
          <a:stretch>
            <a:fillRect/>
          </a:stretch>
        </p:blipFill>
        <p:spPr>
          <a:xfrm rot="10800000">
            <a:off x="8286521" y="4238244"/>
            <a:ext cx="857250" cy="905256"/>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1" i="0">
                <a:solidFill>
                  <a:srgbClr val="0047AB"/>
                </a:solidFill>
                <a:latin typeface="Poppins"/>
              </a:rPr>
              <a:t>any size  </a:t>
            </a:r>
            <a:r>
              <a:rPr sz="1350" b="0" i="0">
                <a:solidFill>
                  <a:srgbClr val="212121"/>
                </a:solidFill>
                <a:latin typeface="Poppins"/>
              </a:rPr>
              <a:t>the LINC hemisphere · 908 GiB of synchrotron X-ray</a:t>
            </a:r>
          </a:p>
          <a:p>
            <a:pPr algn="l">
              <a:lnSpc>
                <a:spcPct val="100000"/>
              </a:lnSpc>
              <a:spcBef>
                <a:spcPts val="0"/>
              </a:spcBef>
              <a:spcAft>
                <a:spcPts val="600"/>
              </a:spcAft>
            </a:pPr>
            <a:r>
              <a:rPr sz="1350" b="1" i="0">
                <a:solidFill>
                  <a:srgbClr val="0047AB"/>
                </a:solidFill>
                <a:latin typeface="Poppins"/>
              </a:rPr>
              <a:t>in tiles  </a:t>
            </a:r>
            <a:r>
              <a:rPr sz="1350" b="0" i="0">
                <a:solidFill>
                  <a:srgbClr val="212121"/>
                </a:solidFill>
                <a:latin typeface="Poppins"/>
              </a:rPr>
              <a:t>diffusion MRI onto that X-ray, and a zoom scan onto its overview</a:t>
            </a:r>
          </a:p>
          <a:p>
            <a:pPr algn="l">
              <a:lnSpc>
                <a:spcPct val="100000"/>
              </a:lnSpc>
              <a:spcBef>
                <a:spcPts val="0"/>
              </a:spcBef>
              <a:spcAft>
                <a:spcPts val="0"/>
              </a:spcAft>
            </a:pPr>
            <a:r>
              <a:rPr sz="1350" b="1" i="0">
                <a:solidFill>
                  <a:srgbClr val="0047AB"/>
                </a:solidFill>
                <a:latin typeface="Poppins"/>
              </a:rPr>
              <a:t>any loss  </a:t>
            </a: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10" name="Connector 9"/>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2" name="TextBox 11"/>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3" name="Rectangle 12"/>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5" name="TextBox 14"/>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one pass · 2 min 06 s</a:t>
            </a:r>
          </a:p>
        </p:txBody>
      </p:sp>
      <p:sp>
        <p:nvSpPr>
          <p:cNvPr id="16" name="TextBox 15"/>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7" name="Rectangle 16"/>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9" name="TextBox 18"/>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125 tiles · 8 min 27 s</a:t>
            </a:r>
          </a:p>
        </p:txBody>
      </p:sp>
      <p:sp>
        <p:nvSpPr>
          <p:cNvPr id="20" name="TextBox 19"/>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21" name="Rectangle 20"/>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3" name="TextBox 22"/>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1 · rigid correction · 17 s</a:t>
            </a:r>
          </a:p>
        </p:txBody>
      </p:sp>
      <p:sp>
        <p:nvSpPr>
          <p:cNvPr id="24" name="TextBox 23"/>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5" name="Rectangle 24"/>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7" name="TextBox 26"/>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1 box · 294 tiles · 35 min</a:t>
            </a:r>
          </a:p>
        </p:txBody>
      </p:sp>
      <p:sp>
        <p:nvSpPr>
          <p:cNvPr id="28" name="TextBox 27"/>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9" name="Rectangle 28"/>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31" name="TextBox 30"/>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a 15 mm window · 125 tiles · 14 min 04 s</a:t>
            </a:r>
          </a:p>
        </p:txBody>
      </p:sp>
      <p:sp>
        <p:nvSpPr>
          <p:cNvPr id="32" name="Rectangle 31"/>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4" name="Rectangle 33"/>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6" name="TextBox 35"/>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bars: the whole level · right: what ran on it</a:t>
            </a:r>
          </a:p>
        </p:txBody>
      </p:sp>
      <p:sp>
        <p:nvSpPr>
          <p:cNvPr id="37" name="TextBox 36"/>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card never change</a:t>
            </a:r>
          </a:p>
        </p:txBody>
      </p:sp>
      <p:pic>
        <p:nvPicPr>
          <p:cNvPr id="38" name="Picture 37" descr="image4.png"/>
          <p:cNvPicPr>
            <a:picLocks noChangeAspect="1"/>
          </p:cNvPicPr>
          <p:nvPr/>
        </p:nvPicPr>
        <p:blipFill>
          <a:blip r:embed="rId3"/>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MRI onto X-ray: closer to the reference at every level</a:t>
            </a:r>
          </a:p>
        </p:txBody>
      </p:sp>
      <p:pic>
        <p:nvPicPr>
          <p:cNvPr id="10" name="Picture 9" descr="D11_plane_both.png"/>
          <p:cNvPicPr>
            <a:picLocks noChangeAspect="1"/>
          </p:cNvPicPr>
          <p:nvPr/>
        </p:nvPicPr>
        <p:blipFill>
          <a:blip r:embed="rId3"/>
          <a:stretch>
            <a:fillRect/>
          </a:stretch>
        </p:blipFill>
        <p:spPr>
          <a:xfrm>
            <a:off x="411479" y="1110996"/>
            <a:ext cx="2526202" cy="3086100"/>
          </a:xfrm>
          <a:prstGeom prst="rect">
            <a:avLst/>
          </a:prstGeom>
        </p:spPr>
      </p:pic>
      <p:sp>
        <p:nvSpPr>
          <p:cNvPr id="11" name="TextBox 10"/>
          <p:cNvSpPr txBox="1"/>
          <p:nvPr/>
        </p:nvSpPr>
        <p:spPr>
          <a:xfrm>
            <a:off x="411479" y="4224528"/>
            <a:ext cx="2526202"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2" name="TextBox 11"/>
          <p:cNvSpPr txBox="1"/>
          <p:nvPr/>
        </p:nvSpPr>
        <p:spPr>
          <a:xfrm>
            <a:off x="3360420" y="1110996"/>
            <a:ext cx="5349240" cy="384048"/>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750" b="0" i="0">
                <a:solidFill>
                  <a:srgbClr val="595959"/>
                </a:solidFill>
                <a:latin typeface="Consolas"/>
              </a:rPr>
              <a:t>CORRELATION WITH THE CONSORTIUM'S ALIGNMENT OF THE SAME MRI MAP</a:t>
            </a:r>
          </a:p>
          <a:p>
            <a:pPr algn="l">
              <a:lnSpc>
                <a:spcPct val="100000"/>
              </a:lnSpc>
              <a:spcBef>
                <a:spcPts val="0"/>
              </a:spcBef>
              <a:spcAft>
                <a:spcPts val="0"/>
              </a:spcAft>
            </a:pPr>
            <a:r>
              <a:rPr sz="900" b="0" i="0">
                <a:solidFill>
                  <a:srgbClr val="595959"/>
                </a:solidFill>
                <a:latin typeface="Poppins"/>
              </a:rPr>
              <a:t>a reference the engine never saw</a:t>
            </a:r>
          </a:p>
        </p:txBody>
      </p:sp>
      <p:sp>
        <p:nvSpPr>
          <p:cNvPr id="13" name="TextBox 12"/>
          <p:cNvSpPr txBox="1"/>
          <p:nvPr/>
        </p:nvSpPr>
        <p:spPr>
          <a:xfrm>
            <a:off x="3360420" y="1543050"/>
            <a:ext cx="198881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75" b="0" i="0">
                <a:solidFill>
                  <a:srgbClr val="212121"/>
                </a:solidFill>
                <a:latin typeface="Poppins"/>
              </a:rPr>
              <a:t>after the affine</a:t>
            </a:r>
          </a:p>
        </p:txBody>
      </p:sp>
      <p:cxnSp>
        <p:nvCxnSpPr>
          <p:cNvPr id="14" name="Connector 13"/>
          <p:cNvCxnSpPr/>
          <p:nvPr/>
        </p:nvCxnSpPr>
        <p:spPr>
          <a:xfrm>
            <a:off x="5417820" y="1728216"/>
            <a:ext cx="2468880" cy="0"/>
          </a:xfrm>
          <a:prstGeom prst="line">
            <a:avLst/>
          </a:prstGeom>
          <a:ln w="7143">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54242" y="1543050"/>
            <a:ext cx="65150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Consolas"/>
              </a:rPr>
              <a:t>0.764</a:t>
            </a:r>
          </a:p>
        </p:txBody>
      </p:sp>
      <p:sp>
        <p:nvSpPr>
          <p:cNvPr id="16" name="TextBox 15"/>
          <p:cNvSpPr txBox="1"/>
          <p:nvPr/>
        </p:nvSpPr>
        <p:spPr>
          <a:xfrm>
            <a:off x="3360420" y="1995678"/>
            <a:ext cx="198881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75" b="0" i="0">
                <a:solidFill>
                  <a:srgbClr val="212121"/>
                </a:solidFill>
                <a:latin typeface="Poppins"/>
              </a:rPr>
              <a:t>level 4 · one pass</a:t>
            </a:r>
          </a:p>
        </p:txBody>
      </p:sp>
      <p:cxnSp>
        <p:nvCxnSpPr>
          <p:cNvPr id="17" name="Connector 16"/>
          <p:cNvCxnSpPr/>
          <p:nvPr/>
        </p:nvCxnSpPr>
        <p:spPr>
          <a:xfrm>
            <a:off x="5417820" y="2180844"/>
            <a:ext cx="2468880" cy="0"/>
          </a:xfrm>
          <a:prstGeom prst="line">
            <a:avLst/>
          </a:prstGeom>
          <a:ln w="7143">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74712" y="1995678"/>
            <a:ext cx="65150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Consolas"/>
              </a:rPr>
              <a:t>0.888</a:t>
            </a:r>
          </a:p>
        </p:txBody>
      </p:sp>
      <p:sp>
        <p:nvSpPr>
          <p:cNvPr id="19" name="TextBox 18"/>
          <p:cNvSpPr txBox="1"/>
          <p:nvPr/>
        </p:nvSpPr>
        <p:spPr>
          <a:xfrm>
            <a:off x="3360420" y="2448306"/>
            <a:ext cx="198881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75" b="0" i="0">
                <a:solidFill>
                  <a:srgbClr val="212121"/>
                </a:solidFill>
                <a:latin typeface="Poppins"/>
              </a:rPr>
              <a:t>level 3 · 125 tiles</a:t>
            </a:r>
          </a:p>
        </p:txBody>
      </p:sp>
      <p:cxnSp>
        <p:nvCxnSpPr>
          <p:cNvPr id="20" name="Connector 19"/>
          <p:cNvCxnSpPr/>
          <p:nvPr/>
        </p:nvCxnSpPr>
        <p:spPr>
          <a:xfrm>
            <a:off x="5417820" y="2633472"/>
            <a:ext cx="2468880" cy="0"/>
          </a:xfrm>
          <a:prstGeom prst="line">
            <a:avLst/>
          </a:prstGeom>
          <a:ln w="7143">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12126" y="2448306"/>
            <a:ext cx="65150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Consolas"/>
              </a:rPr>
              <a:t>0.929</a:t>
            </a:r>
          </a:p>
        </p:txBody>
      </p:sp>
      <p:sp>
        <p:nvSpPr>
          <p:cNvPr id="22" name="TextBox 21"/>
          <p:cNvSpPr txBox="1"/>
          <p:nvPr/>
        </p:nvSpPr>
        <p:spPr>
          <a:xfrm>
            <a:off x="3360420" y="2900934"/>
            <a:ext cx="198881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75" b="1" i="0">
                <a:solidFill>
                  <a:srgbClr val="212121"/>
                </a:solidFill>
                <a:latin typeface="Poppins"/>
              </a:rPr>
              <a:t>20 µm window · 125 tiles</a:t>
            </a:r>
          </a:p>
        </p:txBody>
      </p:sp>
      <p:cxnSp>
        <p:nvCxnSpPr>
          <p:cNvPr id="23" name="Connector 22"/>
          <p:cNvCxnSpPr/>
          <p:nvPr/>
        </p:nvCxnSpPr>
        <p:spPr>
          <a:xfrm>
            <a:off x="5417820" y="3086100"/>
            <a:ext cx="2468880" cy="0"/>
          </a:xfrm>
          <a:prstGeom prst="line">
            <a:avLst/>
          </a:prstGeom>
          <a:ln w="7143">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626096" y="2900934"/>
            <a:ext cx="651509" cy="370332"/>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0047AB"/>
                </a:solidFill>
                <a:latin typeface="Consolas"/>
              </a:rPr>
              <a:t>0.955</a:t>
            </a:r>
          </a:p>
        </p:txBody>
      </p:sp>
      <p:sp>
        <p:nvSpPr>
          <p:cNvPr id="25" name="Freeform 24"/>
          <p:cNvSpPr/>
          <p:nvPr/>
        </p:nvSpPr>
        <p:spPr>
          <a:xfrm>
            <a:off x="6172200" y="2057400"/>
            <a:ext cx="1371600" cy="685800"/>
          </a:xfrm>
          <a:custGeom>
            <a:avLst/>
            <a:gdLst/>
            <a:ahLst/>
            <a:cxnLst/>
            <a:rect l="l" t="t" r="r" b="b"/>
            <a:pathLst>
              <a:path w="2" h="1">
                <a:moveTo>
                  <a:pt x="0" y="0"/>
                </a:moveTo>
                <a:lnTo>
                  <a:pt x="1" y="0"/>
                </a:lnTo>
                <a:lnTo>
                  <a:pt x="2" y="1"/>
                </a:lnTo>
                <a:lnTo>
                  <a:pt x="2" y="1"/>
                </a:lnTo>
              </a:path>
            </a:pathLst>
          </a:custGeom>
          <a:noFill/>
          <a:ln w="21431">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75934" y="1659636"/>
            <a:ext cx="137160" cy="137160"/>
          </a:xfrm>
          <a:prstGeom prst="ellipse">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825" b="1">
                <a:solidFill>
                  <a:srgbClr val="FFFFFF"/>
                </a:solidFill>
                <a:latin typeface="Poppins"/>
              </a:rPr>
              <a:t/>
            </a:r>
          </a:p>
        </p:txBody>
      </p:sp>
      <p:sp>
        <p:nvSpPr>
          <p:cNvPr id="27" name="Oval 26"/>
          <p:cNvSpPr/>
          <p:nvPr/>
        </p:nvSpPr>
        <p:spPr>
          <a:xfrm>
            <a:off x="6896404" y="2112264"/>
            <a:ext cx="137160" cy="137160"/>
          </a:xfrm>
          <a:prstGeom prst="ellipse">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825" b="1">
                <a:solidFill>
                  <a:srgbClr val="FFFFFF"/>
                </a:solidFill>
                <a:latin typeface="Poppins"/>
              </a:rPr>
              <a:t/>
            </a:r>
          </a:p>
        </p:txBody>
      </p:sp>
      <p:sp>
        <p:nvSpPr>
          <p:cNvPr id="28" name="Oval 27"/>
          <p:cNvSpPr/>
          <p:nvPr/>
        </p:nvSpPr>
        <p:spPr>
          <a:xfrm>
            <a:off x="7233818" y="2564892"/>
            <a:ext cx="137160" cy="137160"/>
          </a:xfrm>
          <a:prstGeom prst="ellipse">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825" b="1">
                <a:solidFill>
                  <a:srgbClr val="FFFFFF"/>
                </a:solidFill>
                <a:latin typeface="Poppins"/>
              </a:rPr>
              <a:t/>
            </a:r>
          </a:p>
        </p:txBody>
      </p:sp>
      <p:sp>
        <p:nvSpPr>
          <p:cNvPr id="29" name="Oval 28"/>
          <p:cNvSpPr/>
          <p:nvPr/>
        </p:nvSpPr>
        <p:spPr>
          <a:xfrm>
            <a:off x="7447788" y="3017520"/>
            <a:ext cx="137160" cy="137160"/>
          </a:xfrm>
          <a:prstGeom prst="ellipse">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825" b="1">
                <a:solidFill>
                  <a:srgbClr val="FFFFFF"/>
                </a:solidFill>
                <a:latin typeface="Poppins"/>
              </a:rPr>
              <a:t/>
            </a:r>
          </a:p>
        </p:txBody>
      </p:sp>
      <p:sp>
        <p:nvSpPr>
          <p:cNvPr id="30" name="TextBox 29"/>
          <p:cNvSpPr txBox="1"/>
          <p:nvPr/>
        </p:nvSpPr>
        <p:spPr>
          <a:xfrm>
            <a:off x="5143500" y="3339846"/>
            <a:ext cx="548640" cy="205739"/>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750" b="0" i="0">
                <a:solidFill>
                  <a:srgbClr val="595959"/>
                </a:solidFill>
                <a:latin typeface="Consolas"/>
              </a:rPr>
              <a:t>0.70</a:t>
            </a:r>
          </a:p>
        </p:txBody>
      </p:sp>
      <p:sp>
        <p:nvSpPr>
          <p:cNvPr id="31" name="TextBox 30"/>
          <p:cNvSpPr txBox="1"/>
          <p:nvPr/>
        </p:nvSpPr>
        <p:spPr>
          <a:xfrm>
            <a:off x="7612379" y="3339846"/>
            <a:ext cx="548640" cy="205739"/>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750" b="0" i="0">
                <a:solidFill>
                  <a:srgbClr val="595959"/>
                </a:solidFill>
                <a:latin typeface="Consolas"/>
              </a:rPr>
              <a:t>1.00</a:t>
            </a:r>
          </a:p>
        </p:txBody>
      </p:sp>
      <p:sp>
        <p:nvSpPr>
          <p:cNvPr id="32" name="TextBox 31"/>
          <p:cNvSpPr txBox="1"/>
          <p:nvPr/>
        </p:nvSpPr>
        <p:spPr>
          <a:xfrm>
            <a:off x="3360420" y="3634739"/>
            <a:ext cx="534924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1" i="0">
                <a:solidFill>
                  <a:srgbClr val="212121"/>
                </a:solidFill>
                <a:latin typeface="Poppins"/>
              </a:rPr>
              <a:t>no seam  </a:t>
            </a:r>
            <a:r>
              <a:rPr sz="900" b="0" i="0">
                <a:solidFill>
                  <a:srgbClr val="595959"/>
                </a:solidFill>
                <a:latin typeface="Poppins"/>
              </a:rPr>
              <a:t>at the window's tile planes the field changes 1.02× (y) and 0.72× (x) as much as elsewhere</a:t>
            </a:r>
          </a:p>
        </p:txBody>
      </p:sp>
      <p:sp>
        <p:nvSpPr>
          <p:cNvPr id="33" name="TextBox 32"/>
          <p:cNvSpPr txBox="1"/>
          <p:nvPr/>
        </p:nvSpPr>
        <p:spPr>
          <a:xfrm>
            <a:off x="3360420" y="3991356"/>
            <a:ext cx="534924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1" i="0">
                <a:solidFill>
                  <a:srgbClr val="212121"/>
                </a:solidFill>
                <a:latin typeface="Poppins"/>
              </a:rPr>
              <a:t>why a reference  </a:t>
            </a:r>
            <a:r>
              <a:rPr sz="900" b="0" i="0">
                <a:solidFill>
                  <a:srgbClr val="595959"/>
                </a:solidFill>
                <a:latin typeface="Poppins"/>
              </a:rPr>
              <a:t>the level-4 deformable moves the MRI 1.65 mm at the median: invisible on a whole brain</a:t>
            </a:r>
          </a:p>
        </p:txBody>
      </p:sp>
      <p:sp>
        <p:nvSpPr>
          <p:cNvPr id="34" name="TextBox 33"/>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in memory or in tiles, every level brings the MRI closer</a:t>
            </a:r>
          </a:p>
        </p:txBody>
      </p:sp>
      <p:pic>
        <p:nvPicPr>
          <p:cNvPr id="35" name="Picture 34" descr="image4.png"/>
          <p:cNvPicPr>
            <a:picLocks noChangeAspect="1"/>
          </p:cNvPicPr>
          <p:nvPr/>
        </p:nvPicPr>
        <p:blipFill>
          <a:blip r:embed="rId4"/>
          <a:stretch>
            <a:fillRect/>
          </a:stretch>
        </p:blipFill>
        <p:spPr>
          <a:xfrm>
            <a:off x="288036" y="4539996"/>
            <a:ext cx="425196" cy="493776"/>
          </a:xfrm>
          <a:prstGeom prst="rect">
            <a:avLst/>
          </a:prstGeom>
        </p:spPr>
      </p:pic>
      <p:sp>
        <p:nvSpPr>
          <p:cNvPr id="36" name="TextBox 35"/>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7" name="TextBox 36"/>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zoom 1 · 4.257 µm, 602 GiB · onto the 20 µm overview</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Zoom 1 onto the overview: within one 20 µm voxel</a:t>
            </a:r>
          </a:p>
        </p:txBody>
      </p:sp>
      <p:pic>
        <p:nvPicPr>
          <p:cNvPr id="10" name="Picture 9" descr="Z3_edges.png"/>
          <p:cNvPicPr>
            <a:picLocks noChangeAspect="1"/>
          </p:cNvPicPr>
          <p:nvPr/>
        </p:nvPicPr>
        <p:blipFill>
          <a:blip r:embed="rId3"/>
          <a:stretch>
            <a:fillRect/>
          </a:stretch>
        </p:blipFill>
        <p:spPr>
          <a:xfrm>
            <a:off x="411479" y="1110996"/>
            <a:ext cx="5136056" cy="3086100"/>
          </a:xfrm>
          <a:prstGeom prst="rect">
            <a:avLst/>
          </a:prstGeom>
        </p:spPr>
      </p:pic>
      <p:sp>
        <p:nvSpPr>
          <p:cNvPr id="11" name="TextBox 10"/>
          <p:cNvSpPr txBox="1"/>
          <p:nvPr/>
        </p:nvSpPr>
        <p:spPr>
          <a:xfrm>
            <a:off x="411479" y="4224528"/>
            <a:ext cx="5136056"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gold: the overview's edges · top: the zoom placed by hand · bottom: after the tiles</a:t>
            </a:r>
          </a:p>
        </p:txBody>
      </p:sp>
      <p:sp>
        <p:nvSpPr>
          <p:cNvPr id="12" name="TextBox 11"/>
          <p:cNvSpPr txBox="1"/>
          <p:nvPr/>
        </p:nvSpPr>
        <p:spPr>
          <a:xfrm>
            <a:off x="5829300" y="1110996"/>
            <a:ext cx="2880360" cy="24688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Consolas"/>
              </a:rPr>
              <a:t>MEDIAN RESIDUAL SHIFT</a:t>
            </a:r>
          </a:p>
        </p:txBody>
      </p:sp>
      <p:cxnSp>
        <p:nvCxnSpPr>
          <p:cNvPr id="13" name="Connector 12"/>
          <p:cNvCxnSpPr/>
          <p:nvPr/>
        </p:nvCxnSpPr>
        <p:spPr>
          <a:xfrm>
            <a:off x="5829300" y="1426464"/>
            <a:ext cx="0" cy="548640"/>
          </a:xfrm>
          <a:prstGeom prst="line">
            <a:avLst/>
          </a:prstGeom>
          <a:ln w="28575">
            <a:solidFill>
              <a:srgbClr val="8080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11596" y="1371600"/>
            <a:ext cx="2798064" cy="658368"/>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900" b="1" i="0">
                <a:solidFill>
                  <a:srgbClr val="212121"/>
                </a:solidFill>
                <a:latin typeface="Poppins"/>
              </a:rPr>
              <a:t>placed by hand</a:t>
            </a:r>
          </a:p>
          <a:p>
            <a:pPr algn="l">
              <a:lnSpc>
                <a:spcPct val="100000"/>
              </a:lnSpc>
              <a:spcBef>
                <a:spcPts val="0"/>
              </a:spcBef>
              <a:spcAft>
                <a:spcPts val="75"/>
              </a:spcAft>
            </a:pPr>
            <a:r>
              <a:rPr sz="1650" b="1" i="0">
                <a:solidFill>
                  <a:srgbClr val="212121"/>
                </a:solidFill>
                <a:latin typeface="Consolas"/>
              </a:rPr>
              <a:t>0.45 mm</a:t>
            </a:r>
            <a:r>
              <a:rPr sz="825" b="0" i="0">
                <a:solidFill>
                  <a:srgbClr val="595959"/>
                </a:solidFill>
                <a:latin typeface="Consolas"/>
              </a:rPr>
              <a:t>   max 0.77 mm</a:t>
            </a:r>
          </a:p>
          <a:p>
            <a:pPr algn="l">
              <a:lnSpc>
                <a:spcPct val="100000"/>
              </a:lnSpc>
              <a:spcBef>
                <a:spcPts val="0"/>
              </a:spcBef>
              <a:spcAft>
                <a:spcPts val="0"/>
              </a:spcAft>
            </a:pPr>
            <a:r>
              <a:rPr sz="825" b="0" i="0">
                <a:solidFill>
                  <a:srgbClr val="595959"/>
                </a:solidFill>
                <a:latin typeface="Consolas"/>
              </a:rPr>
              <a:t>correlation 0.423</a:t>
            </a:r>
          </a:p>
        </p:txBody>
      </p:sp>
      <p:cxnSp>
        <p:nvCxnSpPr>
          <p:cNvPr id="15" name="Connector 14"/>
          <p:cNvCxnSpPr/>
          <p:nvPr/>
        </p:nvCxnSpPr>
        <p:spPr>
          <a:xfrm>
            <a:off x="5829300" y="2125980"/>
            <a:ext cx="0" cy="548640"/>
          </a:xfrm>
          <a:prstGeom prst="line">
            <a:avLst/>
          </a:prstGeom>
          <a:ln w="28575">
            <a:solidFill>
              <a:srgbClr val="8080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11596" y="2071116"/>
            <a:ext cx="2798064" cy="658368"/>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900" b="1" i="0">
                <a:solidFill>
                  <a:srgbClr val="212121"/>
                </a:solidFill>
                <a:latin typeface="Poppins"/>
              </a:rPr>
              <a:t>+ rigid correction at 80 µm · 17 s</a:t>
            </a:r>
          </a:p>
          <a:p>
            <a:pPr algn="l">
              <a:lnSpc>
                <a:spcPct val="100000"/>
              </a:lnSpc>
              <a:spcBef>
                <a:spcPts val="0"/>
              </a:spcBef>
              <a:spcAft>
                <a:spcPts val="75"/>
              </a:spcAft>
            </a:pPr>
            <a:r>
              <a:rPr sz="1650" b="1" i="0">
                <a:solidFill>
                  <a:srgbClr val="212121"/>
                </a:solidFill>
                <a:latin typeface="Consolas"/>
              </a:rPr>
              <a:t>0.33 mm</a:t>
            </a:r>
            <a:r>
              <a:rPr sz="825" b="0" i="0">
                <a:solidFill>
                  <a:srgbClr val="595959"/>
                </a:solidFill>
                <a:latin typeface="Consolas"/>
              </a:rPr>
              <a:t>   max 0.63 mm</a:t>
            </a:r>
          </a:p>
          <a:p>
            <a:pPr algn="l">
              <a:lnSpc>
                <a:spcPct val="100000"/>
              </a:lnSpc>
              <a:spcBef>
                <a:spcPts val="0"/>
              </a:spcBef>
              <a:spcAft>
                <a:spcPts val="0"/>
              </a:spcAft>
            </a:pPr>
            <a:r>
              <a:rPr sz="825" b="0" i="0">
                <a:solidFill>
                  <a:srgbClr val="595959"/>
                </a:solidFill>
                <a:latin typeface="Consolas"/>
              </a:rPr>
              <a:t>correlation 0.431</a:t>
            </a:r>
          </a:p>
        </p:txBody>
      </p:sp>
      <p:cxnSp>
        <p:nvCxnSpPr>
          <p:cNvPr id="17" name="Connector 16"/>
          <p:cNvCxnSpPr/>
          <p:nvPr/>
        </p:nvCxnSpPr>
        <p:spPr>
          <a:xfrm>
            <a:off x="5829300" y="2825496"/>
            <a:ext cx="0" cy="548640"/>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11596" y="2770632"/>
            <a:ext cx="2798064" cy="658368"/>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900" b="1" i="0">
                <a:solidFill>
                  <a:srgbClr val="212121"/>
                </a:solidFill>
                <a:latin typeface="Poppins"/>
              </a:rPr>
              <a:t>+ 294 tiles at 40 µm · 35 min</a:t>
            </a:r>
          </a:p>
          <a:p>
            <a:pPr algn="l">
              <a:lnSpc>
                <a:spcPct val="100000"/>
              </a:lnSpc>
              <a:spcBef>
                <a:spcPts val="0"/>
              </a:spcBef>
              <a:spcAft>
                <a:spcPts val="75"/>
              </a:spcAft>
            </a:pPr>
            <a:r>
              <a:rPr sz="1650" b="1" i="0">
                <a:solidFill>
                  <a:srgbClr val="0047AB"/>
                </a:solidFill>
                <a:latin typeface="Consolas"/>
              </a:rPr>
              <a:t>&lt; 0.02 mm</a:t>
            </a:r>
            <a:r>
              <a:rPr sz="825" b="0" i="0">
                <a:solidFill>
                  <a:srgbClr val="595959"/>
                </a:solidFill>
                <a:latin typeface="Consolas"/>
              </a:rPr>
              <a:t>   max 0.04 mm</a:t>
            </a:r>
          </a:p>
          <a:p>
            <a:pPr algn="l">
              <a:lnSpc>
                <a:spcPct val="100000"/>
              </a:lnSpc>
              <a:spcBef>
                <a:spcPts val="0"/>
              </a:spcBef>
              <a:spcAft>
                <a:spcPts val="0"/>
              </a:spcAft>
            </a:pPr>
            <a:r>
              <a:rPr sz="825" b="0" i="0">
                <a:solidFill>
                  <a:srgbClr val="595959"/>
                </a:solidFill>
                <a:latin typeface="Consolas"/>
              </a:rPr>
              <a:t>correlation 0.723</a:t>
            </a:r>
          </a:p>
        </p:txBody>
      </p:sp>
      <p:sp>
        <p:nvSpPr>
          <p:cNvPr id="19" name="TextBox 18"/>
          <p:cNvSpPr txBox="1"/>
          <p:nvPr/>
        </p:nvSpPr>
        <p:spPr>
          <a:xfrm>
            <a:off x="5829300" y="3497579"/>
            <a:ext cx="288036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read on the overview's 20 µm grid, so under 0.02 mm is within one voxel; level 0 of the overview against level 2 of the zoom, in eight 4 mm windows no run sees</a:t>
            </a:r>
          </a:p>
        </p:txBody>
      </p:sp>
      <p:pic>
        <p:nvPicPr>
          <p:cNvPr id="20" name="Picture 19" descr="image4.png"/>
          <p:cNvPicPr>
            <a:picLocks noChangeAspect="1"/>
          </p:cNvPicPr>
          <p:nvPr/>
        </p:nvPicPr>
        <p:blipFill>
          <a:blip r:embed="rId4"/>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Same pipeline: intensity losses or IMPACT features</a:t>
            </a:r>
          </a:p>
        </p:txBody>
      </p:sp>
      <p:pic>
        <p:nvPicPr>
          <p:cNvPr id="10" name="Picture 9" descr="subject_v_VB_edges_slide.png"/>
          <p:cNvPicPr>
            <a:picLocks noChangeAspect="1"/>
          </p:cNvPicPr>
          <p:nvPr/>
        </p:nvPicPr>
        <p:blipFill>
          <a:blip r:embed="rId3"/>
          <a:stretch>
            <a:fillRect/>
          </a:stretch>
        </p:blipFill>
        <p:spPr>
          <a:xfrm>
            <a:off x="411479" y="1097280"/>
            <a:ext cx="5298479" cy="3188970"/>
          </a:xfrm>
          <a:prstGeom prst="rect">
            <a:avLst/>
          </a:prstGeom>
        </p:spPr>
      </p:pic>
      <p:cxnSp>
        <p:nvCxnSpPr>
          <p:cNvPr id="11" name="Connector 10"/>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 y="4341114"/>
            <a:ext cx="4969295" cy="46634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the 24 mm box with the largest correction</a:t>
            </a:r>
          </a:p>
        </p:txBody>
      </p:sp>
      <p:sp>
        <p:nvSpPr>
          <p:cNvPr id="13" name="Rounded Rectangle 12"/>
          <p:cNvSpPr/>
          <p:nvPr/>
        </p:nvSpPr>
        <p:spPr>
          <a:xfrm>
            <a:off x="5897879" y="1097280"/>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elastix · MI + bending</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0.57 / 0.40</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5.04 / 3.83 mm</a:t>
            </a:r>
          </a:p>
        </p:txBody>
      </p:sp>
      <p:cxnSp>
        <p:nvCxnSpPr>
          <p:cNvPr id="14" name="Connector 13"/>
          <p:cNvCxnSpPr/>
          <p:nvPr/>
        </p:nvCxnSpPr>
        <p:spPr>
          <a:xfrm>
            <a:off x="5897879" y="1152144"/>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1824228"/>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FireANTs · SyN, CC</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0.40 / 0.40</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2.73 / 2.11 mm</a:t>
            </a:r>
          </a:p>
        </p:txBody>
      </p:sp>
      <p:cxnSp>
        <p:nvCxnSpPr>
          <p:cNvPr id="16" name="Connector 15"/>
          <p:cNvCxnSpPr/>
          <p:nvPr/>
        </p:nvCxnSpPr>
        <p:spPr>
          <a:xfrm>
            <a:off x="5897879" y="1879092"/>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97879" y="2551176"/>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FireANTs · IMPACT (TotalSegmentator)</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0.57 / 0.57</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2.56 / 2.49 mm</a:t>
            </a:r>
          </a:p>
        </p:txBody>
      </p:sp>
      <p:cxnSp>
        <p:nvCxnSpPr>
          <p:cNvPr id="18" name="Connector 17"/>
          <p:cNvCxnSpPr/>
          <p:nvPr/>
        </p:nvCxnSpPr>
        <p:spPr>
          <a:xfrm>
            <a:off x="5897879" y="2606040"/>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897879" y="3278124"/>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ConvexAdam · MIND</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0.57 / 0.40</a:t>
            </a:r>
            <a:r>
              <a:rPr sz="750" b="0" i="0">
                <a:solidFill>
                  <a:srgbClr val="595959"/>
                </a:solidFill>
                <a:latin typeface="Consolas"/>
              </a:rPr>
              <a:t>   m </a:t>
            </a:r>
            <a:r>
              <a:rPr sz="1050" b="1" i="0">
                <a:solidFill>
                  <a:srgbClr val="212121"/>
                </a:solidFill>
                <a:latin typeface="Consolas"/>
              </a:rPr>
              <a:t>0.57 / 0.40</a:t>
            </a:r>
            <a:r>
              <a:rPr sz="750" b="0" i="0">
                <a:solidFill>
                  <a:srgbClr val="595959"/>
                </a:solidFill>
                <a:latin typeface="Consolas"/>
              </a:rPr>
              <a:t> mm</a:t>
            </a:r>
          </a:p>
          <a:p>
            <a:pPr algn="l">
              <a:lnSpc>
                <a:spcPct val="100000"/>
              </a:lnSpc>
              <a:spcBef>
                <a:spcPts val="0"/>
              </a:spcBef>
              <a:spcAft>
                <a:spcPts val="0"/>
              </a:spcAft>
            </a:pPr>
            <a:r>
              <a:rPr sz="825" b="1" i="0">
                <a:solidFill>
                  <a:srgbClr val="B03A2E"/>
                </a:solidFill>
                <a:latin typeface="Consolas"/>
              </a:rPr>
              <a:t>1.6 % folded</a:t>
            </a:r>
            <a:r>
              <a:rPr sz="825" b="0" i="0">
                <a:solidFill>
                  <a:srgbClr val="595959"/>
                </a:solidFill>
                <a:latin typeface="Consolas"/>
              </a:rPr>
              <a:t> · max 13.49 / 14.54 mm</a:t>
            </a:r>
          </a:p>
        </p:txBody>
      </p:sp>
      <p:cxnSp>
        <p:nvCxnSpPr>
          <p:cNvPr id="20" name="Connector 19"/>
          <p:cNvCxnSpPr/>
          <p:nvPr/>
        </p:nvCxnSpPr>
        <p:spPr>
          <a:xfrm>
            <a:off x="5897879" y="3332988"/>
            <a:ext cx="0" cy="56235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97879" y="4032504"/>
            <a:ext cx="2811779" cy="7200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residual: the median best shift in 12 mm windows, by MI / by gradients, for subject_v and subject_m; 1.26 and 1.13 mm after the affine alone; medians move in 0.4 mm steps. Our measures: the competition sets no criterion.</a:t>
            </a:r>
          </a:p>
        </p:txBody>
      </p:sp>
      <p:pic>
        <p:nvPicPr>
          <p:cNvPr id="22" name="Picture 21" descr="image4.png"/>
          <p:cNvPicPr>
            <a:picLocks noChangeAspect="1"/>
          </p:cNvPicPr>
          <p:nvPr/>
        </p:nvPicPr>
        <p:blipFill>
          <a:blip r:embed="rId4"/>
          <a:stretch>
            <a:fillRect/>
          </a:stretch>
        </p:blipFill>
        <p:spPr>
          <a:xfrm>
            <a:off x="288036" y="4539996"/>
            <a:ext cx="425196" cy="493776"/>
          </a:xfrm>
          <a:prstGeom prst="rect">
            <a:avLst/>
          </a:prstGeom>
        </p:spPr>
      </p:pic>
      <p:sp>
        <p:nvSpPr>
          <p:cNvPr id="23" name="TextBox 22"/>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4" name="TextBox 23"/>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10" name="Connector 9"/>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79" y="1303019"/>
            <a:ext cx="2647188" cy="178308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1 patch</a:t>
            </a:r>
          </a:p>
          <a:p>
            <a:pPr algn="l">
              <a:lnSpc>
                <a:spcPct val="100000"/>
              </a:lnSpc>
              <a:spcBef>
                <a:spcPts val="0"/>
              </a:spcBef>
              <a:spcAft>
                <a:spcPts val="450"/>
              </a:spcAft>
            </a:pPr>
            <a:r>
              <a:rPr sz="1425" b="1" i="0">
                <a:solidFill>
                  <a:srgbClr val="212121"/>
                </a:solidFill>
                <a:latin typeface="Poppins"/>
              </a:rPr>
              <a:t>is all the engine sees</a:t>
            </a:r>
          </a:p>
          <a:p>
            <a:pPr algn="l">
              <a:lnSpc>
                <a:spcPct val="100000"/>
              </a:lnSpc>
              <a:spcBef>
                <a:spcPts val="0"/>
              </a:spcBef>
              <a:spcAft>
                <a:spcPts val="0"/>
              </a:spcAft>
            </a:pPr>
            <a:r>
              <a:rPr sz="1050" b="0" i="0">
                <a:solidFill>
                  <a:srgbClr val="595959"/>
                </a:solidFill>
                <a:latin typeface="Poppins"/>
              </a:rPr>
              <a:t>so any engine plugs in, the tiles join without a seam, and the field comes out as OME-Zarr RFC-5</a:t>
            </a:r>
          </a:p>
        </p:txBody>
      </p:sp>
      <p:cxnSp>
        <p:nvCxnSpPr>
          <p:cNvPr id="12" name="Connector 11"/>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36976" y="1303019"/>
            <a:ext cx="2647188" cy="178308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the same command at every level; the tile size sets the memory</a:t>
            </a:r>
          </a:p>
        </p:txBody>
      </p:sp>
      <p:cxnSp>
        <p:nvCxnSpPr>
          <p:cNvPr id="14" name="Connector 13"/>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62472" y="1303019"/>
            <a:ext cx="2647188" cy="178308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IMPACT</a:t>
            </a:r>
          </a:p>
          <a:p>
            <a:pPr algn="l">
              <a:lnSpc>
                <a:spcPct val="100000"/>
              </a:lnSpc>
              <a:spcBef>
                <a:spcPts val="0"/>
              </a:spcBef>
              <a:spcAft>
                <a:spcPts val="450"/>
              </a:spcAft>
            </a:pPr>
            <a:r>
              <a:rPr sz="1425" b="1" i="0">
                <a:solidFill>
                  <a:srgbClr val="212121"/>
                </a:solidFill>
                <a:latin typeface="Poppins"/>
              </a:rPr>
              <a:t>the loss you choose</a:t>
            </a:r>
          </a:p>
          <a:p>
            <a:pPr algn="l">
              <a:lnSpc>
                <a:spcPct val="100000"/>
              </a:lnSpc>
              <a:spcBef>
                <a:spcPts val="0"/>
              </a:spcBef>
              <a:spcAft>
                <a:spcPts val="0"/>
              </a:spcAft>
            </a:pPr>
            <a:r>
              <a:rPr sz="1050" b="0" i="0">
                <a:solidFill>
                  <a:srgbClr val="595959"/>
                </a:solidFill>
                <a:latin typeface="Poppins"/>
              </a:rPr>
              <a:t>a segmentation model's features, where two modalities share no intensity</a:t>
            </a:r>
          </a:p>
        </p:txBody>
      </p:sp>
      <p:sp>
        <p:nvSpPr>
          <p:cNvPr id="16" name="Rounded Rectangle 15"/>
          <p:cNvSpPr/>
          <p:nvPr/>
        </p:nvSpPr>
        <p:spPr>
          <a:xfrm>
            <a:off x="411479" y="325755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7" name="TextBox 16"/>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